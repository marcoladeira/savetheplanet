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Smart charging</c:v>
                </c:pt>
              </c:strCache>
            </c:strRef>
          </c:tx>
          <c:spPr>
            <a:solidFill>
              <a:srgbClr val="8FA3B0"/>
            </a:solidFill>
            <a:effectLst/>
          </c:spPr>
          <c:invertIfNegative val="0"/>
          <c:dLbls>
            <c:numFmt formatCode="&quot;€&quot;0.00#;;;" sourceLinked="0"/>
            <c:txPr>
              <a:bodyPr/>
              <a:lstStyle/>
              <a:p>
                <a:pPr>
                  <a:defRPr b="1" i="0" strike="noStrike" sz="1300" u="none">
                    <a:solidFill>
                      <a:srgbClr val="FFFFFF"/>
                    </a:solidFill>
                    <a:latin typeface="Arial"/>
                  </a:defRPr>
                </a:pPr>
              </a:p>
            </c:txPr>
            <c:dLblPos val="inEnd"/>
            <c:showLegendKey val="0"/>
            <c:showVal val="1"/>
            <c:showCatName val="0"/>
            <c:showSerName val="0"/>
            <c:showPercent val="0"/>
            <c:showBubbleSize val="0"/>
            <c:showLeaderLines val="0"/>
          </c:dLbls>
          <c:cat>
            <c:multiLvlStrRef>
              <c:f>Sheet1!$A$2:$A$5</c:f>
              <c:multiLvlStrCache>
                <c:ptCount val="4"/>
                <c:lvl>
                  <c:pt idx="0">
                    <c:v>Smart charging · evening peak</c:v>
                  </c:pt>
                  <c:pt idx="1">
                    <c:v>Smart charging · evening, surplus live</c:v>
                  </c:pt>
                  <c:pt idx="2">
                    <c:v>Smart charging · morning off-peak</c:v>
                  </c:pt>
                  <c:pt idx="3">
                    <c:v>Our AI · stored night surplus, all-in</c:v>
                  </c:pt>
                </c:lvl>
              </c:multiLvlStrCache>
            </c:multiLvlStrRef>
          </c:cat>
          <c:val>
            <c:numRef>
              <c:f>Sheet1!$B$2:$B$5</c:f>
              <c:numCache>
                <c:formatCode>General</c:formatCode>
                <c:ptCount val="4"/>
                <c:pt idx="0">
                  <c:v>0.34</c:v>
                </c:pt>
                <c:pt idx="1">
                  <c:v>0.26</c:v>
                </c:pt>
                <c:pt idx="2">
                  <c:v>0.205</c:v>
                </c:pt>
                <c:pt idx="3">
                  <c:v>0</c:v>
                </c:pt>
              </c:numCache>
            </c:numRef>
          </c:val>
        </c:ser>
        <c:ser>
          <c:idx val="1"/>
          <c:order val="1"/>
          <c:tx>
            <c:strRef>
              <c:f>Sheet1!$C$1</c:f>
              <c:strCache>
                <c:ptCount val="1"/>
                <c:pt idx="0">
                  <c:v>Our AI</c:v>
                </c:pt>
              </c:strCache>
            </c:strRef>
          </c:tx>
          <c:spPr>
            <a:solidFill>
              <a:srgbClr val="1FAE6C"/>
            </a:solidFill>
            <a:effectLst/>
          </c:spPr>
          <c:invertIfNegative val="0"/>
          <c:dLbls>
            <c:numFmt formatCode="&quot;€&quot;0.00#;;;" sourceLinked="0"/>
            <c:txPr>
              <a:bodyPr/>
              <a:lstStyle/>
              <a:p>
                <a:pPr>
                  <a:defRPr b="1" i="0" strike="noStrike" sz="1300" u="none">
                    <a:solidFill>
                      <a:srgbClr val="FFFFFF"/>
                    </a:solidFill>
                    <a:latin typeface="Arial"/>
                  </a:defRPr>
                </a:pPr>
              </a:p>
            </c:txPr>
            <c:dLblPos val="inEnd"/>
            <c:showLegendKey val="0"/>
            <c:showVal val="1"/>
            <c:showCatName val="0"/>
            <c:showSerName val="0"/>
            <c:showPercent val="0"/>
            <c:showBubbleSize val="0"/>
            <c:showLeaderLines val="0"/>
          </c:dLbls>
          <c:cat>
            <c:multiLvlStrRef>
              <c:f>Sheet1!$A$2:$A$5</c:f>
              <c:multiLvlStrCache>
                <c:ptCount val="4"/>
                <c:lvl>
                  <c:pt idx="0">
                    <c:v>Smart charging · evening peak</c:v>
                  </c:pt>
                  <c:pt idx="1">
                    <c:v>Smart charging · evening, surplus live</c:v>
                  </c:pt>
                  <c:pt idx="2">
                    <c:v>Smart charging · morning off-peak</c:v>
                  </c:pt>
                  <c:pt idx="3">
                    <c:v>Our AI · stored night surplus, all-in</c:v>
                  </c:pt>
                </c:lvl>
              </c:multiLvlStrCache>
            </c:multiLvlStrRef>
          </c:cat>
          <c:val>
            <c:numRef>
              <c:f>Sheet1!$C$2:$C$5</c:f>
              <c:numCache>
                <c:formatCode>General</c:formatCode>
                <c:ptCount val="4"/>
                <c:pt idx="0">
                  <c:v>0</c:v>
                </c:pt>
                <c:pt idx="1">
                  <c:v>0</c:v>
                </c:pt>
                <c:pt idx="2">
                  <c:v>0</c:v>
                </c:pt>
                <c:pt idx="3">
                  <c:v>0.1995</c:v>
                </c:pt>
              </c:numCache>
            </c:numRef>
          </c:val>
        </c:ser>
        <c:dLbls>
          <c:numFmt formatCode="&quot;€&quot;0.00#;;;" sourceLinked="0"/>
          <c:txPr>
            <a:bodyPr/>
            <a:lstStyle/>
            <a:p>
              <a:pPr>
                <a:defRPr b="1" i="0" strike="noStrike" sz="1300" u="none">
                  <a:solidFill>
                    <a:srgbClr val="FFFFFF"/>
                  </a:solidFill>
                  <a:latin typeface="Arial"/>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142130"/>
                </a:solidFill>
                <a:latin typeface="Arial"/>
              </a:defRPr>
            </a:pPr>
            <a:endParaRPr lang="en-US"/>
          </a:p>
        </c:txPr>
        <c:crossAx val="2094734552"/>
        <c:crosses val="autoZero"/>
        <c:auto val="1"/>
        <c:lblAlgn val="ctr"/>
        <c:noMultiLvlLbl val="1"/>
      </c:catAx>
      <c:valAx>
        <c:axId val="2094734552"/>
        <c:scaling>
          <c:orientation val="minMax"/>
          <c:max val="0.42"/>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0:00–0:20 · Hook: 11.2%
ON SCREEN: Slide 1. Let the number land for a beat before speaking.
SAY (40 words):
In the first half of this year, EirGrid dispatched down eleven point two percent of Ireland's wind and solar energy. Clean power, produced and not used. SaveThePlanet turns the part that can really be used into cheaper, cleaner EV charging.
CAPTION: 11.2% of Ireland's wind and solar was dispatched down in H1 2026 (EirGrid).
EVIDENCE: E1 in docs/demo/evidence-ledger.md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0:20–0:45 · The problem and the buyer
ON SCREEN: Slide 2. The four bars narrow as you speak; land on the buyer card.
SAY (60 words):
But dispatched-down energy isn't free electricity waiting at a charger. It happens at a particular moment, often behind a network constraint. So the real question is narrower: which part can one charging site use, in the next half-hour, at a price that beats smart charging? The people who need that answer are our first customers: charging operators and fleet depots.
CAPTION: The question: which part can one site use, in the next half-hour, at a price that beats smart charging?
EVIDENCE: E2 in docs/demo/evidence-ledger.md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0:45–1:20 · Innovation: predict, prove, decide, share
ON SCREEN: Slide 3 with CLIP 1 (Dashboard, 30 s): the historical target chip, the forecast, the battery routing, the EV plan. Point at each as you name the step.
SAY (72 words):
Most tools report yesterday's waste. Ours makes a decision, in four steps. Predict: the GridToEv model forecasts renewable energy at risk thirty minutes ahead. Prove: we check the site: chargers, grid connection, battery, and when each car has to leave. Decide: we build the charging plan, or an offer for drivers. And share: every extra euro is settled in a ledger, to the cent. You can see all four on our dashboard.
CAPTION: Predict (+30 min forecast) → Prove (site limits) → Decide (plan or offer) → Share (50/25/25 ledger).
EVIDENCE: E3 in docs/demo/evidence-ledger.md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1:20–2:10 · AI proof: the forecast page
ON SCREEN: Slide 4 with CLIP 2 (Forecast page, 45 s): the frozen replay day, the +30 min forecast line, EirGrid's observed curtailment beside it, the model version and data period. Zoom on one hit and one miss.
SAY (83 words):
Here's the model at work. This is a historical replay: GridToEv's thirty-minute forecasts for a real past day, with EirGrid's observed curtailment drawn right beside them, so you can see where the forecast was right, and where it wasn't. Each half-hour is planned only from the forecast issued before it; the future never leaks into a decision. To be clear: this is replayed history, not live control of the grid. What it proves is that the signal arrives early enough to act on.
CAPTION: Real GridToEv +30 min forecasts vs EirGrid's observed curtailment. Historical replay, no look-ahead.
EVIDENCE: E4, E5 in docs/demo/evidence-ledger.md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2:10–3:10 · Physics: only what the site can deliver
ON SCREEN: Slide 5 with CLIP 3 (Battery page, then EV page, 55 s): same day as CLIP 2. Battery plan; EV page KPIs, 'When charging can run on renewables', 'Best half-hours to charge'.
SAY (98 words):
Now the hard part: physics. A forecast only matters if a site can use it. Our example site has twenty eleven-kilowatt chargers behind one hundred-and-eighty-kilowatt connection. In a two-hour window a charger can deliver at most twenty-two kilowatt-hours, so the site fits sixteen twenty-kilowatt-hour sessions, not an unlimited number. For the evening we model a battery that stores surplus overnight: seven hundred kilowatt-hours, eighty-five percent round trip, and hypothetical: we haven't built it. On the Battery and EV pages you see the result: the best half-hours to charge, and a plan that respects every one of those limits.
CAPTION: 20 × 11 kW chargers, 180 kW connection: 16 sessions per 2-hour window. Battery is hypothetical.
EVIDENCE: E6, E7, E8 in docs/demo/evidence-ledger.md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3:10–3:40 · AI vs competent smart charging
ON SCREEN: Slide 6. Point at the green bar, then the two outcome cards.
SAY (61 words):
Does the AI add anything? We compare against competent smart charging, not a worst case. Stored night surplus reaches the charger at about twenty cents a kilowatt-hour, all costs in. In the evening that beats smart charging by six to fourteen cents. In the morning, off-peak power is already cheap, so we make no offer. That 'no' is the rule working.
CAPTION: AI all-in ≈ €0.20/kWh. Evening: saves €0.06–0.14/kWh vs smart charging → offer. Morning: €0.005 → no offer.
EVIDENCE: E9, E10 in docs/demo/evidence-ledger.md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3:40–4:30 · Business model: 50 / 25 / 25
ON SCREEN: Slide 7 with CLIP 4 (EV page Rewards card, 20 s): Join free (demo) → an evening window with an offer → 20 kWh → Reserve → the split line. Then point at the bar and the contribution card.
SAY (76 words):
That margin is the business. A driver joins SaveThePlanet Rewards for free, picks a discount window and reserves: that's the EV page. Now take one twenty-kilowatt-hour session that's ten cents a kilowatt-hour cheaper than smart charging: a two-euro pool of extra savings. Half, one euro, is the driver's discount. Fifty cents stays with the charging operator. Fifty cents is our commission. And that's revenue, not profit: after our ten-cent cost per session, we keep forty cents.
CAPTION: €2.00 pool → driver €1.00, operator €0.50, SaveThePlanet €0.50 commission (−€0.10 cost = €0.40).
EVIDENCE: E11 in docs/demo/evidence-ledger.md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4:30–5:15 · The pilot month: everyone comes out ahead
ON SCREEN: Slide 8. Reveal the three cards left to right. (Optional 5 s cut: Impact page, Who earns, click '400 sessions'.)
SAY (96 words):
Scale it to a pilot month: four hundred sessions, about thirteen an evening, inside the sixteen the site can take. That's eight hundred euro of extra savings. Drivers keep four hundred. The operator gets two hundred, pays a hundred in programme costs, and makes a hundred euro of new profit. We get two hundred, pay forty in session costs and a hundred and twenty in overhead: forty euro operating profit. The operator breaks even at two hundred sessions, we do at three hundred, and every figure is computed by our backend and tested to the cent.
CAPTION: Pilot month: drivers €400 saved · operator +€100 · SaveThePlanet +€40 operating profit (break-even 200 / 300 sessions).
EVIDENCE: E12, E13 in docs/demo/evidence-ledger.md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5:15–6:00 · Environment: counted carefully
ON SCREEN: Slide 9. Left to right: stored → delivered → losses; then the false-alarm line; then the CO₂ card.
SAY (89 words):
And the environment, counted carefully. That month, eight thousand kilowatt-hours reach the chargers from stored surplus. To get there, the battery takes in about nine and a half thousand: fifteen percent is lost in storage, and we count that loss. Energy bought on a forecast that turned out wrong is treated as ordinary grid power and never offered. At a flat zero point two five kilograms per kilowatt-hour, that's about two tonnes of CO₂ a month per site: an estimate, with the method on screen, not a verified saving.
CAPTION: 8,000 kWh to EVs from ≈9,450 kWh stored (15% losses counted). ≈2 t CO₂/month per site, estimated.
EVIDENCE: E14, E15 in docs/demo/evidence-ledger.md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6:00–6:35 · Scalability
ON SCREEN: Slide 10. Walk the three stages, then the 100-site strip.
SAY (75 words):
How it grows. First, one Irish operator pilot, to validate deliverability, tariffs and real bookings. Then comparable sites across Ireland, each capped by its own chargers and connection. Then European grids with the same problem, each needing its own data, a retrained model and local tariffs. At a hundred sites on pilot assumptions, that's close to half a million euro a year saved by drivers, and an estimated two thousand four hundred tonnes of CO₂.
CAPTION: Pilot → Irish sites → European grids. 100 sites (illustrative): €480k/yr driver savings, ≈2,400 t CO₂/yr.
EVIDENCE: E16 in docs/demo/evidence-ledger.md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6:35–6:50 · Execution
ON SCREEN: Slide 11.
SAY (30 words):
Under the hood: EirGrid data and the GridToEv model feed a feasibility optimiser and a settlement ledger, checked by over four hundred automated tests, on a replay anyone can reproduce.
CAPTION: EirGrid data → GridToEv model → optimiser → ledger → app. 406 automated tests, reproducible replay.
EVIDENCE: E17 in docs/demo/evidence-ledger.md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6:50–7:00 · Close
ON SCREEN: Slide 12. Stop talking at 6:58; hold the slide.
SAY (16 words):
SaveThePlanet. Drivers save, operators earn, and Ireland's renewable energy finds its way into EVs. Thank you.
CAPTION: SaveThePlanet: drivers save, operators earn, renewable energy reaches EVs.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slideLayout" Target="../slideLayouts/slideLayout1.xml"/><Relationship Id="rId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2344529"/>
            <a:ext cx="12191695" cy="4513471"/>
          </a:xfrm>
          <a:prstGeom prst="rect">
            <a:avLst/>
          </a:prstGeom>
        </p:spPr>
      </p:pic>
      <p:sp>
        <p:nvSpPr>
          <p:cNvPr id="3" name="Shape 0"/>
          <p:cNvSpPr/>
          <p:nvPr/>
        </p:nvSpPr>
        <p:spPr>
          <a:xfrm>
            <a:off x="548640" y="411480"/>
            <a:ext cx="384048" cy="384048"/>
          </a:xfrm>
          <a:prstGeom prst="ellipse">
            <a:avLst/>
          </a:prstGeom>
          <a:solidFill>
            <a:srgbClr val="0B4339"/>
          </a:solidFill>
          <a:ln w="12700">
            <a:solidFill>
              <a:srgbClr val="0B4339"/>
            </a:solidFill>
            <a:prstDash val="solid"/>
          </a:ln>
        </p:spPr>
      </p:sp>
      <p:pic>
        <p:nvPicPr>
          <p:cNvPr id="4" name="Image 1" descr="preencoded.png">    </p:cNvPr>
          <p:cNvPicPr>
            <a:picLocks noChangeAspect="1"/>
          </p:cNvPicPr>
          <p:nvPr/>
        </p:nvPicPr>
        <p:blipFill>
          <a:blip r:embed="rId2"/>
          <a:stretch>
            <a:fillRect/>
          </a:stretch>
        </p:blipFill>
        <p:spPr>
          <a:xfrm>
            <a:off x="640812" y="503652"/>
            <a:ext cx="199705" cy="199705"/>
          </a:xfrm>
          <a:prstGeom prst="rect">
            <a:avLst/>
          </a:prstGeom>
        </p:spPr>
      </p:pic>
      <p:sp>
        <p:nvSpPr>
          <p:cNvPr id="5" name="Text 1"/>
          <p:cNvSpPr txBox="1"/>
          <p:nvPr/>
        </p:nvSpPr>
        <p:spPr>
          <a:xfrm>
            <a:off x="1051560" y="411480"/>
            <a:ext cx="3657600" cy="384048"/>
          </a:xfrm>
          <a:prstGeom prst="rect">
            <a:avLst/>
          </a:prstGeom>
          <a:noFill/>
          <a:ln/>
        </p:spPr>
        <p:txBody>
          <a:bodyPr wrap="square" lIns="0" tIns="0" rIns="0" bIns="0" rtlCol="0" anchor="ctr"/>
          <a:lstStyle/>
          <a:p>
            <a:pPr indent="0" marL="0">
              <a:buNone/>
            </a:pPr>
            <a:r>
              <a:rPr lang="en-US" sz="1600" b="1" dirty="0">
                <a:solidFill>
                  <a:srgbClr val="0B4339"/>
                </a:solidFill>
                <a:latin typeface="Arial" pitchFamily="34" charset="0"/>
                <a:ea typeface="Arial" pitchFamily="34" charset="-122"/>
                <a:cs typeface="Arial" pitchFamily="34" charset="-120"/>
              </a:rPr>
              <a:t>SaveThePlanet</a:t>
            </a:r>
            <a:endParaRPr lang="en-US" sz="1600" dirty="0"/>
          </a:p>
        </p:txBody>
      </p:sp>
      <p:sp>
        <p:nvSpPr>
          <p:cNvPr id="6" name="Text 2"/>
          <p:cNvSpPr txBox="1"/>
          <p:nvPr/>
        </p:nvSpPr>
        <p:spPr>
          <a:xfrm>
            <a:off x="502920" y="960120"/>
            <a:ext cx="4754880" cy="1554480"/>
          </a:xfrm>
          <a:prstGeom prst="rect">
            <a:avLst/>
          </a:prstGeom>
          <a:noFill/>
          <a:ln/>
        </p:spPr>
        <p:txBody>
          <a:bodyPr wrap="square" lIns="0" tIns="0" rIns="0" bIns="0" rtlCol="0" anchor="ctr"/>
          <a:lstStyle/>
          <a:p>
            <a:pPr indent="0" marL="0">
              <a:buNone/>
            </a:pPr>
            <a:r>
              <a:rPr lang="en-US" sz="11800" b="1" dirty="0">
                <a:solidFill>
                  <a:srgbClr val="0B4339"/>
                </a:solidFill>
                <a:latin typeface="Arial" pitchFamily="34" charset="0"/>
                <a:ea typeface="Arial" pitchFamily="34" charset="-122"/>
                <a:cs typeface="Arial" pitchFamily="34" charset="-120"/>
              </a:rPr>
              <a:t>11.2%</a:t>
            </a:r>
            <a:endParaRPr lang="en-US" sz="11800" dirty="0"/>
          </a:p>
        </p:txBody>
      </p:sp>
      <p:sp>
        <p:nvSpPr>
          <p:cNvPr id="7" name="Text 3"/>
          <p:cNvSpPr txBox="1"/>
          <p:nvPr/>
        </p:nvSpPr>
        <p:spPr>
          <a:xfrm>
            <a:off x="5349240" y="1051560"/>
            <a:ext cx="6309360" cy="1188720"/>
          </a:xfrm>
          <a:prstGeom prst="rect">
            <a:avLst/>
          </a:prstGeom>
          <a:noFill/>
          <a:ln/>
        </p:spPr>
        <p:txBody>
          <a:bodyPr wrap="square" lIns="0" tIns="0" rIns="0" bIns="0" rtlCol="0" anchor="t"/>
          <a:lstStyle/>
          <a:p>
            <a:pPr indent="0" marL="0">
              <a:buNone/>
            </a:pPr>
            <a:r>
              <a:rPr lang="en-US" sz="2600" b="1" dirty="0">
                <a:solidFill>
                  <a:srgbClr val="142130"/>
                </a:solidFill>
                <a:latin typeface="Arial" pitchFamily="34" charset="0"/>
                <a:ea typeface="Arial" pitchFamily="34" charset="-122"/>
                <a:cs typeface="Arial" pitchFamily="34" charset="-120"/>
              </a:rPr>
              <a:t>of Ireland’s wind and solar energy was dispatched down in the first half of 2026.</a:t>
            </a:r>
            <a:endParaRPr lang="en-US" sz="2600" dirty="0"/>
          </a:p>
        </p:txBody>
      </p:sp>
      <p:sp>
        <p:nvSpPr>
          <p:cNvPr id="8" name="Text 4"/>
          <p:cNvSpPr txBox="1"/>
          <p:nvPr/>
        </p:nvSpPr>
        <p:spPr>
          <a:xfrm>
            <a:off x="5349240" y="2395728"/>
            <a:ext cx="6309360" cy="411480"/>
          </a:xfrm>
          <a:prstGeom prst="rect">
            <a:avLst/>
          </a:prstGeom>
          <a:noFill/>
          <a:ln/>
        </p:spPr>
        <p:txBody>
          <a:bodyPr wrap="square" lIns="0" tIns="0" rIns="0" bIns="0" rtlCol="0" anchor="t"/>
          <a:lstStyle/>
          <a:p>
            <a:pPr indent="0" marL="0">
              <a:buNone/>
            </a:pPr>
            <a:r>
              <a:rPr lang="en-US" sz="2000" b="1" dirty="0">
                <a:solidFill>
                  <a:srgbClr val="087C59"/>
                </a:solidFill>
                <a:latin typeface="Arial" pitchFamily="34" charset="0"/>
                <a:ea typeface="Arial" pitchFamily="34" charset="-122"/>
                <a:cs typeface="Arial" pitchFamily="34" charset="-120"/>
              </a:rPr>
              <a:t>Clean power, produced — and not used.</a:t>
            </a:r>
            <a:endParaRPr lang="en-US" sz="2000" dirty="0"/>
          </a:p>
        </p:txBody>
      </p:sp>
      <p:sp>
        <p:nvSpPr>
          <p:cNvPr id="9" name="Text 5"/>
          <p:cNvSpPr txBox="1"/>
          <p:nvPr/>
        </p:nvSpPr>
        <p:spPr>
          <a:xfrm>
            <a:off x="5349240" y="2834640"/>
            <a:ext cx="6309360" cy="274320"/>
          </a:xfrm>
          <a:prstGeom prst="rect">
            <a:avLst/>
          </a:prstGeom>
          <a:noFill/>
          <a:ln/>
        </p:spPr>
        <p:txBody>
          <a:bodyPr wrap="square" lIns="0" tIns="0" rIns="0" bIns="0" rtlCol="0" anchor="t"/>
          <a:lstStyle/>
          <a:p>
            <a:pPr indent="0" marL="0">
              <a:buNone/>
            </a:pPr>
            <a:r>
              <a:rPr lang="en-US" sz="1000" dirty="0">
                <a:solidFill>
                  <a:srgbClr val="748892"/>
                </a:solidFill>
                <a:latin typeface="Arial" pitchFamily="34" charset="0"/>
                <a:ea typeface="Arial" pitchFamily="34" charset="-122"/>
                <a:cs typeface="Arial" pitchFamily="34" charset="-120"/>
              </a:rPr>
              <a:t>Source: EirGrid statement on renewable integration and dispatch-down, 28 July 2026 (wind alone: 13.2%).</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F8F8"/>
        </a:solidFill>
      </p:bgPr>
    </p:bg>
    <p:spTree>
      <p:nvGrpSpPr>
        <p:cNvPr id="1" name=""/>
        <p:cNvGrpSpPr/>
        <p:nvPr/>
      </p:nvGrpSpPr>
      <p:grpSpPr>
        <a:xfrm>
          <a:off x="0" y="0"/>
          <a:ext cx="0" cy="0"/>
          <a:chOff x="0" y="0"/>
          <a:chExt cx="0" cy="0"/>
        </a:xfrm>
      </p:grpSpPr>
      <p:sp>
        <p:nvSpPr>
          <p:cNvPr id="2" name="Shape 0"/>
          <p:cNvSpPr/>
          <p:nvPr/>
        </p:nvSpPr>
        <p:spPr>
          <a:xfrm>
            <a:off x="548640" y="384048"/>
            <a:ext cx="2785262" cy="310896"/>
          </a:xfrm>
          <a:prstGeom prst="roundRect">
            <a:avLst>
              <a:gd name="adj" fmla="val 50000"/>
            </a:avLst>
          </a:prstGeom>
          <a:solidFill>
            <a:srgbClr val="E0F7EE"/>
          </a:solidFill>
          <a:ln w="12700">
            <a:solidFill>
              <a:srgbClr val="E0F7EE"/>
            </a:solidFill>
            <a:prstDash val="solid"/>
          </a:ln>
        </p:spPr>
      </p:sp>
      <p:sp>
        <p:nvSpPr>
          <p:cNvPr id="3" name="Text 1"/>
          <p:cNvSpPr txBox="1"/>
          <p:nvPr/>
        </p:nvSpPr>
        <p:spPr>
          <a:xfrm>
            <a:off x="548640" y="384048"/>
            <a:ext cx="2785262" cy="310896"/>
          </a:xfrm>
          <a:prstGeom prst="rect">
            <a:avLst/>
          </a:prstGeom>
          <a:noFill/>
          <a:ln/>
        </p:spPr>
        <p:txBody>
          <a:bodyPr wrap="square" lIns="0" tIns="0" rIns="0" bIns="0" rtlCol="0" anchor="ctr"/>
          <a:lstStyle/>
          <a:p>
            <a:pPr algn="ctr" indent="0" marL="0">
              <a:buNone/>
            </a:pPr>
            <a:r>
              <a:rPr lang="en-US" sz="1100" b="1" spc="150" kern="0" dirty="0">
                <a:solidFill>
                  <a:srgbClr val="0B4339"/>
                </a:solidFill>
                <a:latin typeface="Arial" pitchFamily="34" charset="0"/>
                <a:ea typeface="Arial" pitchFamily="34" charset="-122"/>
                <a:cs typeface="Arial" pitchFamily="34" charset="-120"/>
              </a:rPr>
              <a:t>THE PROBLEM · WHO BUYS</a:t>
            </a:r>
            <a:endParaRPr lang="en-US" sz="1100" dirty="0"/>
          </a:p>
        </p:txBody>
      </p:sp>
      <p:sp>
        <p:nvSpPr>
          <p:cNvPr id="4" name="Text 2"/>
          <p:cNvSpPr txBox="1"/>
          <p:nvPr/>
        </p:nvSpPr>
        <p:spPr>
          <a:xfrm>
            <a:off x="548640" y="841248"/>
            <a:ext cx="11094415" cy="914400"/>
          </a:xfrm>
          <a:prstGeom prst="rect">
            <a:avLst/>
          </a:prstGeom>
          <a:noFill/>
          <a:ln/>
        </p:spPr>
        <p:txBody>
          <a:bodyPr wrap="square" lIns="0" tIns="0" rIns="0" bIns="0" rtlCol="0" anchor="t"/>
          <a:lstStyle/>
          <a:p>
            <a:pPr indent="0" marL="0">
              <a:buNone/>
            </a:pPr>
            <a:r>
              <a:rPr lang="en-US" sz="3400" b="1" dirty="0">
                <a:solidFill>
                  <a:srgbClr val="142130"/>
                </a:solidFill>
                <a:latin typeface="Arial" pitchFamily="34" charset="0"/>
                <a:ea typeface="Arial" pitchFamily="34" charset="-122"/>
                <a:cs typeface="Arial" pitchFamily="34" charset="-120"/>
              </a:rPr>
              <a:t>Dispatched down isn’t the same as usable by an EV.</a:t>
            </a:r>
            <a:endParaRPr lang="en-US" sz="3400" dirty="0"/>
          </a:p>
        </p:txBody>
      </p:sp>
      <p:sp>
        <p:nvSpPr>
          <p:cNvPr id="5" name="Shape 3"/>
          <p:cNvSpPr/>
          <p:nvPr/>
        </p:nvSpPr>
        <p:spPr>
          <a:xfrm>
            <a:off x="548640" y="2011680"/>
            <a:ext cx="7406640" cy="841248"/>
          </a:xfrm>
          <a:prstGeom prst="roundRect">
            <a:avLst>
              <a:gd name="adj" fmla="val 15217"/>
            </a:avLst>
          </a:prstGeom>
          <a:solidFill>
            <a:srgbClr val="0B4339"/>
          </a:solidFill>
          <a:ln w="12700">
            <a:solidFill>
              <a:srgbClr val="0B4339"/>
            </a:solidFill>
            <a:prstDash val="solid"/>
          </a:ln>
        </p:spPr>
      </p:sp>
      <p:pic>
        <p:nvPicPr>
          <p:cNvPr id="6" name="Image 0" descr="preencoded.png">    </p:cNvPr>
          <p:cNvPicPr>
            <a:picLocks noChangeAspect="1"/>
          </p:cNvPicPr>
          <p:nvPr/>
        </p:nvPicPr>
        <p:blipFill>
          <a:blip r:embed="rId1"/>
          <a:stretch>
            <a:fillRect/>
          </a:stretch>
        </p:blipFill>
        <p:spPr>
          <a:xfrm>
            <a:off x="804672" y="2249424"/>
            <a:ext cx="365760" cy="365760"/>
          </a:xfrm>
          <a:prstGeom prst="rect">
            <a:avLst/>
          </a:prstGeom>
        </p:spPr>
      </p:pic>
      <p:sp>
        <p:nvSpPr>
          <p:cNvPr id="7" name="Text 4"/>
          <p:cNvSpPr txBox="1"/>
          <p:nvPr/>
        </p:nvSpPr>
        <p:spPr>
          <a:xfrm>
            <a:off x="1371600" y="2130552"/>
            <a:ext cx="6400800" cy="329184"/>
          </a:xfrm>
          <a:prstGeom prst="rect">
            <a:avLst/>
          </a:prstGeom>
          <a:noFill/>
          <a:ln/>
        </p:spPr>
        <p:txBody>
          <a:bodyPr wrap="square" lIns="0" tIns="0" rIns="0" bIns="0" rtlCol="0" anchor="t"/>
          <a:lstStyle/>
          <a:p>
            <a:pPr indent="0" marL="0">
              <a:buNone/>
            </a:pPr>
            <a:r>
              <a:rPr lang="en-US" sz="1700" b="1" dirty="0">
                <a:solidFill>
                  <a:srgbClr val="FFFFFF"/>
                </a:solidFill>
                <a:latin typeface="Arial" pitchFamily="34" charset="0"/>
                <a:ea typeface="Arial" pitchFamily="34" charset="-122"/>
                <a:cs typeface="Arial" pitchFamily="34" charset="-120"/>
              </a:rPr>
              <a:t>Renewable energy dispatched down</a:t>
            </a:r>
            <a:endParaRPr lang="en-US" sz="1700" dirty="0"/>
          </a:p>
        </p:txBody>
      </p:sp>
      <p:sp>
        <p:nvSpPr>
          <p:cNvPr id="8" name="Text 5"/>
          <p:cNvSpPr txBox="1"/>
          <p:nvPr/>
        </p:nvSpPr>
        <p:spPr>
          <a:xfrm>
            <a:off x="1371600" y="2468880"/>
            <a:ext cx="6400800" cy="274320"/>
          </a:xfrm>
          <a:prstGeom prst="rect">
            <a:avLst/>
          </a:prstGeom>
          <a:noFill/>
          <a:ln/>
        </p:spPr>
        <p:txBody>
          <a:bodyPr wrap="square" lIns="0" tIns="0" rIns="0" bIns="0" rtlCol="0" anchor="t"/>
          <a:lstStyle/>
          <a:p>
            <a:pPr indent="0" marL="0">
              <a:buNone/>
            </a:pPr>
            <a:r>
              <a:rPr lang="en-US" sz="1250" dirty="0">
                <a:solidFill>
                  <a:srgbClr val="DDF1EA"/>
                </a:solidFill>
                <a:latin typeface="Arial" pitchFamily="34" charset="0"/>
                <a:ea typeface="Arial" pitchFamily="34" charset="-122"/>
                <a:cs typeface="Arial" pitchFamily="34" charset="-120"/>
              </a:rPr>
              <a:t>across the whole Irish grid</a:t>
            </a:r>
            <a:endParaRPr lang="en-US" sz="1250" dirty="0"/>
          </a:p>
        </p:txBody>
      </p:sp>
      <p:sp>
        <p:nvSpPr>
          <p:cNvPr id="9" name="Shape 6"/>
          <p:cNvSpPr/>
          <p:nvPr/>
        </p:nvSpPr>
        <p:spPr>
          <a:xfrm>
            <a:off x="548640" y="2999232"/>
            <a:ext cx="6583680" cy="841248"/>
          </a:xfrm>
          <a:prstGeom prst="roundRect">
            <a:avLst>
              <a:gd name="adj" fmla="val 15217"/>
            </a:avLst>
          </a:prstGeom>
          <a:solidFill>
            <a:srgbClr val="155748"/>
          </a:solidFill>
          <a:ln w="12700">
            <a:solidFill>
              <a:srgbClr val="155748"/>
            </a:solidFill>
            <a:prstDash val="solid"/>
          </a:ln>
        </p:spPr>
      </p:sp>
      <p:pic>
        <p:nvPicPr>
          <p:cNvPr id="10" name="Image 1" descr="preencoded.png">    </p:cNvPr>
          <p:cNvPicPr>
            <a:picLocks noChangeAspect="1"/>
          </p:cNvPicPr>
          <p:nvPr/>
        </p:nvPicPr>
        <p:blipFill>
          <a:blip r:embed="rId2"/>
          <a:stretch>
            <a:fillRect/>
          </a:stretch>
        </p:blipFill>
        <p:spPr>
          <a:xfrm>
            <a:off x="804672" y="3236976"/>
            <a:ext cx="365760" cy="365760"/>
          </a:xfrm>
          <a:prstGeom prst="rect">
            <a:avLst/>
          </a:prstGeom>
        </p:spPr>
      </p:pic>
      <p:sp>
        <p:nvSpPr>
          <p:cNvPr id="11" name="Text 7"/>
          <p:cNvSpPr txBox="1"/>
          <p:nvPr/>
        </p:nvSpPr>
        <p:spPr>
          <a:xfrm>
            <a:off x="1371600" y="3118104"/>
            <a:ext cx="5577840" cy="329184"/>
          </a:xfrm>
          <a:prstGeom prst="rect">
            <a:avLst/>
          </a:prstGeom>
          <a:noFill/>
          <a:ln/>
        </p:spPr>
        <p:txBody>
          <a:bodyPr wrap="square" lIns="0" tIns="0" rIns="0" bIns="0" rtlCol="0" anchor="t"/>
          <a:lstStyle/>
          <a:p>
            <a:pPr indent="0" marL="0">
              <a:buNone/>
            </a:pPr>
            <a:r>
              <a:rPr lang="en-US" sz="1700" b="1" dirty="0">
                <a:solidFill>
                  <a:srgbClr val="FFFFFF"/>
                </a:solidFill>
                <a:latin typeface="Arial" pitchFamily="34" charset="0"/>
                <a:ea typeface="Arial" pitchFamily="34" charset="-122"/>
                <a:cs typeface="Arial" pitchFamily="34" charset="-120"/>
              </a:rPr>
              <a:t>Forecast early enough to act</a:t>
            </a:r>
            <a:endParaRPr lang="en-US" sz="1700" dirty="0"/>
          </a:p>
        </p:txBody>
      </p:sp>
      <p:sp>
        <p:nvSpPr>
          <p:cNvPr id="12" name="Text 8"/>
          <p:cNvSpPr txBox="1"/>
          <p:nvPr/>
        </p:nvSpPr>
        <p:spPr>
          <a:xfrm>
            <a:off x="1371600" y="3456432"/>
            <a:ext cx="5577840" cy="274320"/>
          </a:xfrm>
          <a:prstGeom prst="rect">
            <a:avLst/>
          </a:prstGeom>
          <a:noFill/>
          <a:ln/>
        </p:spPr>
        <p:txBody>
          <a:bodyPr wrap="square" lIns="0" tIns="0" rIns="0" bIns="0" rtlCol="0" anchor="t"/>
          <a:lstStyle/>
          <a:p>
            <a:pPr indent="0" marL="0">
              <a:buNone/>
            </a:pPr>
            <a:r>
              <a:rPr lang="en-US" sz="1250" dirty="0">
                <a:solidFill>
                  <a:srgbClr val="DDF1EA"/>
                </a:solidFill>
                <a:latin typeface="Arial" pitchFamily="34" charset="0"/>
                <a:ea typeface="Arial" pitchFamily="34" charset="-122"/>
                <a:cs typeface="Arial" pitchFamily="34" charset="-120"/>
              </a:rPr>
              <a:t>30 minutes ahead, before it happens</a:t>
            </a:r>
            <a:endParaRPr lang="en-US" sz="1250" dirty="0"/>
          </a:p>
        </p:txBody>
      </p:sp>
      <p:sp>
        <p:nvSpPr>
          <p:cNvPr id="13" name="Shape 9"/>
          <p:cNvSpPr/>
          <p:nvPr/>
        </p:nvSpPr>
        <p:spPr>
          <a:xfrm>
            <a:off x="548640" y="3986784"/>
            <a:ext cx="5715000" cy="841248"/>
          </a:xfrm>
          <a:prstGeom prst="roundRect">
            <a:avLst>
              <a:gd name="adj" fmla="val 15217"/>
            </a:avLst>
          </a:prstGeom>
          <a:solidFill>
            <a:srgbClr val="0F9D8A"/>
          </a:solidFill>
          <a:ln w="12700">
            <a:solidFill>
              <a:srgbClr val="0F9D8A"/>
            </a:solidFill>
            <a:prstDash val="solid"/>
          </a:ln>
        </p:spPr>
      </p:sp>
      <p:pic>
        <p:nvPicPr>
          <p:cNvPr id="14" name="Image 2" descr="preencoded.png">    </p:cNvPr>
          <p:cNvPicPr>
            <a:picLocks noChangeAspect="1"/>
          </p:cNvPicPr>
          <p:nvPr/>
        </p:nvPicPr>
        <p:blipFill>
          <a:blip r:embed="rId3"/>
          <a:stretch>
            <a:fillRect/>
          </a:stretch>
        </p:blipFill>
        <p:spPr>
          <a:xfrm>
            <a:off x="804672" y="4224528"/>
            <a:ext cx="365760" cy="365760"/>
          </a:xfrm>
          <a:prstGeom prst="rect">
            <a:avLst/>
          </a:prstGeom>
        </p:spPr>
      </p:pic>
      <p:sp>
        <p:nvSpPr>
          <p:cNvPr id="15" name="Text 10"/>
          <p:cNvSpPr txBox="1"/>
          <p:nvPr/>
        </p:nvSpPr>
        <p:spPr>
          <a:xfrm>
            <a:off x="1371600" y="4105656"/>
            <a:ext cx="4709160" cy="329184"/>
          </a:xfrm>
          <a:prstGeom prst="rect">
            <a:avLst/>
          </a:prstGeom>
          <a:noFill/>
          <a:ln/>
        </p:spPr>
        <p:txBody>
          <a:bodyPr wrap="square" lIns="0" tIns="0" rIns="0" bIns="0" rtlCol="0" anchor="t"/>
          <a:lstStyle/>
          <a:p>
            <a:pPr indent="0" marL="0">
              <a:buNone/>
            </a:pPr>
            <a:r>
              <a:rPr lang="en-US" sz="1700" b="1" dirty="0">
                <a:solidFill>
                  <a:srgbClr val="FFFFFF"/>
                </a:solidFill>
                <a:latin typeface="Arial" pitchFamily="34" charset="0"/>
                <a:ea typeface="Arial" pitchFamily="34" charset="-122"/>
                <a:cs typeface="Arial" pitchFamily="34" charset="-120"/>
              </a:rPr>
              <a:t>Deliverable at one site</a:t>
            </a:r>
            <a:endParaRPr lang="en-US" sz="1700" dirty="0"/>
          </a:p>
        </p:txBody>
      </p:sp>
      <p:sp>
        <p:nvSpPr>
          <p:cNvPr id="16" name="Text 11"/>
          <p:cNvSpPr txBox="1"/>
          <p:nvPr/>
        </p:nvSpPr>
        <p:spPr>
          <a:xfrm>
            <a:off x="1371600" y="4443984"/>
            <a:ext cx="4709160" cy="274320"/>
          </a:xfrm>
          <a:prstGeom prst="rect">
            <a:avLst/>
          </a:prstGeom>
          <a:noFill/>
          <a:ln/>
        </p:spPr>
        <p:txBody>
          <a:bodyPr wrap="square" lIns="0" tIns="0" rIns="0" bIns="0" rtlCol="0" anchor="t"/>
          <a:lstStyle/>
          <a:p>
            <a:pPr indent="0" marL="0">
              <a:buNone/>
            </a:pPr>
            <a:r>
              <a:rPr lang="en-US" sz="1250" dirty="0">
                <a:solidFill>
                  <a:srgbClr val="DDF1EA"/>
                </a:solidFill>
                <a:latin typeface="Arial" pitchFamily="34" charset="0"/>
                <a:ea typeface="Arial" pitchFamily="34" charset="-122"/>
                <a:cs typeface="Arial" pitchFamily="34" charset="-120"/>
              </a:rPr>
              <a:t>its chargers, grid connection and departure times</a:t>
            </a:r>
            <a:endParaRPr lang="en-US" sz="1250" dirty="0"/>
          </a:p>
        </p:txBody>
      </p:sp>
      <p:sp>
        <p:nvSpPr>
          <p:cNvPr id="17" name="Shape 12"/>
          <p:cNvSpPr/>
          <p:nvPr/>
        </p:nvSpPr>
        <p:spPr>
          <a:xfrm>
            <a:off x="548640" y="4974336"/>
            <a:ext cx="4937760" cy="841248"/>
          </a:xfrm>
          <a:prstGeom prst="roundRect">
            <a:avLst>
              <a:gd name="adj" fmla="val 15217"/>
            </a:avLst>
          </a:prstGeom>
          <a:solidFill>
            <a:srgbClr val="1FAE6C"/>
          </a:solidFill>
          <a:ln w="12700">
            <a:solidFill>
              <a:srgbClr val="1FAE6C"/>
            </a:solidFill>
            <a:prstDash val="solid"/>
          </a:ln>
        </p:spPr>
      </p:sp>
      <p:pic>
        <p:nvPicPr>
          <p:cNvPr id="18" name="Image 3" descr="preencoded.png">    </p:cNvPr>
          <p:cNvPicPr>
            <a:picLocks noChangeAspect="1"/>
          </p:cNvPicPr>
          <p:nvPr/>
        </p:nvPicPr>
        <p:blipFill>
          <a:blip r:embed="rId4"/>
          <a:stretch>
            <a:fillRect/>
          </a:stretch>
        </p:blipFill>
        <p:spPr>
          <a:xfrm>
            <a:off x="804672" y="5212080"/>
            <a:ext cx="365760" cy="365760"/>
          </a:xfrm>
          <a:prstGeom prst="rect">
            <a:avLst/>
          </a:prstGeom>
        </p:spPr>
      </p:pic>
      <p:sp>
        <p:nvSpPr>
          <p:cNvPr id="19" name="Text 13"/>
          <p:cNvSpPr txBox="1"/>
          <p:nvPr/>
        </p:nvSpPr>
        <p:spPr>
          <a:xfrm>
            <a:off x="1371600" y="5093208"/>
            <a:ext cx="3931920" cy="329184"/>
          </a:xfrm>
          <a:prstGeom prst="rect">
            <a:avLst/>
          </a:prstGeom>
          <a:noFill/>
          <a:ln/>
        </p:spPr>
        <p:txBody>
          <a:bodyPr wrap="square" lIns="0" tIns="0" rIns="0" bIns="0" rtlCol="0" anchor="t"/>
          <a:lstStyle/>
          <a:p>
            <a:pPr indent="0" marL="0">
              <a:buNone/>
            </a:pPr>
            <a:r>
              <a:rPr lang="en-US" sz="1700" b="1" dirty="0">
                <a:solidFill>
                  <a:srgbClr val="FFFFFF"/>
                </a:solidFill>
                <a:latin typeface="Arial" pitchFamily="34" charset="0"/>
                <a:ea typeface="Arial" pitchFamily="34" charset="-122"/>
                <a:cs typeface="Arial" pitchFamily="34" charset="-120"/>
              </a:rPr>
              <a:t>Cheaper than good smart charging</a:t>
            </a:r>
            <a:endParaRPr lang="en-US" sz="1700" dirty="0"/>
          </a:p>
        </p:txBody>
      </p:sp>
      <p:sp>
        <p:nvSpPr>
          <p:cNvPr id="20" name="Text 14"/>
          <p:cNvSpPr txBox="1"/>
          <p:nvPr/>
        </p:nvSpPr>
        <p:spPr>
          <a:xfrm>
            <a:off x="1371600" y="5431536"/>
            <a:ext cx="3931920" cy="274320"/>
          </a:xfrm>
          <a:prstGeom prst="rect">
            <a:avLst/>
          </a:prstGeom>
          <a:noFill/>
          <a:ln/>
        </p:spPr>
        <p:txBody>
          <a:bodyPr wrap="square" lIns="0" tIns="0" rIns="0" bIns="0" rtlCol="0" anchor="t"/>
          <a:lstStyle/>
          <a:p>
            <a:pPr indent="0" marL="0">
              <a:buNone/>
            </a:pPr>
            <a:r>
              <a:rPr lang="en-US" sz="1250" dirty="0">
                <a:solidFill>
                  <a:srgbClr val="DDF1EA"/>
                </a:solidFill>
                <a:latin typeface="Arial" pitchFamily="34" charset="0"/>
                <a:ea typeface="Arial" pitchFamily="34" charset="-122"/>
                <a:cs typeface="Arial" pitchFamily="34" charset="-120"/>
              </a:rPr>
              <a:t>only then is it worth offering</a:t>
            </a:r>
            <a:endParaRPr lang="en-US" sz="1250" dirty="0"/>
          </a:p>
        </p:txBody>
      </p:sp>
      <p:sp>
        <p:nvSpPr>
          <p:cNvPr id="21" name="Shape 15"/>
          <p:cNvSpPr/>
          <p:nvPr/>
        </p:nvSpPr>
        <p:spPr>
          <a:xfrm>
            <a:off x="8366760" y="2011680"/>
            <a:ext cx="3276295" cy="3803904"/>
          </a:xfrm>
          <a:prstGeom prst="roundRect">
            <a:avLst>
              <a:gd name="adj" fmla="val 4466"/>
            </a:avLst>
          </a:prstGeom>
          <a:solidFill>
            <a:srgbClr val="FFFFFF"/>
          </a:solidFill>
          <a:ln w="9525">
            <a:solidFill>
              <a:srgbClr val="DBE9E9"/>
            </a:solidFill>
            <a:prstDash val="solid"/>
          </a:ln>
          <a:effectLst>
            <a:outerShdw sx="100000" sy="100000" kx="0" ky="0" algn="bl" rotWithShape="0" blurRad="101600" dist="25400" dir="5400000">
              <a:srgbClr val="0B2A24">
                <a:alpha val="12000"/>
              </a:srgbClr>
            </a:outerShdw>
          </a:effectLst>
        </p:spPr>
      </p:sp>
      <p:sp>
        <p:nvSpPr>
          <p:cNvPr id="22" name="Shape 16"/>
          <p:cNvSpPr/>
          <p:nvPr/>
        </p:nvSpPr>
        <p:spPr>
          <a:xfrm>
            <a:off x="8686800" y="2286000"/>
            <a:ext cx="566928" cy="566928"/>
          </a:xfrm>
          <a:prstGeom prst="ellipse">
            <a:avLst/>
          </a:prstGeom>
          <a:solidFill>
            <a:srgbClr val="E0F7EE"/>
          </a:solidFill>
          <a:ln w="12700">
            <a:solidFill>
              <a:srgbClr val="E0F7EE"/>
            </a:solidFill>
            <a:prstDash val="solid"/>
          </a:ln>
        </p:spPr>
      </p:sp>
      <p:pic>
        <p:nvPicPr>
          <p:cNvPr id="23" name="Image 4" descr="preencoded.png">    </p:cNvPr>
          <p:cNvPicPr>
            <a:picLocks noChangeAspect="1"/>
          </p:cNvPicPr>
          <p:nvPr/>
        </p:nvPicPr>
        <p:blipFill>
          <a:blip r:embed="rId5"/>
          <a:stretch>
            <a:fillRect/>
          </a:stretch>
        </p:blipFill>
        <p:spPr>
          <a:xfrm>
            <a:off x="8822863" y="2422063"/>
            <a:ext cx="294803" cy="294803"/>
          </a:xfrm>
          <a:prstGeom prst="rect">
            <a:avLst/>
          </a:prstGeom>
        </p:spPr>
      </p:pic>
      <p:sp>
        <p:nvSpPr>
          <p:cNvPr id="24" name="Text 17"/>
          <p:cNvSpPr txBox="1"/>
          <p:nvPr/>
        </p:nvSpPr>
        <p:spPr>
          <a:xfrm>
            <a:off x="8686800" y="3017520"/>
            <a:ext cx="2636215" cy="320040"/>
          </a:xfrm>
          <a:prstGeom prst="rect">
            <a:avLst/>
          </a:prstGeom>
          <a:noFill/>
          <a:ln/>
        </p:spPr>
        <p:txBody>
          <a:bodyPr wrap="square" lIns="0" tIns="0" rIns="0" bIns="0" rtlCol="0" anchor="t"/>
          <a:lstStyle/>
          <a:p>
            <a:pPr indent="0" marL="0">
              <a:buNone/>
            </a:pPr>
            <a:r>
              <a:rPr lang="en-US" sz="1300" b="1" spc="100" kern="0" dirty="0">
                <a:solidFill>
                  <a:srgbClr val="748892"/>
                </a:solidFill>
                <a:latin typeface="Arial" pitchFamily="34" charset="0"/>
                <a:ea typeface="Arial" pitchFamily="34" charset="-122"/>
                <a:cs typeface="Arial" pitchFamily="34" charset="-120"/>
              </a:rPr>
              <a:t>Our first buyer</a:t>
            </a:r>
            <a:endParaRPr lang="en-US" sz="1300" dirty="0"/>
          </a:p>
        </p:txBody>
      </p:sp>
      <p:sp>
        <p:nvSpPr>
          <p:cNvPr id="25" name="Text 18"/>
          <p:cNvSpPr txBox="1"/>
          <p:nvPr/>
        </p:nvSpPr>
        <p:spPr>
          <a:xfrm>
            <a:off x="8686800" y="3364992"/>
            <a:ext cx="2636215" cy="914400"/>
          </a:xfrm>
          <a:prstGeom prst="rect">
            <a:avLst/>
          </a:prstGeom>
          <a:noFill/>
          <a:ln/>
        </p:spPr>
        <p:txBody>
          <a:bodyPr wrap="square" lIns="0" tIns="0" rIns="0" bIns="0" rtlCol="0" anchor="t"/>
          <a:lstStyle/>
          <a:p>
            <a:pPr indent="0" marL="0">
              <a:buNone/>
            </a:pPr>
            <a:r>
              <a:rPr lang="en-US" sz="2100" b="1" dirty="0">
                <a:solidFill>
                  <a:srgbClr val="142130"/>
                </a:solidFill>
                <a:latin typeface="Arial" pitchFamily="34" charset="0"/>
                <a:ea typeface="Arial" pitchFamily="34" charset="-122"/>
                <a:cs typeface="Arial" pitchFamily="34" charset="-120"/>
              </a:rPr>
              <a:t>Charging operators and fleet depots in Ireland</a:t>
            </a:r>
            <a:endParaRPr lang="en-US" sz="2100" dirty="0"/>
          </a:p>
        </p:txBody>
      </p:sp>
      <p:sp>
        <p:nvSpPr>
          <p:cNvPr id="26" name="Text 19"/>
          <p:cNvSpPr txBox="1"/>
          <p:nvPr/>
        </p:nvSpPr>
        <p:spPr>
          <a:xfrm>
            <a:off x="8686800" y="4434840"/>
            <a:ext cx="2636215" cy="1097280"/>
          </a:xfrm>
          <a:prstGeom prst="rect">
            <a:avLst/>
          </a:prstGeom>
          <a:noFill/>
          <a:ln/>
        </p:spPr>
        <p:txBody>
          <a:bodyPr wrap="square" lIns="0" tIns="0" rIns="0" bIns="0" rtlCol="0" anchor="t"/>
          <a:lstStyle/>
          <a:p>
            <a:pPr indent="0" marL="0">
              <a:buNone/>
            </a:pPr>
            <a:r>
              <a:rPr lang="en-US" sz="1500" dirty="0">
                <a:solidFill>
                  <a:srgbClr val="506474"/>
                </a:solidFill>
                <a:latin typeface="Arial" pitchFamily="34" charset="0"/>
                <a:ea typeface="Arial" pitchFamily="34" charset="-122"/>
                <a:cs typeface="Arial" pitchFamily="34" charset="-120"/>
              </a:rPr>
              <a:t>They pay a commission only on extra savings we create. Drivers join free.</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3F8F8"/>
        </a:solidFill>
      </p:bgPr>
    </p:bg>
    <p:spTree>
      <p:nvGrpSpPr>
        <p:cNvPr id="1" name=""/>
        <p:cNvGrpSpPr/>
        <p:nvPr/>
      </p:nvGrpSpPr>
      <p:grpSpPr>
        <a:xfrm>
          <a:off x="0" y="0"/>
          <a:ext cx="0" cy="0"/>
          <a:chOff x="0" y="0"/>
          <a:chExt cx="0" cy="0"/>
        </a:xfrm>
      </p:grpSpPr>
      <p:sp>
        <p:nvSpPr>
          <p:cNvPr id="2" name="Shape 0"/>
          <p:cNvSpPr/>
          <p:nvPr/>
        </p:nvSpPr>
        <p:spPr>
          <a:xfrm>
            <a:off x="548640" y="384048"/>
            <a:ext cx="1490472" cy="310896"/>
          </a:xfrm>
          <a:prstGeom prst="roundRect">
            <a:avLst>
              <a:gd name="adj" fmla="val 50000"/>
            </a:avLst>
          </a:prstGeom>
          <a:solidFill>
            <a:srgbClr val="E0F7EE"/>
          </a:solidFill>
          <a:ln w="12700">
            <a:solidFill>
              <a:srgbClr val="E0F7EE"/>
            </a:solidFill>
            <a:prstDash val="solid"/>
          </a:ln>
        </p:spPr>
      </p:sp>
      <p:sp>
        <p:nvSpPr>
          <p:cNvPr id="3" name="Text 1"/>
          <p:cNvSpPr txBox="1"/>
          <p:nvPr/>
        </p:nvSpPr>
        <p:spPr>
          <a:xfrm>
            <a:off x="548640" y="384048"/>
            <a:ext cx="1490472" cy="310896"/>
          </a:xfrm>
          <a:prstGeom prst="rect">
            <a:avLst/>
          </a:prstGeom>
          <a:noFill/>
          <a:ln/>
        </p:spPr>
        <p:txBody>
          <a:bodyPr wrap="square" lIns="0" tIns="0" rIns="0" bIns="0" rtlCol="0" anchor="ctr"/>
          <a:lstStyle/>
          <a:p>
            <a:pPr algn="ctr" indent="0" marL="0">
              <a:buNone/>
            </a:pPr>
            <a:r>
              <a:rPr lang="en-US" sz="1100" b="1" spc="150" kern="0" dirty="0">
                <a:solidFill>
                  <a:srgbClr val="0B4339"/>
                </a:solidFill>
                <a:latin typeface="Arial" pitchFamily="34" charset="0"/>
                <a:ea typeface="Arial" pitchFamily="34" charset="-122"/>
                <a:cs typeface="Arial" pitchFamily="34" charset="-120"/>
              </a:rPr>
              <a:t>INNOVATION</a:t>
            </a:r>
            <a:endParaRPr lang="en-US" sz="1100" dirty="0"/>
          </a:p>
        </p:txBody>
      </p:sp>
      <p:sp>
        <p:nvSpPr>
          <p:cNvPr id="4" name="Text 2"/>
          <p:cNvSpPr txBox="1"/>
          <p:nvPr/>
        </p:nvSpPr>
        <p:spPr>
          <a:xfrm>
            <a:off x="548640" y="841248"/>
            <a:ext cx="11094415" cy="914400"/>
          </a:xfrm>
          <a:prstGeom prst="rect">
            <a:avLst/>
          </a:prstGeom>
          <a:noFill/>
          <a:ln/>
        </p:spPr>
        <p:txBody>
          <a:bodyPr wrap="square" lIns="0" tIns="0" rIns="0" bIns="0" rtlCol="0" anchor="t"/>
          <a:lstStyle/>
          <a:p>
            <a:pPr indent="0" marL="0">
              <a:buNone/>
            </a:pPr>
            <a:r>
              <a:rPr lang="en-US" sz="3400" b="1" dirty="0">
                <a:solidFill>
                  <a:srgbClr val="142130"/>
                </a:solidFill>
                <a:latin typeface="Arial" pitchFamily="34" charset="0"/>
                <a:ea typeface="Arial" pitchFamily="34" charset="-122"/>
                <a:cs typeface="Arial" pitchFamily="34" charset="-120"/>
              </a:rPr>
              <a:t>Not a report of yesterday’s waste. A decision for the next half-hour.</a:t>
            </a:r>
            <a:endParaRPr lang="en-US" sz="3400" dirty="0"/>
          </a:p>
        </p:txBody>
      </p:sp>
      <p:sp>
        <p:nvSpPr>
          <p:cNvPr id="5" name="Shape 3"/>
          <p:cNvSpPr/>
          <p:nvPr/>
        </p:nvSpPr>
        <p:spPr>
          <a:xfrm>
            <a:off x="548640" y="2103120"/>
            <a:ext cx="658368" cy="658368"/>
          </a:xfrm>
          <a:prstGeom prst="ellipse">
            <a:avLst/>
          </a:prstGeom>
          <a:solidFill>
            <a:srgbClr val="0B4339"/>
          </a:solidFill>
          <a:ln w="12700">
            <a:solidFill>
              <a:srgbClr val="0B4339"/>
            </a:solidFill>
            <a:prstDash val="solid"/>
          </a:ln>
        </p:spPr>
      </p:sp>
      <p:pic>
        <p:nvPicPr>
          <p:cNvPr id="6" name="Image 0" descr="preencoded.png">    </p:cNvPr>
          <p:cNvPicPr>
            <a:picLocks noChangeAspect="1"/>
          </p:cNvPicPr>
          <p:nvPr/>
        </p:nvPicPr>
        <p:blipFill>
          <a:blip r:embed="rId1"/>
          <a:stretch>
            <a:fillRect/>
          </a:stretch>
        </p:blipFill>
        <p:spPr>
          <a:xfrm>
            <a:off x="706648" y="2261128"/>
            <a:ext cx="342351" cy="342351"/>
          </a:xfrm>
          <a:prstGeom prst="rect">
            <a:avLst/>
          </a:prstGeom>
        </p:spPr>
      </p:pic>
      <p:sp>
        <p:nvSpPr>
          <p:cNvPr id="7" name="Text 4"/>
          <p:cNvSpPr txBox="1"/>
          <p:nvPr/>
        </p:nvSpPr>
        <p:spPr>
          <a:xfrm>
            <a:off x="1417320" y="2121408"/>
            <a:ext cx="3931920" cy="329184"/>
          </a:xfrm>
          <a:prstGeom prst="rect">
            <a:avLst/>
          </a:prstGeom>
          <a:noFill/>
          <a:ln/>
        </p:spPr>
        <p:txBody>
          <a:bodyPr wrap="square" lIns="0" tIns="0" rIns="0" bIns="0" rtlCol="0" anchor="t"/>
          <a:lstStyle/>
          <a:p>
            <a:pPr indent="0" marL="0">
              <a:buNone/>
            </a:pPr>
            <a:r>
              <a:rPr lang="en-US" sz="1900" b="1" dirty="0">
                <a:solidFill>
                  <a:srgbClr val="142130"/>
                </a:solidFill>
                <a:latin typeface="Arial" pitchFamily="34" charset="0"/>
                <a:ea typeface="Arial" pitchFamily="34" charset="-122"/>
                <a:cs typeface="Arial" pitchFamily="34" charset="-120"/>
              </a:rPr>
              <a:t>Predict</a:t>
            </a:r>
            <a:endParaRPr lang="en-US" sz="1900" dirty="0"/>
          </a:p>
        </p:txBody>
      </p:sp>
      <p:sp>
        <p:nvSpPr>
          <p:cNvPr id="8" name="Text 5"/>
          <p:cNvSpPr txBox="1"/>
          <p:nvPr/>
        </p:nvSpPr>
        <p:spPr>
          <a:xfrm>
            <a:off x="1417320" y="2468880"/>
            <a:ext cx="3931920" cy="457200"/>
          </a:xfrm>
          <a:prstGeom prst="rect">
            <a:avLst/>
          </a:prstGeom>
          <a:noFill/>
          <a:ln/>
        </p:spPr>
        <p:txBody>
          <a:bodyPr wrap="square" lIns="0" tIns="0" rIns="0" bIns="0" rtlCol="0" anchor="t"/>
          <a:lstStyle/>
          <a:p>
            <a:pPr indent="0" marL="0">
              <a:buNone/>
            </a:pPr>
            <a:r>
              <a:rPr lang="en-US" sz="1350" dirty="0">
                <a:solidFill>
                  <a:srgbClr val="506474"/>
                </a:solidFill>
                <a:latin typeface="Arial" pitchFamily="34" charset="0"/>
                <a:ea typeface="Arial" pitchFamily="34" charset="-122"/>
                <a:cs typeface="Arial" pitchFamily="34" charset="-120"/>
              </a:rPr>
              <a:t>The GridToEv model forecasts renewable energy at risk, 30 min ahead.</a:t>
            </a:r>
            <a:endParaRPr lang="en-US" sz="1350" dirty="0"/>
          </a:p>
        </p:txBody>
      </p:sp>
      <p:sp>
        <p:nvSpPr>
          <p:cNvPr id="9" name="Shape 6"/>
          <p:cNvSpPr/>
          <p:nvPr/>
        </p:nvSpPr>
        <p:spPr>
          <a:xfrm>
            <a:off x="548640" y="3063240"/>
            <a:ext cx="658368" cy="658368"/>
          </a:xfrm>
          <a:prstGeom prst="ellipse">
            <a:avLst/>
          </a:prstGeom>
          <a:solidFill>
            <a:srgbClr val="0B4339"/>
          </a:solidFill>
          <a:ln w="12700">
            <a:solidFill>
              <a:srgbClr val="0B4339"/>
            </a:solidFill>
            <a:prstDash val="solid"/>
          </a:ln>
        </p:spPr>
      </p:sp>
      <p:pic>
        <p:nvPicPr>
          <p:cNvPr id="10" name="Image 1" descr="preencoded.png">    </p:cNvPr>
          <p:cNvPicPr>
            <a:picLocks noChangeAspect="1"/>
          </p:cNvPicPr>
          <p:nvPr/>
        </p:nvPicPr>
        <p:blipFill>
          <a:blip r:embed="rId2"/>
          <a:stretch>
            <a:fillRect/>
          </a:stretch>
        </p:blipFill>
        <p:spPr>
          <a:xfrm>
            <a:off x="706648" y="3221248"/>
            <a:ext cx="342351" cy="342351"/>
          </a:xfrm>
          <a:prstGeom prst="rect">
            <a:avLst/>
          </a:prstGeom>
        </p:spPr>
      </p:pic>
      <p:sp>
        <p:nvSpPr>
          <p:cNvPr id="11" name="Text 7"/>
          <p:cNvSpPr txBox="1"/>
          <p:nvPr/>
        </p:nvSpPr>
        <p:spPr>
          <a:xfrm>
            <a:off x="1417320" y="3081528"/>
            <a:ext cx="3931920" cy="329184"/>
          </a:xfrm>
          <a:prstGeom prst="rect">
            <a:avLst/>
          </a:prstGeom>
          <a:noFill/>
          <a:ln/>
        </p:spPr>
        <p:txBody>
          <a:bodyPr wrap="square" lIns="0" tIns="0" rIns="0" bIns="0" rtlCol="0" anchor="t"/>
          <a:lstStyle/>
          <a:p>
            <a:pPr indent="0" marL="0">
              <a:buNone/>
            </a:pPr>
            <a:r>
              <a:rPr lang="en-US" sz="1900" b="1" dirty="0">
                <a:solidFill>
                  <a:srgbClr val="142130"/>
                </a:solidFill>
                <a:latin typeface="Arial" pitchFamily="34" charset="0"/>
                <a:ea typeface="Arial" pitchFamily="34" charset="-122"/>
                <a:cs typeface="Arial" pitchFamily="34" charset="-120"/>
              </a:rPr>
              <a:t>Prove</a:t>
            </a:r>
            <a:endParaRPr lang="en-US" sz="1900" dirty="0"/>
          </a:p>
        </p:txBody>
      </p:sp>
      <p:sp>
        <p:nvSpPr>
          <p:cNvPr id="12" name="Text 8"/>
          <p:cNvSpPr txBox="1"/>
          <p:nvPr/>
        </p:nvSpPr>
        <p:spPr>
          <a:xfrm>
            <a:off x="1417320" y="3429000"/>
            <a:ext cx="3931920" cy="457200"/>
          </a:xfrm>
          <a:prstGeom prst="rect">
            <a:avLst/>
          </a:prstGeom>
          <a:noFill/>
          <a:ln/>
        </p:spPr>
        <p:txBody>
          <a:bodyPr wrap="square" lIns="0" tIns="0" rIns="0" bIns="0" rtlCol="0" anchor="t"/>
          <a:lstStyle/>
          <a:p>
            <a:pPr indent="0" marL="0">
              <a:buNone/>
            </a:pPr>
            <a:r>
              <a:rPr lang="en-US" sz="1350" dirty="0">
                <a:solidFill>
                  <a:srgbClr val="506474"/>
                </a:solidFill>
                <a:latin typeface="Arial" pitchFamily="34" charset="0"/>
                <a:ea typeface="Arial" pitchFamily="34" charset="-122"/>
                <a:cs typeface="Arial" pitchFamily="34" charset="-120"/>
              </a:rPr>
              <a:t>Check the site: chargers, connection, battery, departures.</a:t>
            </a:r>
            <a:endParaRPr lang="en-US" sz="1350" dirty="0"/>
          </a:p>
        </p:txBody>
      </p:sp>
      <p:sp>
        <p:nvSpPr>
          <p:cNvPr id="13" name="Shape 9"/>
          <p:cNvSpPr/>
          <p:nvPr/>
        </p:nvSpPr>
        <p:spPr>
          <a:xfrm>
            <a:off x="548640" y="4023360"/>
            <a:ext cx="658368" cy="658368"/>
          </a:xfrm>
          <a:prstGeom prst="ellipse">
            <a:avLst/>
          </a:prstGeom>
          <a:solidFill>
            <a:srgbClr val="0B4339"/>
          </a:solidFill>
          <a:ln w="12700">
            <a:solidFill>
              <a:srgbClr val="0B4339"/>
            </a:solidFill>
            <a:prstDash val="solid"/>
          </a:ln>
        </p:spPr>
      </p:sp>
      <p:pic>
        <p:nvPicPr>
          <p:cNvPr id="14" name="Image 2" descr="preencoded.png">    </p:cNvPr>
          <p:cNvPicPr>
            <a:picLocks noChangeAspect="1"/>
          </p:cNvPicPr>
          <p:nvPr/>
        </p:nvPicPr>
        <p:blipFill>
          <a:blip r:embed="rId3"/>
          <a:stretch>
            <a:fillRect/>
          </a:stretch>
        </p:blipFill>
        <p:spPr>
          <a:xfrm>
            <a:off x="706648" y="4181368"/>
            <a:ext cx="342351" cy="342351"/>
          </a:xfrm>
          <a:prstGeom prst="rect">
            <a:avLst/>
          </a:prstGeom>
        </p:spPr>
      </p:pic>
      <p:sp>
        <p:nvSpPr>
          <p:cNvPr id="15" name="Text 10"/>
          <p:cNvSpPr txBox="1"/>
          <p:nvPr/>
        </p:nvSpPr>
        <p:spPr>
          <a:xfrm>
            <a:off x="1417320" y="4041648"/>
            <a:ext cx="3931920" cy="329184"/>
          </a:xfrm>
          <a:prstGeom prst="rect">
            <a:avLst/>
          </a:prstGeom>
          <a:noFill/>
          <a:ln/>
        </p:spPr>
        <p:txBody>
          <a:bodyPr wrap="square" lIns="0" tIns="0" rIns="0" bIns="0" rtlCol="0" anchor="t"/>
          <a:lstStyle/>
          <a:p>
            <a:pPr indent="0" marL="0">
              <a:buNone/>
            </a:pPr>
            <a:r>
              <a:rPr lang="en-US" sz="1900" b="1" dirty="0">
                <a:solidFill>
                  <a:srgbClr val="142130"/>
                </a:solidFill>
                <a:latin typeface="Arial" pitchFamily="34" charset="0"/>
                <a:ea typeface="Arial" pitchFamily="34" charset="-122"/>
                <a:cs typeface="Arial" pitchFamily="34" charset="-120"/>
              </a:rPr>
              <a:t>Decide</a:t>
            </a:r>
            <a:endParaRPr lang="en-US" sz="1900" dirty="0"/>
          </a:p>
        </p:txBody>
      </p:sp>
      <p:sp>
        <p:nvSpPr>
          <p:cNvPr id="16" name="Text 11"/>
          <p:cNvSpPr txBox="1"/>
          <p:nvPr/>
        </p:nvSpPr>
        <p:spPr>
          <a:xfrm>
            <a:off x="1417320" y="4389120"/>
            <a:ext cx="3931920" cy="457200"/>
          </a:xfrm>
          <a:prstGeom prst="rect">
            <a:avLst/>
          </a:prstGeom>
          <a:noFill/>
          <a:ln/>
        </p:spPr>
        <p:txBody>
          <a:bodyPr wrap="square" lIns="0" tIns="0" rIns="0" bIns="0" rtlCol="0" anchor="t"/>
          <a:lstStyle/>
          <a:p>
            <a:pPr indent="0" marL="0">
              <a:buNone/>
            </a:pPr>
            <a:r>
              <a:rPr lang="en-US" sz="1350" dirty="0">
                <a:solidFill>
                  <a:srgbClr val="506474"/>
                </a:solidFill>
                <a:latin typeface="Arial" pitchFamily="34" charset="0"/>
                <a:ea typeface="Arial" pitchFamily="34" charset="-122"/>
                <a:cs typeface="Arial" pitchFamily="34" charset="-120"/>
              </a:rPr>
              <a:t>Build the charging plan, or a discount offer for drivers.</a:t>
            </a:r>
            <a:endParaRPr lang="en-US" sz="1350" dirty="0"/>
          </a:p>
        </p:txBody>
      </p:sp>
      <p:sp>
        <p:nvSpPr>
          <p:cNvPr id="17" name="Shape 12"/>
          <p:cNvSpPr/>
          <p:nvPr/>
        </p:nvSpPr>
        <p:spPr>
          <a:xfrm>
            <a:off x="548640" y="4983480"/>
            <a:ext cx="658368" cy="658368"/>
          </a:xfrm>
          <a:prstGeom prst="ellipse">
            <a:avLst/>
          </a:prstGeom>
          <a:solidFill>
            <a:srgbClr val="1FAE6C"/>
          </a:solidFill>
          <a:ln w="12700">
            <a:solidFill>
              <a:srgbClr val="1FAE6C"/>
            </a:solidFill>
            <a:prstDash val="solid"/>
          </a:ln>
        </p:spPr>
      </p:sp>
      <p:pic>
        <p:nvPicPr>
          <p:cNvPr id="18" name="Image 3" descr="preencoded.png">    </p:cNvPr>
          <p:cNvPicPr>
            <a:picLocks noChangeAspect="1"/>
          </p:cNvPicPr>
          <p:nvPr/>
        </p:nvPicPr>
        <p:blipFill>
          <a:blip r:embed="rId4"/>
          <a:stretch>
            <a:fillRect/>
          </a:stretch>
        </p:blipFill>
        <p:spPr>
          <a:xfrm>
            <a:off x="706648" y="5141488"/>
            <a:ext cx="342351" cy="342351"/>
          </a:xfrm>
          <a:prstGeom prst="rect">
            <a:avLst/>
          </a:prstGeom>
        </p:spPr>
      </p:pic>
      <p:sp>
        <p:nvSpPr>
          <p:cNvPr id="19" name="Text 13"/>
          <p:cNvSpPr txBox="1"/>
          <p:nvPr/>
        </p:nvSpPr>
        <p:spPr>
          <a:xfrm>
            <a:off x="1417320" y="5001768"/>
            <a:ext cx="3931920" cy="329184"/>
          </a:xfrm>
          <a:prstGeom prst="rect">
            <a:avLst/>
          </a:prstGeom>
          <a:noFill/>
          <a:ln/>
        </p:spPr>
        <p:txBody>
          <a:bodyPr wrap="square" lIns="0" tIns="0" rIns="0" bIns="0" rtlCol="0" anchor="t"/>
          <a:lstStyle/>
          <a:p>
            <a:pPr indent="0" marL="0">
              <a:buNone/>
            </a:pPr>
            <a:r>
              <a:rPr lang="en-US" sz="1900" b="1" dirty="0">
                <a:solidFill>
                  <a:srgbClr val="142130"/>
                </a:solidFill>
                <a:latin typeface="Arial" pitchFamily="34" charset="0"/>
                <a:ea typeface="Arial" pitchFamily="34" charset="-122"/>
                <a:cs typeface="Arial" pitchFamily="34" charset="-120"/>
              </a:rPr>
              <a:t>Share</a:t>
            </a:r>
            <a:endParaRPr lang="en-US" sz="1900" dirty="0"/>
          </a:p>
        </p:txBody>
      </p:sp>
      <p:sp>
        <p:nvSpPr>
          <p:cNvPr id="20" name="Text 14"/>
          <p:cNvSpPr txBox="1"/>
          <p:nvPr/>
        </p:nvSpPr>
        <p:spPr>
          <a:xfrm>
            <a:off x="1417320" y="5349240"/>
            <a:ext cx="3931920" cy="457200"/>
          </a:xfrm>
          <a:prstGeom prst="rect">
            <a:avLst/>
          </a:prstGeom>
          <a:noFill/>
          <a:ln/>
        </p:spPr>
        <p:txBody>
          <a:bodyPr wrap="square" lIns="0" tIns="0" rIns="0" bIns="0" rtlCol="0" anchor="t"/>
          <a:lstStyle/>
          <a:p>
            <a:pPr indent="0" marL="0">
              <a:buNone/>
            </a:pPr>
            <a:r>
              <a:rPr lang="en-US" sz="1350" dirty="0">
                <a:solidFill>
                  <a:srgbClr val="506474"/>
                </a:solidFill>
                <a:latin typeface="Arial" pitchFamily="34" charset="0"/>
                <a:ea typeface="Arial" pitchFamily="34" charset="-122"/>
                <a:cs typeface="Arial" pitchFamily="34" charset="-120"/>
              </a:rPr>
              <a:t>Settle every extra euro 50 / 25 / 25, to the cent.</a:t>
            </a:r>
            <a:endParaRPr lang="en-US" sz="1350" dirty="0"/>
          </a:p>
        </p:txBody>
      </p:sp>
      <p:sp>
        <p:nvSpPr>
          <p:cNvPr id="21" name="Shape 15"/>
          <p:cNvSpPr/>
          <p:nvPr/>
        </p:nvSpPr>
        <p:spPr>
          <a:xfrm>
            <a:off x="5577840" y="2148840"/>
            <a:ext cx="6062472" cy="3410141"/>
          </a:xfrm>
          <a:prstGeom prst="roundRect">
            <a:avLst>
              <a:gd name="adj" fmla="val 3754"/>
            </a:avLst>
          </a:prstGeom>
          <a:solidFill>
            <a:srgbClr val="15212D"/>
          </a:solidFill>
          <a:ln w="12700">
            <a:solidFill>
              <a:srgbClr val="15212D"/>
            </a:solidFill>
            <a:prstDash val="solid"/>
          </a:ln>
          <a:effectLst>
            <a:outerShdw sx="100000" sy="100000" kx="0" ky="0" algn="bl" rotWithShape="0" blurRad="101600" dist="25400" dir="5400000">
              <a:srgbClr val="0B2A24">
                <a:alpha val="12000"/>
              </a:srgbClr>
            </a:outerShdw>
          </a:effectLst>
        </p:spPr>
      </p:sp>
      <p:sp>
        <p:nvSpPr>
          <p:cNvPr id="22" name="Shape 16"/>
          <p:cNvSpPr/>
          <p:nvPr/>
        </p:nvSpPr>
        <p:spPr>
          <a:xfrm>
            <a:off x="5669280" y="2240280"/>
            <a:ext cx="5879592" cy="3227261"/>
          </a:xfrm>
          <a:prstGeom prst="roundRect">
            <a:avLst>
              <a:gd name="adj" fmla="val 2833"/>
            </a:avLst>
          </a:prstGeom>
          <a:solidFill>
            <a:srgbClr val="1F2F3D"/>
          </a:solidFill>
          <a:ln w="12700">
            <a:solidFill>
              <a:srgbClr val="1F2F3D"/>
            </a:solidFill>
            <a:prstDash val="solid"/>
          </a:ln>
        </p:spPr>
      </p:sp>
      <p:pic>
        <p:nvPicPr>
          <p:cNvPr id="23" name="Image 4" descr="preencoded.png">    </p:cNvPr>
          <p:cNvPicPr>
            <a:picLocks noChangeAspect="1"/>
          </p:cNvPicPr>
          <p:nvPr/>
        </p:nvPicPr>
        <p:blipFill>
          <a:blip r:embed="rId5">
            <a:alphaModFix amt="80000"/>
          </a:blip>
          <a:stretch>
            <a:fillRect/>
          </a:stretch>
        </p:blipFill>
        <p:spPr>
          <a:xfrm>
            <a:off x="8197596" y="3350990"/>
            <a:ext cx="822960" cy="822960"/>
          </a:xfrm>
          <a:prstGeom prst="rect">
            <a:avLst/>
          </a:prstGeom>
        </p:spPr>
      </p:pic>
      <p:sp>
        <p:nvSpPr>
          <p:cNvPr id="24" name="Text 17"/>
          <p:cNvSpPr txBox="1"/>
          <p:nvPr/>
        </p:nvSpPr>
        <p:spPr>
          <a:xfrm>
            <a:off x="5852160" y="2377440"/>
            <a:ext cx="5513832" cy="274320"/>
          </a:xfrm>
          <a:prstGeom prst="rect">
            <a:avLst/>
          </a:prstGeom>
          <a:noFill/>
          <a:ln/>
        </p:spPr>
        <p:txBody>
          <a:bodyPr wrap="square" lIns="0" tIns="0" rIns="0" bIns="0" rtlCol="0" anchor="t"/>
          <a:lstStyle/>
          <a:p>
            <a:pPr indent="0" marL="0">
              <a:buNone/>
            </a:pPr>
            <a:r>
              <a:rPr lang="en-US" sz="1200" b="1" spc="100" kern="0" dirty="0">
                <a:solidFill>
                  <a:srgbClr val="FFFFFF"/>
                </a:solidFill>
                <a:latin typeface="Arial" pitchFamily="34" charset="0"/>
                <a:ea typeface="Arial" pitchFamily="34" charset="-122"/>
                <a:cs typeface="Arial" pitchFamily="34" charset="-120"/>
              </a:rPr>
              <a:t>CLIP 1 · DASHBOARD · 0:50–1:20</a:t>
            </a:r>
            <a:endParaRPr lang="en-US" sz="1200" dirty="0"/>
          </a:p>
        </p:txBody>
      </p:sp>
      <p:sp>
        <p:nvSpPr>
          <p:cNvPr id="25" name="Text 18"/>
          <p:cNvSpPr txBox="1"/>
          <p:nvPr/>
        </p:nvSpPr>
        <p:spPr>
          <a:xfrm>
            <a:off x="5852160" y="4992053"/>
            <a:ext cx="5513832" cy="365760"/>
          </a:xfrm>
          <a:prstGeom prst="rect">
            <a:avLst/>
          </a:prstGeom>
          <a:noFill/>
          <a:ln/>
        </p:spPr>
        <p:txBody>
          <a:bodyPr wrap="square" lIns="0" tIns="0" rIns="0" bIns="0" rtlCol="0" anchor="t"/>
          <a:lstStyle/>
          <a:p>
            <a:pPr indent="0" marL="0">
              <a:buNone/>
            </a:pPr>
            <a:r>
              <a:rPr lang="en-US" sz="1000" dirty="0">
                <a:solidFill>
                  <a:srgbClr val="A9B8C4"/>
                </a:solidFill>
                <a:latin typeface="Arial" pitchFamily="34" charset="0"/>
                <a:ea typeface="Arial" pitchFamily="34" charset="-122"/>
                <a:cs typeface="Arial" pitchFamily="34" charset="-120"/>
              </a:rPr>
              <a:t>Insert the recording here (Insert › Video › This Device), size it to this frame, then delete the frame.</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F8F8"/>
        </a:solidFill>
      </p:bgPr>
    </p:bg>
    <p:spTree>
      <p:nvGrpSpPr>
        <p:cNvPr id="1" name=""/>
        <p:cNvGrpSpPr/>
        <p:nvPr/>
      </p:nvGrpSpPr>
      <p:grpSpPr>
        <a:xfrm>
          <a:off x="0" y="0"/>
          <a:ext cx="0" cy="0"/>
          <a:chOff x="0" y="0"/>
          <a:chExt cx="0" cy="0"/>
        </a:xfrm>
      </p:grpSpPr>
      <p:sp>
        <p:nvSpPr>
          <p:cNvPr id="2" name="Shape 0"/>
          <p:cNvSpPr/>
          <p:nvPr/>
        </p:nvSpPr>
        <p:spPr>
          <a:xfrm>
            <a:off x="548640" y="384048"/>
            <a:ext cx="2569464" cy="310896"/>
          </a:xfrm>
          <a:prstGeom prst="roundRect">
            <a:avLst>
              <a:gd name="adj" fmla="val 50000"/>
            </a:avLst>
          </a:prstGeom>
          <a:solidFill>
            <a:srgbClr val="E0F7EE"/>
          </a:solidFill>
          <a:ln w="12700">
            <a:solidFill>
              <a:srgbClr val="E0F7EE"/>
            </a:solidFill>
            <a:prstDash val="solid"/>
          </a:ln>
        </p:spPr>
      </p:sp>
      <p:sp>
        <p:nvSpPr>
          <p:cNvPr id="3" name="Text 1"/>
          <p:cNvSpPr txBox="1"/>
          <p:nvPr/>
        </p:nvSpPr>
        <p:spPr>
          <a:xfrm>
            <a:off x="548640" y="384048"/>
            <a:ext cx="2569464" cy="310896"/>
          </a:xfrm>
          <a:prstGeom prst="rect">
            <a:avLst/>
          </a:prstGeom>
          <a:noFill/>
          <a:ln/>
        </p:spPr>
        <p:txBody>
          <a:bodyPr wrap="square" lIns="0" tIns="0" rIns="0" bIns="0" rtlCol="0" anchor="ctr"/>
          <a:lstStyle/>
          <a:p>
            <a:pPr algn="ctr" indent="0" marL="0">
              <a:buNone/>
            </a:pPr>
            <a:r>
              <a:rPr lang="en-US" sz="1100" b="1" spc="150" kern="0" dirty="0">
                <a:solidFill>
                  <a:srgbClr val="0B4339"/>
                </a:solidFill>
                <a:latin typeface="Arial" pitchFamily="34" charset="0"/>
                <a:ea typeface="Arial" pitchFamily="34" charset="-122"/>
                <a:cs typeface="Arial" pitchFamily="34" charset="-120"/>
              </a:rPr>
              <a:t>TECHNICAL · AI PROOF</a:t>
            </a:r>
            <a:endParaRPr lang="en-US" sz="1100" dirty="0"/>
          </a:p>
        </p:txBody>
      </p:sp>
      <p:sp>
        <p:nvSpPr>
          <p:cNvPr id="4" name="Text 2"/>
          <p:cNvSpPr txBox="1"/>
          <p:nvPr/>
        </p:nvSpPr>
        <p:spPr>
          <a:xfrm>
            <a:off x="548640" y="841248"/>
            <a:ext cx="11094415" cy="914400"/>
          </a:xfrm>
          <a:prstGeom prst="rect">
            <a:avLst/>
          </a:prstGeom>
          <a:noFill/>
          <a:ln/>
        </p:spPr>
        <p:txBody>
          <a:bodyPr wrap="square" lIns="0" tIns="0" rIns="0" bIns="0" rtlCol="0" anchor="t"/>
          <a:lstStyle/>
          <a:p>
            <a:pPr indent="0" marL="0">
              <a:buNone/>
            </a:pPr>
            <a:r>
              <a:rPr lang="en-US" sz="3400" b="1" dirty="0">
                <a:solidFill>
                  <a:srgbClr val="142130"/>
                </a:solidFill>
                <a:latin typeface="Arial" pitchFamily="34" charset="0"/>
                <a:ea typeface="Arial" pitchFamily="34" charset="-122"/>
                <a:cs typeface="Arial" pitchFamily="34" charset="-120"/>
              </a:rPr>
              <a:t>A timed signal from a real model, scored against what really happened.</a:t>
            </a:r>
            <a:endParaRPr lang="en-US" sz="3400" dirty="0"/>
          </a:p>
        </p:txBody>
      </p:sp>
      <p:sp>
        <p:nvSpPr>
          <p:cNvPr id="5" name="Shape 3"/>
          <p:cNvSpPr/>
          <p:nvPr/>
        </p:nvSpPr>
        <p:spPr>
          <a:xfrm>
            <a:off x="548640" y="2011680"/>
            <a:ext cx="7223760" cy="4063365"/>
          </a:xfrm>
          <a:prstGeom prst="roundRect">
            <a:avLst>
              <a:gd name="adj" fmla="val 3150"/>
            </a:avLst>
          </a:prstGeom>
          <a:solidFill>
            <a:srgbClr val="15212D"/>
          </a:solidFill>
          <a:ln w="12700">
            <a:solidFill>
              <a:srgbClr val="15212D"/>
            </a:solidFill>
            <a:prstDash val="solid"/>
          </a:ln>
          <a:effectLst>
            <a:outerShdw sx="100000" sy="100000" kx="0" ky="0" algn="bl" rotWithShape="0" blurRad="101600" dist="25400" dir="5400000">
              <a:srgbClr val="0B2A24">
                <a:alpha val="12000"/>
              </a:srgbClr>
            </a:outerShdw>
          </a:effectLst>
        </p:spPr>
      </p:sp>
      <p:sp>
        <p:nvSpPr>
          <p:cNvPr id="6" name="Shape 4"/>
          <p:cNvSpPr/>
          <p:nvPr/>
        </p:nvSpPr>
        <p:spPr>
          <a:xfrm>
            <a:off x="640080" y="2103120"/>
            <a:ext cx="7040880" cy="3880485"/>
          </a:xfrm>
          <a:prstGeom prst="roundRect">
            <a:avLst>
              <a:gd name="adj" fmla="val 2356"/>
            </a:avLst>
          </a:prstGeom>
          <a:solidFill>
            <a:srgbClr val="1F2F3D"/>
          </a:solidFill>
          <a:ln w="12700">
            <a:solidFill>
              <a:srgbClr val="1F2F3D"/>
            </a:solidFill>
            <a:prstDash val="solid"/>
          </a:ln>
        </p:spPr>
      </p:sp>
      <p:pic>
        <p:nvPicPr>
          <p:cNvPr id="7" name="Image 0" descr="preencoded.png">    </p:cNvPr>
          <p:cNvPicPr>
            <a:picLocks noChangeAspect="1"/>
          </p:cNvPicPr>
          <p:nvPr/>
        </p:nvPicPr>
        <p:blipFill>
          <a:blip r:embed="rId1">
            <a:alphaModFix amt="80000"/>
          </a:blip>
          <a:stretch>
            <a:fillRect/>
          </a:stretch>
        </p:blipFill>
        <p:spPr>
          <a:xfrm>
            <a:off x="3749040" y="3540442"/>
            <a:ext cx="822960" cy="822960"/>
          </a:xfrm>
          <a:prstGeom prst="rect">
            <a:avLst/>
          </a:prstGeom>
        </p:spPr>
      </p:pic>
      <p:sp>
        <p:nvSpPr>
          <p:cNvPr id="8" name="Text 5"/>
          <p:cNvSpPr txBox="1"/>
          <p:nvPr/>
        </p:nvSpPr>
        <p:spPr>
          <a:xfrm>
            <a:off x="822960" y="2240280"/>
            <a:ext cx="6675120" cy="274320"/>
          </a:xfrm>
          <a:prstGeom prst="rect">
            <a:avLst/>
          </a:prstGeom>
          <a:noFill/>
          <a:ln/>
        </p:spPr>
        <p:txBody>
          <a:bodyPr wrap="square" lIns="0" tIns="0" rIns="0" bIns="0" rtlCol="0" anchor="t"/>
          <a:lstStyle/>
          <a:p>
            <a:pPr indent="0" marL="0">
              <a:buNone/>
            </a:pPr>
            <a:r>
              <a:rPr lang="en-US" sz="1200" b="1" spc="100" kern="0" dirty="0">
                <a:solidFill>
                  <a:srgbClr val="FFFFFF"/>
                </a:solidFill>
                <a:latin typeface="Arial" pitchFamily="34" charset="0"/>
                <a:ea typeface="Arial" pitchFamily="34" charset="-122"/>
                <a:cs typeface="Arial" pitchFamily="34" charset="-120"/>
              </a:rPr>
              <a:t>CLIP 2 · FORECAST PAGE · 1:20–2:10</a:t>
            </a:r>
            <a:endParaRPr lang="en-US" sz="1200" dirty="0"/>
          </a:p>
        </p:txBody>
      </p:sp>
      <p:sp>
        <p:nvSpPr>
          <p:cNvPr id="9" name="Text 6"/>
          <p:cNvSpPr txBox="1"/>
          <p:nvPr/>
        </p:nvSpPr>
        <p:spPr>
          <a:xfrm>
            <a:off x="822960" y="5508117"/>
            <a:ext cx="6675120" cy="365760"/>
          </a:xfrm>
          <a:prstGeom prst="rect">
            <a:avLst/>
          </a:prstGeom>
          <a:noFill/>
          <a:ln/>
        </p:spPr>
        <p:txBody>
          <a:bodyPr wrap="square" lIns="0" tIns="0" rIns="0" bIns="0" rtlCol="0" anchor="t"/>
          <a:lstStyle/>
          <a:p>
            <a:pPr indent="0" marL="0">
              <a:buNone/>
            </a:pPr>
            <a:r>
              <a:rPr lang="en-US" sz="1000" dirty="0">
                <a:solidFill>
                  <a:srgbClr val="A9B8C4"/>
                </a:solidFill>
                <a:latin typeface="Arial" pitchFamily="34" charset="0"/>
                <a:ea typeface="Arial" pitchFamily="34" charset="-122"/>
                <a:cs typeface="Arial" pitchFamily="34" charset="-120"/>
              </a:rPr>
              <a:t>Insert the recording here (Insert › Video › This Device), size it to this frame, then delete the frame.</a:t>
            </a:r>
            <a:endParaRPr lang="en-US" sz="1000" dirty="0"/>
          </a:p>
        </p:txBody>
      </p:sp>
      <p:sp>
        <p:nvSpPr>
          <p:cNvPr id="10" name="Shape 7"/>
          <p:cNvSpPr/>
          <p:nvPr/>
        </p:nvSpPr>
        <p:spPr>
          <a:xfrm>
            <a:off x="8092440" y="2011680"/>
            <a:ext cx="3550615" cy="1024128"/>
          </a:xfrm>
          <a:prstGeom prst="roundRect">
            <a:avLst>
              <a:gd name="adj" fmla="val 14286"/>
            </a:avLst>
          </a:prstGeom>
          <a:solidFill>
            <a:srgbClr val="FFFFFF"/>
          </a:solidFill>
          <a:ln w="9525">
            <a:solidFill>
              <a:srgbClr val="DBE9E9"/>
            </a:solidFill>
            <a:prstDash val="solid"/>
          </a:ln>
          <a:effectLst>
            <a:outerShdw sx="100000" sy="100000" kx="0" ky="0" algn="bl" rotWithShape="0" blurRad="101600" dist="25400" dir="5400000">
              <a:srgbClr val="0B2A24">
                <a:alpha val="12000"/>
              </a:srgbClr>
            </a:outerShdw>
          </a:effectLst>
        </p:spPr>
      </p:sp>
      <p:sp>
        <p:nvSpPr>
          <p:cNvPr id="11" name="Shape 8"/>
          <p:cNvSpPr/>
          <p:nvPr/>
        </p:nvSpPr>
        <p:spPr>
          <a:xfrm>
            <a:off x="8293608" y="2249424"/>
            <a:ext cx="530352" cy="530352"/>
          </a:xfrm>
          <a:prstGeom prst="ellipse">
            <a:avLst/>
          </a:prstGeom>
          <a:solidFill>
            <a:srgbClr val="E0F7EE"/>
          </a:solidFill>
          <a:ln w="12700">
            <a:solidFill>
              <a:srgbClr val="E0F7EE"/>
            </a:solidFill>
            <a:prstDash val="solid"/>
          </a:ln>
        </p:spPr>
      </p:sp>
      <p:pic>
        <p:nvPicPr>
          <p:cNvPr id="12" name="Image 1" descr="preencoded.png">    </p:cNvPr>
          <p:cNvPicPr>
            <a:picLocks noChangeAspect="1"/>
          </p:cNvPicPr>
          <p:nvPr/>
        </p:nvPicPr>
        <p:blipFill>
          <a:blip r:embed="rId2"/>
          <a:stretch>
            <a:fillRect/>
          </a:stretch>
        </p:blipFill>
        <p:spPr>
          <a:xfrm>
            <a:off x="8420892" y="2376708"/>
            <a:ext cx="275783" cy="275783"/>
          </a:xfrm>
          <a:prstGeom prst="rect">
            <a:avLst/>
          </a:prstGeom>
        </p:spPr>
      </p:pic>
      <p:sp>
        <p:nvSpPr>
          <p:cNvPr id="13" name="Text 9"/>
          <p:cNvSpPr txBox="1"/>
          <p:nvPr/>
        </p:nvSpPr>
        <p:spPr>
          <a:xfrm>
            <a:off x="8988552" y="2167128"/>
            <a:ext cx="2499055" cy="329184"/>
          </a:xfrm>
          <a:prstGeom prst="rect">
            <a:avLst/>
          </a:prstGeom>
          <a:noFill/>
          <a:ln/>
        </p:spPr>
        <p:txBody>
          <a:bodyPr wrap="square" lIns="0" tIns="0" rIns="0" bIns="0" rtlCol="0" anchor="t"/>
          <a:lstStyle/>
          <a:p>
            <a:pPr indent="0" marL="0">
              <a:buNone/>
            </a:pPr>
            <a:r>
              <a:rPr lang="en-US" sz="1500" b="1" dirty="0">
                <a:solidFill>
                  <a:srgbClr val="142130"/>
                </a:solidFill>
                <a:latin typeface="Arial" pitchFamily="34" charset="0"/>
                <a:ea typeface="Arial" pitchFamily="34" charset="-122"/>
                <a:cs typeface="Arial" pitchFamily="34" charset="-120"/>
              </a:rPr>
              <a:t>+30-minute forecasts</a:t>
            </a:r>
            <a:endParaRPr lang="en-US" sz="1500" dirty="0"/>
          </a:p>
        </p:txBody>
      </p:sp>
      <p:sp>
        <p:nvSpPr>
          <p:cNvPr id="14" name="Text 10"/>
          <p:cNvSpPr txBox="1"/>
          <p:nvPr/>
        </p:nvSpPr>
        <p:spPr>
          <a:xfrm>
            <a:off x="8988552" y="2496312"/>
            <a:ext cx="2499055" cy="457200"/>
          </a:xfrm>
          <a:prstGeom prst="rect">
            <a:avLst/>
          </a:prstGeom>
          <a:noFill/>
          <a:ln/>
        </p:spPr>
        <p:txBody>
          <a:bodyPr wrap="square" lIns="0" tIns="0" rIns="0" bIns="0" rtlCol="0" anchor="t"/>
          <a:lstStyle/>
          <a:p>
            <a:pPr indent="0" marL="0">
              <a:buNone/>
            </a:pPr>
            <a:r>
              <a:rPr lang="en-US" sz="1200" dirty="0">
                <a:solidFill>
                  <a:srgbClr val="506474"/>
                </a:solidFill>
                <a:latin typeface="Arial" pitchFamily="34" charset="0"/>
                <a:ea typeface="Arial" pitchFamily="34" charset="-122"/>
                <a:cs typeface="Arial" pitchFamily="34" charset="-120"/>
              </a:rPr>
              <a:t>from the GridToEv model, issued before each half-hour</a:t>
            </a:r>
            <a:endParaRPr lang="en-US" sz="1200" dirty="0"/>
          </a:p>
        </p:txBody>
      </p:sp>
      <p:sp>
        <p:nvSpPr>
          <p:cNvPr id="15" name="Shape 11"/>
          <p:cNvSpPr/>
          <p:nvPr/>
        </p:nvSpPr>
        <p:spPr>
          <a:xfrm>
            <a:off x="8092440" y="3172968"/>
            <a:ext cx="3550615" cy="1024128"/>
          </a:xfrm>
          <a:prstGeom prst="roundRect">
            <a:avLst>
              <a:gd name="adj" fmla="val 14286"/>
            </a:avLst>
          </a:prstGeom>
          <a:solidFill>
            <a:srgbClr val="FFFFFF"/>
          </a:solidFill>
          <a:ln w="9525">
            <a:solidFill>
              <a:srgbClr val="DBE9E9"/>
            </a:solidFill>
            <a:prstDash val="solid"/>
          </a:ln>
          <a:effectLst>
            <a:outerShdw sx="100000" sy="100000" kx="0" ky="0" algn="bl" rotWithShape="0" blurRad="101600" dist="25400" dir="5400000">
              <a:srgbClr val="0B2A24">
                <a:alpha val="12000"/>
              </a:srgbClr>
            </a:outerShdw>
          </a:effectLst>
        </p:spPr>
      </p:sp>
      <p:sp>
        <p:nvSpPr>
          <p:cNvPr id="16" name="Shape 12"/>
          <p:cNvSpPr/>
          <p:nvPr/>
        </p:nvSpPr>
        <p:spPr>
          <a:xfrm>
            <a:off x="8293608" y="3410712"/>
            <a:ext cx="530352" cy="530352"/>
          </a:xfrm>
          <a:prstGeom prst="ellipse">
            <a:avLst/>
          </a:prstGeom>
          <a:solidFill>
            <a:srgbClr val="E0F7EE"/>
          </a:solidFill>
          <a:ln w="12700">
            <a:solidFill>
              <a:srgbClr val="E0F7EE"/>
            </a:solidFill>
            <a:prstDash val="solid"/>
          </a:ln>
        </p:spPr>
      </p:sp>
      <p:pic>
        <p:nvPicPr>
          <p:cNvPr id="17" name="Image 2" descr="preencoded.png">    </p:cNvPr>
          <p:cNvPicPr>
            <a:picLocks noChangeAspect="1"/>
          </p:cNvPicPr>
          <p:nvPr/>
        </p:nvPicPr>
        <p:blipFill>
          <a:blip r:embed="rId3"/>
          <a:stretch>
            <a:fillRect/>
          </a:stretch>
        </p:blipFill>
        <p:spPr>
          <a:xfrm>
            <a:off x="8420892" y="3537996"/>
            <a:ext cx="275783" cy="275783"/>
          </a:xfrm>
          <a:prstGeom prst="rect">
            <a:avLst/>
          </a:prstGeom>
        </p:spPr>
      </p:pic>
      <p:sp>
        <p:nvSpPr>
          <p:cNvPr id="18" name="Text 13"/>
          <p:cNvSpPr txBox="1"/>
          <p:nvPr/>
        </p:nvSpPr>
        <p:spPr>
          <a:xfrm>
            <a:off x="8988552" y="3328416"/>
            <a:ext cx="2499055" cy="329184"/>
          </a:xfrm>
          <a:prstGeom prst="rect">
            <a:avLst/>
          </a:prstGeom>
          <a:noFill/>
          <a:ln/>
        </p:spPr>
        <p:txBody>
          <a:bodyPr wrap="square" lIns="0" tIns="0" rIns="0" bIns="0" rtlCol="0" anchor="t"/>
          <a:lstStyle/>
          <a:p>
            <a:pPr indent="0" marL="0">
              <a:buNone/>
            </a:pPr>
            <a:r>
              <a:rPr lang="en-US" sz="1500" b="1" dirty="0">
                <a:solidFill>
                  <a:srgbClr val="142130"/>
                </a:solidFill>
                <a:latin typeface="Arial" pitchFamily="34" charset="0"/>
                <a:ea typeface="Arial" pitchFamily="34" charset="-122"/>
                <a:cs typeface="Arial" pitchFamily="34" charset="-120"/>
              </a:rPr>
              <a:t>Observed curtailment</a:t>
            </a:r>
            <a:endParaRPr lang="en-US" sz="1500" dirty="0"/>
          </a:p>
        </p:txBody>
      </p:sp>
      <p:sp>
        <p:nvSpPr>
          <p:cNvPr id="19" name="Text 14"/>
          <p:cNvSpPr txBox="1"/>
          <p:nvPr/>
        </p:nvSpPr>
        <p:spPr>
          <a:xfrm>
            <a:off x="8988552" y="3657600"/>
            <a:ext cx="2499055" cy="457200"/>
          </a:xfrm>
          <a:prstGeom prst="rect">
            <a:avLst/>
          </a:prstGeom>
          <a:noFill/>
          <a:ln/>
        </p:spPr>
        <p:txBody>
          <a:bodyPr wrap="square" lIns="0" tIns="0" rIns="0" bIns="0" rtlCol="0" anchor="t"/>
          <a:lstStyle/>
          <a:p>
            <a:pPr indent="0" marL="0">
              <a:buNone/>
            </a:pPr>
            <a:r>
              <a:rPr lang="en-US" sz="1200" dirty="0">
                <a:solidFill>
                  <a:srgbClr val="506474"/>
                </a:solidFill>
                <a:latin typeface="Arial" pitchFamily="34" charset="0"/>
                <a:ea typeface="Arial" pitchFamily="34" charset="-122"/>
                <a:cs typeface="Arial" pitchFamily="34" charset="-120"/>
              </a:rPr>
              <a:t>EirGrid’s record beside each forecast: hits and misses show</a:t>
            </a:r>
            <a:endParaRPr lang="en-US" sz="1200" dirty="0"/>
          </a:p>
        </p:txBody>
      </p:sp>
      <p:sp>
        <p:nvSpPr>
          <p:cNvPr id="20" name="Shape 15"/>
          <p:cNvSpPr/>
          <p:nvPr/>
        </p:nvSpPr>
        <p:spPr>
          <a:xfrm>
            <a:off x="8092440" y="4334256"/>
            <a:ext cx="3550615" cy="1024128"/>
          </a:xfrm>
          <a:prstGeom prst="roundRect">
            <a:avLst>
              <a:gd name="adj" fmla="val 14286"/>
            </a:avLst>
          </a:prstGeom>
          <a:solidFill>
            <a:srgbClr val="FFFFFF"/>
          </a:solidFill>
          <a:ln w="9525">
            <a:solidFill>
              <a:srgbClr val="DBE9E9"/>
            </a:solidFill>
            <a:prstDash val="solid"/>
          </a:ln>
          <a:effectLst>
            <a:outerShdw sx="100000" sy="100000" kx="0" ky="0" algn="bl" rotWithShape="0" blurRad="101600" dist="25400" dir="5400000">
              <a:srgbClr val="0B2A24">
                <a:alpha val="12000"/>
              </a:srgbClr>
            </a:outerShdw>
          </a:effectLst>
        </p:spPr>
      </p:sp>
      <p:sp>
        <p:nvSpPr>
          <p:cNvPr id="21" name="Shape 16"/>
          <p:cNvSpPr/>
          <p:nvPr/>
        </p:nvSpPr>
        <p:spPr>
          <a:xfrm>
            <a:off x="8293608" y="4572000"/>
            <a:ext cx="530352" cy="530352"/>
          </a:xfrm>
          <a:prstGeom prst="ellipse">
            <a:avLst/>
          </a:prstGeom>
          <a:solidFill>
            <a:srgbClr val="E0F7EE"/>
          </a:solidFill>
          <a:ln w="12700">
            <a:solidFill>
              <a:srgbClr val="E0F7EE"/>
            </a:solidFill>
            <a:prstDash val="solid"/>
          </a:ln>
        </p:spPr>
      </p:sp>
      <p:pic>
        <p:nvPicPr>
          <p:cNvPr id="22" name="Image 3" descr="preencoded.png">    </p:cNvPr>
          <p:cNvPicPr>
            <a:picLocks noChangeAspect="1"/>
          </p:cNvPicPr>
          <p:nvPr/>
        </p:nvPicPr>
        <p:blipFill>
          <a:blip r:embed="rId4"/>
          <a:stretch>
            <a:fillRect/>
          </a:stretch>
        </p:blipFill>
        <p:spPr>
          <a:xfrm>
            <a:off x="8420892" y="4699284"/>
            <a:ext cx="275783" cy="275783"/>
          </a:xfrm>
          <a:prstGeom prst="rect">
            <a:avLst/>
          </a:prstGeom>
        </p:spPr>
      </p:pic>
      <p:sp>
        <p:nvSpPr>
          <p:cNvPr id="23" name="Text 17"/>
          <p:cNvSpPr txBox="1"/>
          <p:nvPr/>
        </p:nvSpPr>
        <p:spPr>
          <a:xfrm>
            <a:off x="8988552" y="4489704"/>
            <a:ext cx="2499055" cy="329184"/>
          </a:xfrm>
          <a:prstGeom prst="rect">
            <a:avLst/>
          </a:prstGeom>
          <a:noFill/>
          <a:ln/>
        </p:spPr>
        <p:txBody>
          <a:bodyPr wrap="square" lIns="0" tIns="0" rIns="0" bIns="0" rtlCol="0" anchor="t"/>
          <a:lstStyle/>
          <a:p>
            <a:pPr indent="0" marL="0">
              <a:buNone/>
            </a:pPr>
            <a:r>
              <a:rPr lang="en-US" sz="1500" b="1" dirty="0">
                <a:solidFill>
                  <a:srgbClr val="142130"/>
                </a:solidFill>
                <a:latin typeface="Arial" pitchFamily="34" charset="0"/>
                <a:ea typeface="Arial" pitchFamily="34" charset="-122"/>
                <a:cs typeface="Arial" pitchFamily="34" charset="-120"/>
              </a:rPr>
              <a:t>No look-ahead</a:t>
            </a:r>
            <a:endParaRPr lang="en-US" sz="1500" dirty="0"/>
          </a:p>
        </p:txBody>
      </p:sp>
      <p:sp>
        <p:nvSpPr>
          <p:cNvPr id="24" name="Text 18"/>
          <p:cNvSpPr txBox="1"/>
          <p:nvPr/>
        </p:nvSpPr>
        <p:spPr>
          <a:xfrm>
            <a:off x="8988552" y="4818888"/>
            <a:ext cx="2499055" cy="457200"/>
          </a:xfrm>
          <a:prstGeom prst="rect">
            <a:avLst/>
          </a:prstGeom>
          <a:noFill/>
          <a:ln/>
        </p:spPr>
        <p:txBody>
          <a:bodyPr wrap="square" lIns="0" tIns="0" rIns="0" bIns="0" rtlCol="0" anchor="t"/>
          <a:lstStyle/>
          <a:p>
            <a:pPr indent="0" marL="0">
              <a:buNone/>
            </a:pPr>
            <a:r>
              <a:rPr lang="en-US" sz="1200" dirty="0">
                <a:solidFill>
                  <a:srgbClr val="506474"/>
                </a:solidFill>
                <a:latin typeface="Arial" pitchFamily="34" charset="0"/>
                <a:ea typeface="Arial" pitchFamily="34" charset="-122"/>
                <a:cs typeface="Arial" pitchFamily="34" charset="-120"/>
              </a:rPr>
              <a:t>each half-hour planned only from forecasts issued before it</a:t>
            </a:r>
            <a:endParaRPr lang="en-US" sz="1200" dirty="0"/>
          </a:p>
        </p:txBody>
      </p:sp>
      <p:sp>
        <p:nvSpPr>
          <p:cNvPr id="25" name="Shape 19"/>
          <p:cNvSpPr/>
          <p:nvPr/>
        </p:nvSpPr>
        <p:spPr>
          <a:xfrm>
            <a:off x="8092440" y="5513832"/>
            <a:ext cx="3550615" cy="384048"/>
          </a:xfrm>
          <a:prstGeom prst="roundRect">
            <a:avLst>
              <a:gd name="adj" fmla="val 50000"/>
            </a:avLst>
          </a:prstGeom>
          <a:solidFill>
            <a:srgbClr val="FFF2DB"/>
          </a:solidFill>
          <a:ln w="12700">
            <a:solidFill>
              <a:srgbClr val="FFF2DB"/>
            </a:solidFill>
            <a:prstDash val="solid"/>
          </a:ln>
        </p:spPr>
      </p:sp>
      <p:sp>
        <p:nvSpPr>
          <p:cNvPr id="26" name="Text 20"/>
          <p:cNvSpPr txBox="1"/>
          <p:nvPr/>
        </p:nvSpPr>
        <p:spPr>
          <a:xfrm>
            <a:off x="8092440" y="5513832"/>
            <a:ext cx="3550615" cy="384048"/>
          </a:xfrm>
          <a:prstGeom prst="rect">
            <a:avLst/>
          </a:prstGeom>
          <a:noFill/>
          <a:ln/>
        </p:spPr>
        <p:txBody>
          <a:bodyPr wrap="square" lIns="0" tIns="0" rIns="0" bIns="0" rtlCol="0" anchor="ctr"/>
          <a:lstStyle/>
          <a:p>
            <a:pPr algn="ctr" indent="0" marL="0">
              <a:buNone/>
            </a:pPr>
            <a:r>
              <a:rPr lang="en-US" sz="1200" b="1" dirty="0">
                <a:solidFill>
                  <a:srgbClr val="8A5A00"/>
                </a:solidFill>
                <a:latin typeface="Arial" pitchFamily="34" charset="0"/>
                <a:ea typeface="Arial" pitchFamily="34" charset="-122"/>
                <a:cs typeface="Arial" pitchFamily="34" charset="-120"/>
              </a:rPr>
              <a:t>Historical replay · not live grid control</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F8F8"/>
        </a:solidFill>
      </p:bgPr>
    </p:bg>
    <p:spTree>
      <p:nvGrpSpPr>
        <p:cNvPr id="1" name=""/>
        <p:cNvGrpSpPr/>
        <p:nvPr/>
      </p:nvGrpSpPr>
      <p:grpSpPr>
        <a:xfrm>
          <a:off x="0" y="0"/>
          <a:ext cx="0" cy="0"/>
          <a:chOff x="0" y="0"/>
          <a:chExt cx="0" cy="0"/>
        </a:xfrm>
      </p:grpSpPr>
      <p:sp>
        <p:nvSpPr>
          <p:cNvPr id="2" name="Shape 0"/>
          <p:cNvSpPr/>
          <p:nvPr/>
        </p:nvSpPr>
        <p:spPr>
          <a:xfrm>
            <a:off x="548640" y="384048"/>
            <a:ext cx="2569464" cy="310896"/>
          </a:xfrm>
          <a:prstGeom prst="roundRect">
            <a:avLst>
              <a:gd name="adj" fmla="val 50000"/>
            </a:avLst>
          </a:prstGeom>
          <a:solidFill>
            <a:srgbClr val="E0F7EE"/>
          </a:solidFill>
          <a:ln w="12700">
            <a:solidFill>
              <a:srgbClr val="E0F7EE"/>
            </a:solidFill>
            <a:prstDash val="solid"/>
          </a:ln>
        </p:spPr>
      </p:sp>
      <p:sp>
        <p:nvSpPr>
          <p:cNvPr id="3" name="Text 1"/>
          <p:cNvSpPr txBox="1"/>
          <p:nvPr/>
        </p:nvSpPr>
        <p:spPr>
          <a:xfrm>
            <a:off x="548640" y="384048"/>
            <a:ext cx="2569464" cy="310896"/>
          </a:xfrm>
          <a:prstGeom prst="rect">
            <a:avLst/>
          </a:prstGeom>
          <a:noFill/>
          <a:ln/>
        </p:spPr>
        <p:txBody>
          <a:bodyPr wrap="square" lIns="0" tIns="0" rIns="0" bIns="0" rtlCol="0" anchor="ctr"/>
          <a:lstStyle/>
          <a:p>
            <a:pPr algn="ctr" indent="0" marL="0">
              <a:buNone/>
            </a:pPr>
            <a:r>
              <a:rPr lang="en-US" sz="1100" b="1" spc="150" kern="0" dirty="0">
                <a:solidFill>
                  <a:srgbClr val="0B4339"/>
                </a:solidFill>
                <a:latin typeface="Arial" pitchFamily="34" charset="0"/>
                <a:ea typeface="Arial" pitchFamily="34" charset="-122"/>
                <a:cs typeface="Arial" pitchFamily="34" charset="-120"/>
              </a:rPr>
              <a:t>TECHNICAL · IT WORKS</a:t>
            </a:r>
            <a:endParaRPr lang="en-US" sz="1100" dirty="0"/>
          </a:p>
        </p:txBody>
      </p:sp>
      <p:sp>
        <p:nvSpPr>
          <p:cNvPr id="4" name="Text 2"/>
          <p:cNvSpPr txBox="1"/>
          <p:nvPr/>
        </p:nvSpPr>
        <p:spPr>
          <a:xfrm>
            <a:off x="548640" y="841248"/>
            <a:ext cx="11094415" cy="914400"/>
          </a:xfrm>
          <a:prstGeom prst="rect">
            <a:avLst/>
          </a:prstGeom>
          <a:noFill/>
          <a:ln/>
        </p:spPr>
        <p:txBody>
          <a:bodyPr wrap="square" lIns="0" tIns="0" rIns="0" bIns="0" rtlCol="0" anchor="t"/>
          <a:lstStyle/>
          <a:p>
            <a:pPr indent="0" marL="0">
              <a:buNone/>
            </a:pPr>
            <a:r>
              <a:rPr lang="en-US" sz="3400" b="1" dirty="0">
                <a:solidFill>
                  <a:srgbClr val="142130"/>
                </a:solidFill>
                <a:latin typeface="Arial" pitchFamily="34" charset="0"/>
                <a:ea typeface="Arial" pitchFamily="34" charset="-122"/>
                <a:cs typeface="Arial" pitchFamily="34" charset="-120"/>
              </a:rPr>
              <a:t>Only what the site can deliver becomes a plan.</a:t>
            </a:r>
            <a:endParaRPr lang="en-US" sz="3400" dirty="0"/>
          </a:p>
        </p:txBody>
      </p:sp>
      <p:sp>
        <p:nvSpPr>
          <p:cNvPr id="5" name="Shape 3"/>
          <p:cNvSpPr/>
          <p:nvPr/>
        </p:nvSpPr>
        <p:spPr>
          <a:xfrm>
            <a:off x="548640" y="2011680"/>
            <a:ext cx="6766560" cy="3806190"/>
          </a:xfrm>
          <a:prstGeom prst="roundRect">
            <a:avLst>
              <a:gd name="adj" fmla="val 3363"/>
            </a:avLst>
          </a:prstGeom>
          <a:solidFill>
            <a:srgbClr val="15212D"/>
          </a:solidFill>
          <a:ln w="12700">
            <a:solidFill>
              <a:srgbClr val="15212D"/>
            </a:solidFill>
            <a:prstDash val="solid"/>
          </a:ln>
          <a:effectLst>
            <a:outerShdw sx="100000" sy="100000" kx="0" ky="0" algn="bl" rotWithShape="0" blurRad="101600" dist="25400" dir="5400000">
              <a:srgbClr val="0B2A24">
                <a:alpha val="12000"/>
              </a:srgbClr>
            </a:outerShdw>
          </a:effectLst>
        </p:spPr>
      </p:sp>
      <p:sp>
        <p:nvSpPr>
          <p:cNvPr id="6" name="Shape 4"/>
          <p:cNvSpPr/>
          <p:nvPr/>
        </p:nvSpPr>
        <p:spPr>
          <a:xfrm>
            <a:off x="640080" y="2103120"/>
            <a:ext cx="6583680" cy="3623310"/>
          </a:xfrm>
          <a:prstGeom prst="roundRect">
            <a:avLst>
              <a:gd name="adj" fmla="val 2524"/>
            </a:avLst>
          </a:prstGeom>
          <a:solidFill>
            <a:srgbClr val="1F2F3D"/>
          </a:solidFill>
          <a:ln w="12700">
            <a:solidFill>
              <a:srgbClr val="1F2F3D"/>
            </a:solidFill>
            <a:prstDash val="solid"/>
          </a:ln>
        </p:spPr>
      </p:sp>
      <p:pic>
        <p:nvPicPr>
          <p:cNvPr id="7" name="Image 0" descr="preencoded.png">    </p:cNvPr>
          <p:cNvPicPr>
            <a:picLocks noChangeAspect="1"/>
          </p:cNvPicPr>
          <p:nvPr/>
        </p:nvPicPr>
        <p:blipFill>
          <a:blip r:embed="rId1">
            <a:alphaModFix amt="80000"/>
          </a:blip>
          <a:stretch>
            <a:fillRect/>
          </a:stretch>
        </p:blipFill>
        <p:spPr>
          <a:xfrm>
            <a:off x="3520440" y="3411855"/>
            <a:ext cx="822960" cy="822960"/>
          </a:xfrm>
          <a:prstGeom prst="rect">
            <a:avLst/>
          </a:prstGeom>
        </p:spPr>
      </p:pic>
      <p:sp>
        <p:nvSpPr>
          <p:cNvPr id="8" name="Text 5"/>
          <p:cNvSpPr txBox="1"/>
          <p:nvPr/>
        </p:nvSpPr>
        <p:spPr>
          <a:xfrm>
            <a:off x="822960" y="2240280"/>
            <a:ext cx="6217920" cy="274320"/>
          </a:xfrm>
          <a:prstGeom prst="rect">
            <a:avLst/>
          </a:prstGeom>
          <a:noFill/>
          <a:ln/>
        </p:spPr>
        <p:txBody>
          <a:bodyPr wrap="square" lIns="0" tIns="0" rIns="0" bIns="0" rtlCol="0" anchor="t"/>
          <a:lstStyle/>
          <a:p>
            <a:pPr indent="0" marL="0">
              <a:buNone/>
            </a:pPr>
            <a:r>
              <a:rPr lang="en-US" sz="1200" b="1" spc="100" kern="0" dirty="0">
                <a:solidFill>
                  <a:srgbClr val="FFFFFF"/>
                </a:solidFill>
                <a:latin typeface="Arial" pitchFamily="34" charset="0"/>
                <a:ea typeface="Arial" pitchFamily="34" charset="-122"/>
                <a:cs typeface="Arial" pitchFamily="34" charset="-120"/>
              </a:rPr>
              <a:t>CLIP 3 · BATTERY → EV PAGES · 2:10–3:10</a:t>
            </a:r>
            <a:endParaRPr lang="en-US" sz="1200" dirty="0"/>
          </a:p>
        </p:txBody>
      </p:sp>
      <p:sp>
        <p:nvSpPr>
          <p:cNvPr id="9" name="Text 6"/>
          <p:cNvSpPr txBox="1"/>
          <p:nvPr/>
        </p:nvSpPr>
        <p:spPr>
          <a:xfrm>
            <a:off x="822960" y="5250942"/>
            <a:ext cx="6217920" cy="365760"/>
          </a:xfrm>
          <a:prstGeom prst="rect">
            <a:avLst/>
          </a:prstGeom>
          <a:noFill/>
          <a:ln/>
        </p:spPr>
        <p:txBody>
          <a:bodyPr wrap="square" lIns="0" tIns="0" rIns="0" bIns="0" rtlCol="0" anchor="t"/>
          <a:lstStyle/>
          <a:p>
            <a:pPr indent="0" marL="0">
              <a:buNone/>
            </a:pPr>
            <a:r>
              <a:rPr lang="en-US" sz="1000" dirty="0">
                <a:solidFill>
                  <a:srgbClr val="A9B8C4"/>
                </a:solidFill>
                <a:latin typeface="Arial" pitchFamily="34" charset="0"/>
                <a:ea typeface="Arial" pitchFamily="34" charset="-122"/>
                <a:cs typeface="Arial" pitchFamily="34" charset="-120"/>
              </a:rPr>
              <a:t>Insert the recording here (Insert › Video › This Device), size it to this frame, then delete the frame.</a:t>
            </a:r>
            <a:endParaRPr lang="en-US" sz="1000" dirty="0"/>
          </a:p>
        </p:txBody>
      </p:sp>
      <p:sp>
        <p:nvSpPr>
          <p:cNvPr id="10" name="Shape 7"/>
          <p:cNvSpPr/>
          <p:nvPr/>
        </p:nvSpPr>
        <p:spPr>
          <a:xfrm>
            <a:off x="7635240" y="2011680"/>
            <a:ext cx="4007815" cy="859536"/>
          </a:xfrm>
          <a:prstGeom prst="roundRect">
            <a:avLst>
              <a:gd name="adj" fmla="val 17021"/>
            </a:avLst>
          </a:prstGeom>
          <a:solidFill>
            <a:srgbClr val="FFFFFF"/>
          </a:solidFill>
          <a:ln w="9525">
            <a:solidFill>
              <a:srgbClr val="DBE9E9"/>
            </a:solidFill>
            <a:prstDash val="solid"/>
          </a:ln>
          <a:effectLst>
            <a:outerShdw sx="100000" sy="100000" kx="0" ky="0" algn="bl" rotWithShape="0" blurRad="101600" dist="25400" dir="5400000">
              <a:srgbClr val="0B2A24">
                <a:alpha val="12000"/>
              </a:srgbClr>
            </a:outerShdw>
          </a:effectLst>
        </p:spPr>
      </p:sp>
      <p:sp>
        <p:nvSpPr>
          <p:cNvPr id="11" name="Text 8"/>
          <p:cNvSpPr txBox="1"/>
          <p:nvPr/>
        </p:nvSpPr>
        <p:spPr>
          <a:xfrm>
            <a:off x="7909560" y="2121408"/>
            <a:ext cx="3550615" cy="420624"/>
          </a:xfrm>
          <a:prstGeom prst="rect">
            <a:avLst/>
          </a:prstGeom>
          <a:noFill/>
          <a:ln/>
        </p:spPr>
        <p:txBody>
          <a:bodyPr wrap="square" lIns="0" tIns="0" rIns="0" bIns="0" rtlCol="0" anchor="t"/>
          <a:lstStyle/>
          <a:p>
            <a:pPr indent="0" marL="0">
              <a:buNone/>
            </a:pPr>
            <a:r>
              <a:rPr lang="en-US" sz="2400" b="1" dirty="0">
                <a:solidFill>
                  <a:srgbClr val="0B4339"/>
                </a:solidFill>
                <a:latin typeface="Arial" pitchFamily="34" charset="0"/>
                <a:ea typeface="Arial" pitchFamily="34" charset="-122"/>
                <a:cs typeface="Arial" pitchFamily="34" charset="-120"/>
              </a:rPr>
              <a:t>20 × 11 kW</a:t>
            </a:r>
            <a:endParaRPr lang="en-US" sz="2400" dirty="0"/>
          </a:p>
        </p:txBody>
      </p:sp>
      <p:sp>
        <p:nvSpPr>
          <p:cNvPr id="12" name="Text 9"/>
          <p:cNvSpPr txBox="1"/>
          <p:nvPr/>
        </p:nvSpPr>
        <p:spPr>
          <a:xfrm>
            <a:off x="7909560" y="2523744"/>
            <a:ext cx="3550615" cy="274320"/>
          </a:xfrm>
          <a:prstGeom prst="rect">
            <a:avLst/>
          </a:prstGeom>
          <a:noFill/>
          <a:ln/>
        </p:spPr>
        <p:txBody>
          <a:bodyPr wrap="square" lIns="0" tIns="0" rIns="0" bIns="0" rtlCol="0" anchor="t"/>
          <a:lstStyle/>
          <a:p>
            <a:pPr indent="0" marL="0">
              <a:buNone/>
            </a:pPr>
            <a:r>
              <a:rPr lang="en-US" sz="1200" dirty="0">
                <a:solidFill>
                  <a:srgbClr val="506474"/>
                </a:solidFill>
                <a:latin typeface="Arial" pitchFamily="34" charset="0"/>
                <a:ea typeface="Arial" pitchFamily="34" charset="-122"/>
                <a:cs typeface="Arial" pitchFamily="34" charset="-120"/>
              </a:rPr>
              <a:t>chargers at the example site</a:t>
            </a:r>
            <a:endParaRPr lang="en-US" sz="1200" dirty="0"/>
          </a:p>
        </p:txBody>
      </p:sp>
      <p:sp>
        <p:nvSpPr>
          <p:cNvPr id="13" name="Shape 10"/>
          <p:cNvSpPr/>
          <p:nvPr/>
        </p:nvSpPr>
        <p:spPr>
          <a:xfrm>
            <a:off x="7635240" y="2980944"/>
            <a:ext cx="4007815" cy="859536"/>
          </a:xfrm>
          <a:prstGeom prst="roundRect">
            <a:avLst>
              <a:gd name="adj" fmla="val 17021"/>
            </a:avLst>
          </a:prstGeom>
          <a:solidFill>
            <a:srgbClr val="FFFFFF"/>
          </a:solidFill>
          <a:ln w="9525">
            <a:solidFill>
              <a:srgbClr val="DBE9E9"/>
            </a:solidFill>
            <a:prstDash val="solid"/>
          </a:ln>
          <a:effectLst>
            <a:outerShdw sx="100000" sy="100000" kx="0" ky="0" algn="bl" rotWithShape="0" blurRad="101600" dist="25400" dir="5400000">
              <a:srgbClr val="0B2A24">
                <a:alpha val="12000"/>
              </a:srgbClr>
            </a:outerShdw>
          </a:effectLst>
        </p:spPr>
      </p:sp>
      <p:sp>
        <p:nvSpPr>
          <p:cNvPr id="14" name="Text 11"/>
          <p:cNvSpPr txBox="1"/>
          <p:nvPr/>
        </p:nvSpPr>
        <p:spPr>
          <a:xfrm>
            <a:off x="7909560" y="3090672"/>
            <a:ext cx="3550615" cy="420624"/>
          </a:xfrm>
          <a:prstGeom prst="rect">
            <a:avLst/>
          </a:prstGeom>
          <a:noFill/>
          <a:ln/>
        </p:spPr>
        <p:txBody>
          <a:bodyPr wrap="square" lIns="0" tIns="0" rIns="0" bIns="0" rtlCol="0" anchor="t"/>
          <a:lstStyle/>
          <a:p>
            <a:pPr indent="0" marL="0">
              <a:buNone/>
            </a:pPr>
            <a:r>
              <a:rPr lang="en-US" sz="2400" b="1" dirty="0">
                <a:solidFill>
                  <a:srgbClr val="0B4339"/>
                </a:solidFill>
                <a:latin typeface="Arial" pitchFamily="34" charset="0"/>
                <a:ea typeface="Arial" pitchFamily="34" charset="-122"/>
                <a:cs typeface="Arial" pitchFamily="34" charset="-120"/>
              </a:rPr>
              <a:t>180 kW</a:t>
            </a:r>
            <a:endParaRPr lang="en-US" sz="2400" dirty="0"/>
          </a:p>
        </p:txBody>
      </p:sp>
      <p:sp>
        <p:nvSpPr>
          <p:cNvPr id="15" name="Text 12"/>
          <p:cNvSpPr txBox="1"/>
          <p:nvPr/>
        </p:nvSpPr>
        <p:spPr>
          <a:xfrm>
            <a:off x="7909560" y="3493008"/>
            <a:ext cx="3550615" cy="274320"/>
          </a:xfrm>
          <a:prstGeom prst="rect">
            <a:avLst/>
          </a:prstGeom>
          <a:noFill/>
          <a:ln/>
        </p:spPr>
        <p:txBody>
          <a:bodyPr wrap="square" lIns="0" tIns="0" rIns="0" bIns="0" rtlCol="0" anchor="t"/>
          <a:lstStyle/>
          <a:p>
            <a:pPr indent="0" marL="0">
              <a:buNone/>
            </a:pPr>
            <a:r>
              <a:rPr lang="en-US" sz="1200" dirty="0">
                <a:solidFill>
                  <a:srgbClr val="506474"/>
                </a:solidFill>
                <a:latin typeface="Arial" pitchFamily="34" charset="0"/>
                <a:ea typeface="Arial" pitchFamily="34" charset="-122"/>
                <a:cs typeface="Arial" pitchFamily="34" charset="-120"/>
              </a:rPr>
              <a:t>grid connection shared by all of them</a:t>
            </a:r>
            <a:endParaRPr lang="en-US" sz="1200" dirty="0"/>
          </a:p>
        </p:txBody>
      </p:sp>
      <p:sp>
        <p:nvSpPr>
          <p:cNvPr id="16" name="Shape 13"/>
          <p:cNvSpPr/>
          <p:nvPr/>
        </p:nvSpPr>
        <p:spPr>
          <a:xfrm>
            <a:off x="7635240" y="3950208"/>
            <a:ext cx="4007815" cy="859536"/>
          </a:xfrm>
          <a:prstGeom prst="roundRect">
            <a:avLst>
              <a:gd name="adj" fmla="val 17021"/>
            </a:avLst>
          </a:prstGeom>
          <a:solidFill>
            <a:srgbClr val="FFFFFF"/>
          </a:solidFill>
          <a:ln w="9525">
            <a:solidFill>
              <a:srgbClr val="DBE9E9"/>
            </a:solidFill>
            <a:prstDash val="solid"/>
          </a:ln>
          <a:effectLst>
            <a:outerShdw sx="100000" sy="100000" kx="0" ky="0" algn="bl" rotWithShape="0" blurRad="101600" dist="25400" dir="5400000">
              <a:srgbClr val="0B2A24">
                <a:alpha val="12000"/>
              </a:srgbClr>
            </a:outerShdw>
          </a:effectLst>
        </p:spPr>
      </p:sp>
      <p:sp>
        <p:nvSpPr>
          <p:cNvPr id="17" name="Text 14"/>
          <p:cNvSpPr txBox="1"/>
          <p:nvPr/>
        </p:nvSpPr>
        <p:spPr>
          <a:xfrm>
            <a:off x="7909560" y="4059936"/>
            <a:ext cx="3550615" cy="420624"/>
          </a:xfrm>
          <a:prstGeom prst="rect">
            <a:avLst/>
          </a:prstGeom>
          <a:noFill/>
          <a:ln/>
        </p:spPr>
        <p:txBody>
          <a:bodyPr wrap="square" lIns="0" tIns="0" rIns="0" bIns="0" rtlCol="0" anchor="t"/>
          <a:lstStyle/>
          <a:p>
            <a:pPr indent="0" marL="0">
              <a:buNone/>
            </a:pPr>
            <a:r>
              <a:rPr lang="en-US" sz="2400" b="1" dirty="0">
                <a:solidFill>
                  <a:srgbClr val="0B4339"/>
                </a:solidFill>
                <a:latin typeface="Arial" pitchFamily="34" charset="0"/>
                <a:ea typeface="Arial" pitchFamily="34" charset="-122"/>
                <a:cs typeface="Arial" pitchFamily="34" charset="-120"/>
              </a:rPr>
              <a:t>16 cars</a:t>
            </a:r>
            <a:endParaRPr lang="en-US" sz="2400" dirty="0"/>
          </a:p>
        </p:txBody>
      </p:sp>
      <p:sp>
        <p:nvSpPr>
          <p:cNvPr id="18" name="Text 15"/>
          <p:cNvSpPr txBox="1"/>
          <p:nvPr/>
        </p:nvSpPr>
        <p:spPr>
          <a:xfrm>
            <a:off x="7909560" y="4462272"/>
            <a:ext cx="3550615" cy="274320"/>
          </a:xfrm>
          <a:prstGeom prst="rect">
            <a:avLst/>
          </a:prstGeom>
          <a:noFill/>
          <a:ln/>
        </p:spPr>
        <p:txBody>
          <a:bodyPr wrap="square" lIns="0" tIns="0" rIns="0" bIns="0" rtlCol="0" anchor="t"/>
          <a:lstStyle/>
          <a:p>
            <a:pPr indent="0" marL="0">
              <a:buNone/>
            </a:pPr>
            <a:r>
              <a:rPr lang="en-US" sz="1200" dirty="0">
                <a:solidFill>
                  <a:srgbClr val="506474"/>
                </a:solidFill>
                <a:latin typeface="Arial" pitchFamily="34" charset="0"/>
                <a:ea typeface="Arial" pitchFamily="34" charset="-122"/>
                <a:cs typeface="Arial" pitchFamily="34" charset="-120"/>
              </a:rPr>
              <a:t>per 2-hour window: 22 kWh max per charger</a:t>
            </a:r>
            <a:endParaRPr lang="en-US" sz="1200" dirty="0"/>
          </a:p>
        </p:txBody>
      </p:sp>
      <p:sp>
        <p:nvSpPr>
          <p:cNvPr id="19" name="Shape 16"/>
          <p:cNvSpPr/>
          <p:nvPr/>
        </p:nvSpPr>
        <p:spPr>
          <a:xfrm>
            <a:off x="7635240" y="4919472"/>
            <a:ext cx="4007815" cy="859536"/>
          </a:xfrm>
          <a:prstGeom prst="roundRect">
            <a:avLst>
              <a:gd name="adj" fmla="val 17021"/>
            </a:avLst>
          </a:prstGeom>
          <a:solidFill>
            <a:srgbClr val="FFF2DB"/>
          </a:solidFill>
          <a:ln w="9525">
            <a:solidFill>
              <a:srgbClr val="FFF2DB"/>
            </a:solidFill>
            <a:prstDash val="solid"/>
          </a:ln>
          <a:effectLst>
            <a:outerShdw sx="100000" sy="100000" kx="0" ky="0" algn="bl" rotWithShape="0" blurRad="101600" dist="25400" dir="5400000">
              <a:srgbClr val="0B2A24">
                <a:alpha val="12000"/>
              </a:srgbClr>
            </a:outerShdw>
          </a:effectLst>
        </p:spPr>
      </p:sp>
      <p:sp>
        <p:nvSpPr>
          <p:cNvPr id="20" name="Text 17"/>
          <p:cNvSpPr txBox="1"/>
          <p:nvPr/>
        </p:nvSpPr>
        <p:spPr>
          <a:xfrm>
            <a:off x="7909560" y="5029200"/>
            <a:ext cx="3550615" cy="420624"/>
          </a:xfrm>
          <a:prstGeom prst="rect">
            <a:avLst/>
          </a:prstGeom>
          <a:noFill/>
          <a:ln/>
        </p:spPr>
        <p:txBody>
          <a:bodyPr wrap="square" lIns="0" tIns="0" rIns="0" bIns="0" rtlCol="0" anchor="t"/>
          <a:lstStyle/>
          <a:p>
            <a:pPr indent="0" marL="0">
              <a:buNone/>
            </a:pPr>
            <a:r>
              <a:rPr lang="en-US" sz="2400" b="1" dirty="0">
                <a:solidFill>
                  <a:srgbClr val="8A5A00"/>
                </a:solidFill>
                <a:latin typeface="Arial" pitchFamily="34" charset="0"/>
                <a:ea typeface="Arial" pitchFamily="34" charset="-122"/>
                <a:cs typeface="Arial" pitchFamily="34" charset="-120"/>
              </a:rPr>
              <a:t>700 kWh</a:t>
            </a:r>
            <a:endParaRPr lang="en-US" sz="2400" dirty="0"/>
          </a:p>
        </p:txBody>
      </p:sp>
      <p:sp>
        <p:nvSpPr>
          <p:cNvPr id="21" name="Text 18"/>
          <p:cNvSpPr txBox="1"/>
          <p:nvPr/>
        </p:nvSpPr>
        <p:spPr>
          <a:xfrm>
            <a:off x="7909560" y="5431536"/>
            <a:ext cx="3550615" cy="274320"/>
          </a:xfrm>
          <a:prstGeom prst="rect">
            <a:avLst/>
          </a:prstGeom>
          <a:noFill/>
          <a:ln/>
        </p:spPr>
        <p:txBody>
          <a:bodyPr wrap="square" lIns="0" tIns="0" rIns="0" bIns="0" rtlCol="0" anchor="t"/>
          <a:lstStyle/>
          <a:p>
            <a:pPr indent="0" marL="0">
              <a:buNone/>
            </a:pPr>
            <a:r>
              <a:rPr lang="en-US" sz="1200" dirty="0">
                <a:solidFill>
                  <a:srgbClr val="506474"/>
                </a:solidFill>
                <a:latin typeface="Arial" pitchFamily="34" charset="0"/>
                <a:ea typeface="Arial" pitchFamily="34" charset="-122"/>
                <a:cs typeface="Arial" pitchFamily="34" charset="-120"/>
              </a:rPr>
              <a:t>battery, 85% round trip — hypothetical, not built</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F8F8"/>
        </a:solidFill>
      </p:bgPr>
    </p:bg>
    <p:spTree>
      <p:nvGrpSpPr>
        <p:cNvPr id="1" name=""/>
        <p:cNvGrpSpPr/>
        <p:nvPr/>
      </p:nvGrpSpPr>
      <p:grpSpPr>
        <a:xfrm>
          <a:off x="0" y="0"/>
          <a:ext cx="0" cy="0"/>
          <a:chOff x="0" y="0"/>
          <a:chExt cx="0" cy="0"/>
        </a:xfrm>
      </p:grpSpPr>
      <p:sp>
        <p:nvSpPr>
          <p:cNvPr id="2" name="Shape 0"/>
          <p:cNvSpPr/>
          <p:nvPr/>
        </p:nvSpPr>
        <p:spPr>
          <a:xfrm>
            <a:off x="548640" y="384048"/>
            <a:ext cx="3972154" cy="310896"/>
          </a:xfrm>
          <a:prstGeom prst="roundRect">
            <a:avLst>
              <a:gd name="adj" fmla="val 50000"/>
            </a:avLst>
          </a:prstGeom>
          <a:solidFill>
            <a:srgbClr val="E0F7EE"/>
          </a:solidFill>
          <a:ln w="12700">
            <a:solidFill>
              <a:srgbClr val="E0F7EE"/>
            </a:solidFill>
            <a:prstDash val="solid"/>
          </a:ln>
        </p:spPr>
      </p:sp>
      <p:sp>
        <p:nvSpPr>
          <p:cNvPr id="3" name="Text 1"/>
          <p:cNvSpPr txBox="1"/>
          <p:nvPr/>
        </p:nvSpPr>
        <p:spPr>
          <a:xfrm>
            <a:off x="548640" y="384048"/>
            <a:ext cx="3972154" cy="310896"/>
          </a:xfrm>
          <a:prstGeom prst="rect">
            <a:avLst/>
          </a:prstGeom>
          <a:noFill/>
          <a:ln/>
        </p:spPr>
        <p:txBody>
          <a:bodyPr wrap="square" lIns="0" tIns="0" rIns="0" bIns="0" rtlCol="0" anchor="ctr"/>
          <a:lstStyle/>
          <a:p>
            <a:pPr algn="ctr" indent="0" marL="0">
              <a:buNone/>
            </a:pPr>
            <a:r>
              <a:rPr lang="en-US" sz="1100" b="1" spc="150" kern="0" dirty="0">
                <a:solidFill>
                  <a:srgbClr val="0B4339"/>
                </a:solidFill>
                <a:latin typeface="Arial" pitchFamily="34" charset="0"/>
                <a:ea typeface="Arial" pitchFamily="34" charset="-122"/>
                <a:cs typeface="Arial" pitchFamily="34" charset="-120"/>
              </a:rPr>
              <a:t>INNOVATION · AI VS SMART CHARGING</a:t>
            </a:r>
            <a:endParaRPr lang="en-US" sz="1100" dirty="0"/>
          </a:p>
        </p:txBody>
      </p:sp>
      <p:sp>
        <p:nvSpPr>
          <p:cNvPr id="4" name="Text 2"/>
          <p:cNvSpPr txBox="1"/>
          <p:nvPr/>
        </p:nvSpPr>
        <p:spPr>
          <a:xfrm>
            <a:off x="548640" y="841248"/>
            <a:ext cx="11094415" cy="914400"/>
          </a:xfrm>
          <a:prstGeom prst="rect">
            <a:avLst/>
          </a:prstGeom>
          <a:noFill/>
          <a:ln/>
        </p:spPr>
        <p:txBody>
          <a:bodyPr wrap="square" lIns="0" tIns="0" rIns="0" bIns="0" rtlCol="0" anchor="t"/>
          <a:lstStyle/>
          <a:p>
            <a:pPr indent="0" marL="0">
              <a:buNone/>
            </a:pPr>
            <a:r>
              <a:rPr lang="en-US" sz="3400" b="1" dirty="0">
                <a:solidFill>
                  <a:srgbClr val="142130"/>
                </a:solidFill>
                <a:latin typeface="Arial" pitchFamily="34" charset="0"/>
                <a:ea typeface="Arial" pitchFamily="34" charset="-122"/>
                <a:cs typeface="Arial" pitchFamily="34" charset="-120"/>
              </a:rPr>
              <a:t>We only claim what beats competent smart charging.</a:t>
            </a:r>
            <a:endParaRPr lang="en-US" sz="3400" dirty="0"/>
          </a:p>
        </p:txBody>
      </p:sp>
      <p:sp>
        <p:nvSpPr>
          <p:cNvPr id="5" name="Shape 3"/>
          <p:cNvSpPr/>
          <p:nvPr/>
        </p:nvSpPr>
        <p:spPr>
          <a:xfrm>
            <a:off x="548640" y="1920240"/>
            <a:ext cx="6858000" cy="3931920"/>
          </a:xfrm>
          <a:prstGeom prst="roundRect">
            <a:avLst>
              <a:gd name="adj" fmla="val 3721"/>
            </a:avLst>
          </a:prstGeom>
          <a:solidFill>
            <a:srgbClr val="FFFFFF"/>
          </a:solidFill>
          <a:ln w="9525">
            <a:solidFill>
              <a:srgbClr val="DBE9E9"/>
            </a:solidFill>
            <a:prstDash val="solid"/>
          </a:ln>
          <a:effectLst>
            <a:outerShdw sx="100000" sy="100000" kx="0" ky="0" algn="bl" rotWithShape="0" blurRad="101600" dist="25400" dir="5400000">
              <a:srgbClr val="0B2A24">
                <a:alpha val="12000"/>
              </a:srgbClr>
            </a:outerShdw>
          </a:effectLst>
        </p:spPr>
      </p:sp>
      <p:sp>
        <p:nvSpPr>
          <p:cNvPr id="6" name="Text 4"/>
          <p:cNvSpPr txBox="1"/>
          <p:nvPr/>
        </p:nvSpPr>
        <p:spPr>
          <a:xfrm>
            <a:off x="822960" y="2103120"/>
            <a:ext cx="6400800" cy="320040"/>
          </a:xfrm>
          <a:prstGeom prst="rect">
            <a:avLst/>
          </a:prstGeom>
          <a:noFill/>
          <a:ln/>
        </p:spPr>
        <p:txBody>
          <a:bodyPr wrap="square" lIns="0" tIns="0" rIns="0" bIns="0" rtlCol="0" anchor="t"/>
          <a:lstStyle/>
          <a:p>
            <a:pPr indent="0" marL="0">
              <a:buNone/>
            </a:pPr>
            <a:r>
              <a:rPr lang="en-US" sz="1400" b="1" dirty="0">
                <a:solidFill>
                  <a:srgbClr val="506474"/>
                </a:solidFill>
                <a:latin typeface="Arial" pitchFamily="34" charset="0"/>
                <a:ea typeface="Arial" pitchFamily="34" charset="-122"/>
                <a:cs typeface="Arial" pitchFamily="34" charset="-120"/>
              </a:rPr>
              <a:t>Cost per kWh at the charger</a:t>
            </a:r>
            <a:endParaRPr lang="en-US" sz="1400" dirty="0"/>
          </a:p>
        </p:txBody>
      </p:sp>
      <p:graphicFrame>
        <p:nvGraphicFramePr>
          <p:cNvPr id="7" name="Chart 0" descr=""/>
          <p:cNvGraphicFramePr/>
          <p:nvPr/>
        </p:nvGraphicFramePr>
        <p:xfrm>
          <a:off x="685800" y="2468880"/>
          <a:ext cx="6583680" cy="324612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7680960" y="1920240"/>
            <a:ext cx="3962095" cy="1874520"/>
          </a:xfrm>
          <a:prstGeom prst="roundRect">
            <a:avLst>
              <a:gd name="adj" fmla="val 7805"/>
            </a:avLst>
          </a:prstGeom>
          <a:solidFill>
            <a:srgbClr val="E0F7EE"/>
          </a:solidFill>
          <a:ln w="9525">
            <a:solidFill>
              <a:srgbClr val="E0F7EE"/>
            </a:solidFill>
            <a:prstDash val="solid"/>
          </a:ln>
          <a:effectLst>
            <a:outerShdw sx="100000" sy="100000" kx="0" ky="0" algn="bl" rotWithShape="0" blurRad="101600" dist="25400" dir="5400000">
              <a:srgbClr val="0B2A24">
                <a:alpha val="12000"/>
              </a:srgbClr>
            </a:outerShdw>
          </a:effectLst>
        </p:spPr>
      </p:sp>
      <p:sp>
        <p:nvSpPr>
          <p:cNvPr id="9" name="Text 6"/>
          <p:cNvSpPr txBox="1"/>
          <p:nvPr/>
        </p:nvSpPr>
        <p:spPr>
          <a:xfrm>
            <a:off x="7955280" y="2103120"/>
            <a:ext cx="3413455" cy="320040"/>
          </a:xfrm>
          <a:prstGeom prst="rect">
            <a:avLst/>
          </a:prstGeom>
          <a:noFill/>
          <a:ln/>
        </p:spPr>
        <p:txBody>
          <a:bodyPr wrap="square" lIns="0" tIns="0" rIns="0" bIns="0" rtlCol="0" anchor="t"/>
          <a:lstStyle/>
          <a:p>
            <a:pPr indent="0" marL="0">
              <a:buNone/>
            </a:pPr>
            <a:r>
              <a:rPr lang="en-US" sz="1600" b="1" dirty="0">
                <a:solidFill>
                  <a:srgbClr val="087C59"/>
                </a:solidFill>
                <a:latin typeface="Arial" pitchFamily="34" charset="0"/>
                <a:ea typeface="Arial" pitchFamily="34" charset="-122"/>
                <a:cs typeface="Arial" pitchFamily="34" charset="-120"/>
              </a:rPr>
              <a:t>Evening → offer</a:t>
            </a:r>
            <a:endParaRPr lang="en-US" sz="1600" dirty="0"/>
          </a:p>
        </p:txBody>
      </p:sp>
      <p:sp>
        <p:nvSpPr>
          <p:cNvPr id="10" name="Text 7"/>
          <p:cNvSpPr txBox="1"/>
          <p:nvPr/>
        </p:nvSpPr>
        <p:spPr>
          <a:xfrm>
            <a:off x="7955280" y="2450592"/>
            <a:ext cx="3413455" cy="566928"/>
          </a:xfrm>
          <a:prstGeom prst="rect">
            <a:avLst/>
          </a:prstGeom>
          <a:noFill/>
          <a:ln/>
        </p:spPr>
        <p:txBody>
          <a:bodyPr wrap="square" lIns="0" tIns="0" rIns="0" bIns="0" rtlCol="0" anchor="t"/>
          <a:lstStyle/>
          <a:p>
            <a:pPr indent="0" marL="0">
              <a:buNone/>
            </a:pPr>
            <a:r>
              <a:rPr lang="en-US" sz="3200" b="1" dirty="0">
                <a:solidFill>
                  <a:srgbClr val="0B4339"/>
                </a:solidFill>
                <a:latin typeface="Arial" pitchFamily="34" charset="0"/>
                <a:ea typeface="Arial" pitchFamily="34" charset="-122"/>
                <a:cs typeface="Arial" pitchFamily="34" charset="-120"/>
              </a:rPr>
              <a:t>€0.06–0.14</a:t>
            </a:r>
            <a:endParaRPr lang="en-US" sz="3200" dirty="0"/>
          </a:p>
        </p:txBody>
      </p:sp>
      <p:sp>
        <p:nvSpPr>
          <p:cNvPr id="11" name="Text 8"/>
          <p:cNvSpPr txBox="1"/>
          <p:nvPr/>
        </p:nvSpPr>
        <p:spPr>
          <a:xfrm>
            <a:off x="7955280" y="3063240"/>
            <a:ext cx="3413455" cy="548640"/>
          </a:xfrm>
          <a:prstGeom prst="rect">
            <a:avLst/>
          </a:prstGeom>
          <a:noFill/>
          <a:ln/>
        </p:spPr>
        <p:txBody>
          <a:bodyPr wrap="square" lIns="0" tIns="0" rIns="0" bIns="0" rtlCol="0" anchor="t"/>
          <a:lstStyle/>
          <a:p>
            <a:pPr indent="0" marL="0">
              <a:buNone/>
            </a:pPr>
            <a:r>
              <a:rPr lang="en-US" sz="1250" dirty="0">
                <a:solidFill>
                  <a:srgbClr val="506474"/>
                </a:solidFill>
                <a:latin typeface="Arial" pitchFamily="34" charset="0"/>
                <a:ea typeface="Arial" pitchFamily="34" charset="-122"/>
                <a:cs typeface="Arial" pitchFamily="34" charset="-120"/>
              </a:rPr>
              <a:t>saved per kWh versus smart charging in the same window</a:t>
            </a:r>
            <a:endParaRPr lang="en-US" sz="1250" dirty="0"/>
          </a:p>
        </p:txBody>
      </p:sp>
      <p:sp>
        <p:nvSpPr>
          <p:cNvPr id="12" name="Shape 9"/>
          <p:cNvSpPr/>
          <p:nvPr/>
        </p:nvSpPr>
        <p:spPr>
          <a:xfrm>
            <a:off x="7680960" y="3977640"/>
            <a:ext cx="3962095" cy="1874520"/>
          </a:xfrm>
          <a:prstGeom prst="roundRect">
            <a:avLst>
              <a:gd name="adj" fmla="val 7805"/>
            </a:avLst>
          </a:prstGeom>
          <a:solidFill>
            <a:srgbClr val="FFF2DB"/>
          </a:solidFill>
          <a:ln w="9525">
            <a:solidFill>
              <a:srgbClr val="FFF2DB"/>
            </a:solidFill>
            <a:prstDash val="solid"/>
          </a:ln>
          <a:effectLst>
            <a:outerShdw sx="100000" sy="100000" kx="0" ky="0" algn="bl" rotWithShape="0" blurRad="101600" dist="25400" dir="5400000">
              <a:srgbClr val="0B2A24">
                <a:alpha val="12000"/>
              </a:srgbClr>
            </a:outerShdw>
          </a:effectLst>
        </p:spPr>
      </p:sp>
      <p:sp>
        <p:nvSpPr>
          <p:cNvPr id="13" name="Text 10"/>
          <p:cNvSpPr txBox="1"/>
          <p:nvPr/>
        </p:nvSpPr>
        <p:spPr>
          <a:xfrm>
            <a:off x="7955280" y="4160520"/>
            <a:ext cx="3413455" cy="320040"/>
          </a:xfrm>
          <a:prstGeom prst="rect">
            <a:avLst/>
          </a:prstGeom>
          <a:noFill/>
          <a:ln/>
        </p:spPr>
        <p:txBody>
          <a:bodyPr wrap="square" lIns="0" tIns="0" rIns="0" bIns="0" rtlCol="0" anchor="t"/>
          <a:lstStyle/>
          <a:p>
            <a:pPr indent="0" marL="0">
              <a:buNone/>
            </a:pPr>
            <a:r>
              <a:rPr lang="en-US" sz="1600" b="1" dirty="0">
                <a:solidFill>
                  <a:srgbClr val="8A5A00"/>
                </a:solidFill>
                <a:latin typeface="Arial" pitchFamily="34" charset="0"/>
                <a:ea typeface="Arial" pitchFamily="34" charset="-122"/>
                <a:cs typeface="Arial" pitchFamily="34" charset="-120"/>
              </a:rPr>
              <a:t>Morning → no offer</a:t>
            </a:r>
            <a:endParaRPr lang="en-US" sz="1600" dirty="0"/>
          </a:p>
        </p:txBody>
      </p:sp>
      <p:sp>
        <p:nvSpPr>
          <p:cNvPr id="14" name="Text 11"/>
          <p:cNvSpPr txBox="1"/>
          <p:nvPr/>
        </p:nvSpPr>
        <p:spPr>
          <a:xfrm>
            <a:off x="7955280" y="4507992"/>
            <a:ext cx="3413455" cy="566928"/>
          </a:xfrm>
          <a:prstGeom prst="rect">
            <a:avLst/>
          </a:prstGeom>
          <a:noFill/>
          <a:ln/>
        </p:spPr>
        <p:txBody>
          <a:bodyPr wrap="square" lIns="0" tIns="0" rIns="0" bIns="0" rtlCol="0" anchor="t"/>
          <a:lstStyle/>
          <a:p>
            <a:pPr indent="0" marL="0">
              <a:buNone/>
            </a:pPr>
            <a:r>
              <a:rPr lang="en-US" sz="3200" b="1" dirty="0">
                <a:solidFill>
                  <a:srgbClr val="8A5A00"/>
                </a:solidFill>
                <a:latin typeface="Arial" pitchFamily="34" charset="0"/>
                <a:ea typeface="Arial" pitchFamily="34" charset="-122"/>
                <a:cs typeface="Arial" pitchFamily="34" charset="-120"/>
              </a:rPr>
              <a:t>€0.005</a:t>
            </a:r>
            <a:endParaRPr lang="en-US" sz="3200" dirty="0"/>
          </a:p>
        </p:txBody>
      </p:sp>
      <p:sp>
        <p:nvSpPr>
          <p:cNvPr id="15" name="Text 12"/>
          <p:cNvSpPr txBox="1"/>
          <p:nvPr/>
        </p:nvSpPr>
        <p:spPr>
          <a:xfrm>
            <a:off x="7955280" y="5120640"/>
            <a:ext cx="3413455" cy="640080"/>
          </a:xfrm>
          <a:prstGeom prst="rect">
            <a:avLst/>
          </a:prstGeom>
          <a:noFill/>
          <a:ln/>
        </p:spPr>
        <p:txBody>
          <a:bodyPr wrap="square" lIns="0" tIns="0" rIns="0" bIns="0" rtlCol="0" anchor="t"/>
          <a:lstStyle/>
          <a:p>
            <a:pPr indent="0" marL="0">
              <a:buNone/>
            </a:pPr>
            <a:r>
              <a:rPr lang="en-US" sz="1250" dirty="0">
                <a:solidFill>
                  <a:srgbClr val="506474"/>
                </a:solidFill>
                <a:latin typeface="Arial" pitchFamily="34" charset="0"/>
                <a:ea typeface="Arial" pitchFamily="34" charset="-122"/>
                <a:cs typeface="Arial" pitchFamily="34" charset="-120"/>
              </a:rPr>
              <a:t>too little to cover session costs, so normal charging stays open. The rule working.</a:t>
            </a:r>
            <a:endParaRPr lang="en-US" sz="1250" dirty="0"/>
          </a:p>
        </p:txBody>
      </p:sp>
      <p:sp>
        <p:nvSpPr>
          <p:cNvPr id="16" name="Text 13"/>
          <p:cNvSpPr txBox="1"/>
          <p:nvPr/>
        </p:nvSpPr>
        <p:spPr>
          <a:xfrm>
            <a:off x="548640" y="6382512"/>
            <a:ext cx="11094415" cy="292608"/>
          </a:xfrm>
          <a:prstGeom prst="rect">
            <a:avLst/>
          </a:prstGeom>
          <a:noFill/>
          <a:ln/>
        </p:spPr>
        <p:txBody>
          <a:bodyPr wrap="square" lIns="0" tIns="0" rIns="0" bIns="0" rtlCol="0" anchor="b"/>
          <a:lstStyle/>
          <a:p>
            <a:pPr indent="0" marL="0">
              <a:buNone/>
            </a:pPr>
            <a:r>
              <a:rPr lang="en-US" sz="1000" dirty="0">
                <a:solidFill>
                  <a:srgbClr val="748892"/>
                </a:solidFill>
                <a:latin typeface="Arial" pitchFamily="34" charset="0"/>
                <a:ea typeface="Arial" pitchFamily="34" charset="-122"/>
                <a:cs typeface="Arial" pitchFamily="34" charset="-120"/>
              </a:rPr>
              <a:t>Illustrative tariff: night €0.16, day €0.26, peak €0.34, surplus credit €0.08/kWh. AI all-in = €0.08 ÷ 0.92 ÷ 0.92 + €0.04 wear + €0.04 network + €0.025 session ≈ €0.20. Ex VAT.</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F8F8"/>
        </a:solidFill>
      </p:bgPr>
    </p:bg>
    <p:spTree>
      <p:nvGrpSpPr>
        <p:cNvPr id="1" name=""/>
        <p:cNvGrpSpPr/>
        <p:nvPr/>
      </p:nvGrpSpPr>
      <p:grpSpPr>
        <a:xfrm>
          <a:off x="0" y="0"/>
          <a:ext cx="0" cy="0"/>
          <a:chOff x="0" y="0"/>
          <a:chExt cx="0" cy="0"/>
        </a:xfrm>
      </p:grpSpPr>
      <p:sp>
        <p:nvSpPr>
          <p:cNvPr id="2" name="Shape 0"/>
          <p:cNvSpPr/>
          <p:nvPr/>
        </p:nvSpPr>
        <p:spPr>
          <a:xfrm>
            <a:off x="548640" y="384048"/>
            <a:ext cx="1922069" cy="310896"/>
          </a:xfrm>
          <a:prstGeom prst="roundRect">
            <a:avLst>
              <a:gd name="adj" fmla="val 50000"/>
            </a:avLst>
          </a:prstGeom>
          <a:solidFill>
            <a:srgbClr val="E0F7EE"/>
          </a:solidFill>
          <a:ln w="12700">
            <a:solidFill>
              <a:srgbClr val="E0F7EE"/>
            </a:solidFill>
            <a:prstDash val="solid"/>
          </a:ln>
        </p:spPr>
      </p:sp>
      <p:sp>
        <p:nvSpPr>
          <p:cNvPr id="3" name="Text 1"/>
          <p:cNvSpPr txBox="1"/>
          <p:nvPr/>
        </p:nvSpPr>
        <p:spPr>
          <a:xfrm>
            <a:off x="548640" y="384048"/>
            <a:ext cx="1922069" cy="310896"/>
          </a:xfrm>
          <a:prstGeom prst="rect">
            <a:avLst/>
          </a:prstGeom>
          <a:noFill/>
          <a:ln/>
        </p:spPr>
        <p:txBody>
          <a:bodyPr wrap="square" lIns="0" tIns="0" rIns="0" bIns="0" rtlCol="0" anchor="ctr"/>
          <a:lstStyle/>
          <a:p>
            <a:pPr algn="ctr" indent="0" marL="0">
              <a:buNone/>
            </a:pPr>
            <a:r>
              <a:rPr lang="en-US" sz="1100" b="1" spc="150" kern="0" dirty="0">
                <a:solidFill>
                  <a:srgbClr val="0B4339"/>
                </a:solidFill>
                <a:latin typeface="Arial" pitchFamily="34" charset="0"/>
                <a:ea typeface="Arial" pitchFamily="34" charset="-122"/>
                <a:cs typeface="Arial" pitchFamily="34" charset="-120"/>
              </a:rPr>
              <a:t>BUSINESS MODEL</a:t>
            </a:r>
            <a:endParaRPr lang="en-US" sz="1100" dirty="0"/>
          </a:p>
        </p:txBody>
      </p:sp>
      <p:sp>
        <p:nvSpPr>
          <p:cNvPr id="4" name="Text 2"/>
          <p:cNvSpPr txBox="1"/>
          <p:nvPr/>
        </p:nvSpPr>
        <p:spPr>
          <a:xfrm>
            <a:off x="548640" y="841248"/>
            <a:ext cx="11094415" cy="914400"/>
          </a:xfrm>
          <a:prstGeom prst="rect">
            <a:avLst/>
          </a:prstGeom>
          <a:noFill/>
          <a:ln/>
        </p:spPr>
        <p:txBody>
          <a:bodyPr wrap="square" lIns="0" tIns="0" rIns="0" bIns="0" rtlCol="0" anchor="t"/>
          <a:lstStyle/>
          <a:p>
            <a:pPr indent="0" marL="0">
              <a:buNone/>
            </a:pPr>
            <a:r>
              <a:rPr lang="en-US" sz="3400" b="1" dirty="0">
                <a:solidFill>
                  <a:srgbClr val="142130"/>
                </a:solidFill>
                <a:latin typeface="Arial" pitchFamily="34" charset="0"/>
                <a:ea typeface="Arial" pitchFamily="34" charset="-122"/>
                <a:cs typeface="Arial" pitchFamily="34" charset="-120"/>
              </a:rPr>
              <a:t>Every extra euro is shared 50 / 25 / 25.</a:t>
            </a:r>
            <a:endParaRPr lang="en-US" sz="3400" dirty="0"/>
          </a:p>
        </p:txBody>
      </p:sp>
      <p:sp>
        <p:nvSpPr>
          <p:cNvPr id="5" name="Text 3"/>
          <p:cNvSpPr txBox="1"/>
          <p:nvPr/>
        </p:nvSpPr>
        <p:spPr>
          <a:xfrm>
            <a:off x="548640" y="1627632"/>
            <a:ext cx="11094415" cy="411480"/>
          </a:xfrm>
          <a:prstGeom prst="rect">
            <a:avLst/>
          </a:prstGeom>
          <a:noFill/>
          <a:ln/>
        </p:spPr>
        <p:txBody>
          <a:bodyPr wrap="square" lIns="0" tIns="0" rIns="0" bIns="0" rtlCol="0" anchor="t"/>
          <a:lstStyle/>
          <a:p>
            <a:pPr indent="0" marL="0">
              <a:buNone/>
            </a:pPr>
            <a:r>
              <a:rPr lang="en-US" sz="1700" dirty="0">
                <a:solidFill>
                  <a:srgbClr val="506474"/>
                </a:solidFill>
                <a:latin typeface="Arial" pitchFamily="34" charset="0"/>
                <a:ea typeface="Arial" pitchFamily="34" charset="-122"/>
                <a:cs typeface="Arial" pitchFamily="34" charset="-120"/>
              </a:rPr>
              <a:t>One 20 kWh session, €0.10/kWh cheaper than smart charging = a €2.00 pool of extra savings.</a:t>
            </a:r>
            <a:endParaRPr lang="en-US" sz="1700" dirty="0"/>
          </a:p>
        </p:txBody>
      </p:sp>
      <p:sp>
        <p:nvSpPr>
          <p:cNvPr id="6" name="Shape 4"/>
          <p:cNvSpPr/>
          <p:nvPr/>
        </p:nvSpPr>
        <p:spPr>
          <a:xfrm>
            <a:off x="548640" y="2286000"/>
            <a:ext cx="5492344" cy="960120"/>
          </a:xfrm>
          <a:prstGeom prst="roundRect">
            <a:avLst>
              <a:gd name="adj" fmla="val 11429"/>
            </a:avLst>
          </a:prstGeom>
          <a:solidFill>
            <a:srgbClr val="1FAE6C"/>
          </a:solidFill>
          <a:ln w="12700">
            <a:solidFill>
              <a:srgbClr val="1FAE6C"/>
            </a:solidFill>
            <a:prstDash val="solid"/>
          </a:ln>
        </p:spPr>
      </p:sp>
      <p:sp>
        <p:nvSpPr>
          <p:cNvPr id="7" name="Text 5"/>
          <p:cNvSpPr txBox="1"/>
          <p:nvPr/>
        </p:nvSpPr>
        <p:spPr>
          <a:xfrm>
            <a:off x="822960" y="2404872"/>
            <a:ext cx="5126584" cy="457200"/>
          </a:xfrm>
          <a:prstGeom prst="rect">
            <a:avLst/>
          </a:prstGeom>
          <a:noFill/>
          <a:ln/>
        </p:spPr>
        <p:txBody>
          <a:bodyPr wrap="square" lIns="0" tIns="0" rIns="0" bIns="0" rtlCol="0" anchor="t"/>
          <a:lstStyle/>
          <a:p>
            <a:pPr indent="0" marL="0">
              <a:buNone/>
            </a:pPr>
            <a:r>
              <a:rPr lang="en-US" sz="2600" b="1" dirty="0">
                <a:solidFill>
                  <a:srgbClr val="FFFFFF"/>
                </a:solidFill>
                <a:latin typeface="Arial" pitchFamily="34" charset="0"/>
                <a:ea typeface="Arial" pitchFamily="34" charset="-122"/>
                <a:cs typeface="Arial" pitchFamily="34" charset="-120"/>
              </a:rPr>
              <a:t>€1.00</a:t>
            </a:r>
            <a:endParaRPr lang="en-US" sz="2600" dirty="0"/>
          </a:p>
        </p:txBody>
      </p:sp>
      <p:sp>
        <p:nvSpPr>
          <p:cNvPr id="8" name="Text 6"/>
          <p:cNvSpPr txBox="1"/>
          <p:nvPr/>
        </p:nvSpPr>
        <p:spPr>
          <a:xfrm>
            <a:off x="822960" y="2852928"/>
            <a:ext cx="5126584" cy="292608"/>
          </a:xfrm>
          <a:prstGeom prst="rect">
            <a:avLst/>
          </a:prstGeom>
          <a:noFill/>
          <a:ln/>
        </p:spPr>
        <p:txBody>
          <a:bodyPr wrap="square" lIns="0" tIns="0" rIns="0" bIns="0" rtlCol="0" anchor="t"/>
          <a:lstStyle/>
          <a:p>
            <a:pPr indent="0" marL="0">
              <a:buNone/>
            </a:pPr>
            <a:r>
              <a:rPr lang="en-US" sz="1300" b="1" dirty="0">
                <a:solidFill>
                  <a:srgbClr val="EAF7F1"/>
                </a:solidFill>
                <a:latin typeface="Arial" pitchFamily="34" charset="0"/>
                <a:ea typeface="Arial" pitchFamily="34" charset="-122"/>
                <a:cs typeface="Arial" pitchFamily="34" charset="-120"/>
              </a:rPr>
              <a:t>Driver discount · 50%</a:t>
            </a:r>
            <a:endParaRPr lang="en-US" sz="1300" dirty="0"/>
          </a:p>
        </p:txBody>
      </p:sp>
      <p:sp>
        <p:nvSpPr>
          <p:cNvPr id="9" name="Shape 7"/>
          <p:cNvSpPr/>
          <p:nvPr/>
        </p:nvSpPr>
        <p:spPr>
          <a:xfrm>
            <a:off x="6095848" y="2286000"/>
            <a:ext cx="2718740" cy="960120"/>
          </a:xfrm>
          <a:prstGeom prst="roundRect">
            <a:avLst>
              <a:gd name="adj" fmla="val 11429"/>
            </a:avLst>
          </a:prstGeom>
          <a:solidFill>
            <a:srgbClr val="0F9D8A"/>
          </a:solidFill>
          <a:ln w="12700">
            <a:solidFill>
              <a:srgbClr val="0F9D8A"/>
            </a:solidFill>
            <a:prstDash val="solid"/>
          </a:ln>
        </p:spPr>
      </p:sp>
      <p:sp>
        <p:nvSpPr>
          <p:cNvPr id="10" name="Text 8"/>
          <p:cNvSpPr txBox="1"/>
          <p:nvPr/>
        </p:nvSpPr>
        <p:spPr>
          <a:xfrm>
            <a:off x="6370168" y="2404872"/>
            <a:ext cx="2352980" cy="457200"/>
          </a:xfrm>
          <a:prstGeom prst="rect">
            <a:avLst/>
          </a:prstGeom>
          <a:noFill/>
          <a:ln/>
        </p:spPr>
        <p:txBody>
          <a:bodyPr wrap="square" lIns="0" tIns="0" rIns="0" bIns="0" rtlCol="0" anchor="t"/>
          <a:lstStyle/>
          <a:p>
            <a:pPr indent="0" marL="0">
              <a:buNone/>
            </a:pPr>
            <a:r>
              <a:rPr lang="en-US" sz="2600" b="1" dirty="0">
                <a:solidFill>
                  <a:srgbClr val="FFFFFF"/>
                </a:solidFill>
                <a:latin typeface="Arial" pitchFamily="34" charset="0"/>
                <a:ea typeface="Arial" pitchFamily="34" charset="-122"/>
                <a:cs typeface="Arial" pitchFamily="34" charset="-120"/>
              </a:rPr>
              <a:t>€0.50</a:t>
            </a:r>
            <a:endParaRPr lang="en-US" sz="2600" dirty="0"/>
          </a:p>
        </p:txBody>
      </p:sp>
      <p:sp>
        <p:nvSpPr>
          <p:cNvPr id="11" name="Text 9"/>
          <p:cNvSpPr txBox="1"/>
          <p:nvPr/>
        </p:nvSpPr>
        <p:spPr>
          <a:xfrm>
            <a:off x="6370168" y="2852928"/>
            <a:ext cx="2352980" cy="292608"/>
          </a:xfrm>
          <a:prstGeom prst="rect">
            <a:avLst/>
          </a:prstGeom>
          <a:noFill/>
          <a:ln/>
        </p:spPr>
        <p:txBody>
          <a:bodyPr wrap="square" lIns="0" tIns="0" rIns="0" bIns="0" rtlCol="0" anchor="t"/>
          <a:lstStyle/>
          <a:p>
            <a:pPr indent="0" marL="0">
              <a:buNone/>
            </a:pPr>
            <a:r>
              <a:rPr lang="en-US" sz="1300" b="1" dirty="0">
                <a:solidFill>
                  <a:srgbClr val="EAF7F1"/>
                </a:solidFill>
                <a:latin typeface="Arial" pitchFamily="34" charset="0"/>
                <a:ea typeface="Arial" pitchFamily="34" charset="-122"/>
                <a:cs typeface="Arial" pitchFamily="34" charset="-120"/>
              </a:rPr>
              <a:t>Operator · 25%</a:t>
            </a:r>
            <a:endParaRPr lang="en-US" sz="1300" dirty="0"/>
          </a:p>
        </p:txBody>
      </p:sp>
      <p:sp>
        <p:nvSpPr>
          <p:cNvPr id="12" name="Shape 10"/>
          <p:cNvSpPr/>
          <p:nvPr/>
        </p:nvSpPr>
        <p:spPr>
          <a:xfrm>
            <a:off x="8869451" y="2286000"/>
            <a:ext cx="2773604" cy="960120"/>
          </a:xfrm>
          <a:prstGeom prst="roundRect">
            <a:avLst>
              <a:gd name="adj" fmla="val 11429"/>
            </a:avLst>
          </a:prstGeom>
          <a:solidFill>
            <a:srgbClr val="2F7BE0"/>
          </a:solidFill>
          <a:ln w="12700">
            <a:solidFill>
              <a:srgbClr val="2F7BE0"/>
            </a:solidFill>
            <a:prstDash val="solid"/>
          </a:ln>
        </p:spPr>
      </p:sp>
      <p:sp>
        <p:nvSpPr>
          <p:cNvPr id="13" name="Text 11"/>
          <p:cNvSpPr txBox="1"/>
          <p:nvPr/>
        </p:nvSpPr>
        <p:spPr>
          <a:xfrm>
            <a:off x="9143771" y="2404872"/>
            <a:ext cx="2407844" cy="457200"/>
          </a:xfrm>
          <a:prstGeom prst="rect">
            <a:avLst/>
          </a:prstGeom>
          <a:noFill/>
          <a:ln/>
        </p:spPr>
        <p:txBody>
          <a:bodyPr wrap="square" lIns="0" tIns="0" rIns="0" bIns="0" rtlCol="0" anchor="t"/>
          <a:lstStyle/>
          <a:p>
            <a:pPr indent="0" marL="0">
              <a:buNone/>
            </a:pPr>
            <a:r>
              <a:rPr lang="en-US" sz="2600" b="1" dirty="0">
                <a:solidFill>
                  <a:srgbClr val="FFFFFF"/>
                </a:solidFill>
                <a:latin typeface="Arial" pitchFamily="34" charset="0"/>
                <a:ea typeface="Arial" pitchFamily="34" charset="-122"/>
                <a:cs typeface="Arial" pitchFamily="34" charset="-120"/>
              </a:rPr>
              <a:t>€0.50</a:t>
            </a:r>
            <a:endParaRPr lang="en-US" sz="2600" dirty="0"/>
          </a:p>
        </p:txBody>
      </p:sp>
      <p:sp>
        <p:nvSpPr>
          <p:cNvPr id="14" name="Text 12"/>
          <p:cNvSpPr txBox="1"/>
          <p:nvPr/>
        </p:nvSpPr>
        <p:spPr>
          <a:xfrm>
            <a:off x="9143771" y="2852928"/>
            <a:ext cx="2407844" cy="292608"/>
          </a:xfrm>
          <a:prstGeom prst="rect">
            <a:avLst/>
          </a:prstGeom>
          <a:noFill/>
          <a:ln/>
        </p:spPr>
        <p:txBody>
          <a:bodyPr wrap="square" lIns="0" tIns="0" rIns="0" bIns="0" rtlCol="0" anchor="t"/>
          <a:lstStyle/>
          <a:p>
            <a:pPr indent="0" marL="0">
              <a:buNone/>
            </a:pPr>
            <a:r>
              <a:rPr lang="en-US" sz="1300" b="1" dirty="0">
                <a:solidFill>
                  <a:srgbClr val="EAF7F1"/>
                </a:solidFill>
                <a:latin typeface="Arial" pitchFamily="34" charset="0"/>
                <a:ea typeface="Arial" pitchFamily="34" charset="-122"/>
                <a:cs typeface="Arial" pitchFamily="34" charset="-120"/>
              </a:rPr>
              <a:t>SaveThePlanet · 25%</a:t>
            </a:r>
            <a:endParaRPr lang="en-US" sz="1300" dirty="0"/>
          </a:p>
        </p:txBody>
      </p:sp>
      <p:sp>
        <p:nvSpPr>
          <p:cNvPr id="15" name="Shape 13"/>
          <p:cNvSpPr/>
          <p:nvPr/>
        </p:nvSpPr>
        <p:spPr>
          <a:xfrm>
            <a:off x="548640" y="3566160"/>
            <a:ext cx="6568135" cy="2368296"/>
          </a:xfrm>
          <a:prstGeom prst="roundRect">
            <a:avLst>
              <a:gd name="adj" fmla="val 6178"/>
            </a:avLst>
          </a:prstGeom>
          <a:solidFill>
            <a:srgbClr val="FFFFFF"/>
          </a:solidFill>
          <a:ln w="9525">
            <a:solidFill>
              <a:srgbClr val="DBE9E9"/>
            </a:solidFill>
            <a:prstDash val="solid"/>
          </a:ln>
          <a:effectLst>
            <a:outerShdw sx="100000" sy="100000" kx="0" ky="0" algn="bl" rotWithShape="0" blurRad="101600" dist="25400" dir="5400000">
              <a:srgbClr val="0B2A24">
                <a:alpha val="12000"/>
              </a:srgbClr>
            </a:outerShdw>
          </a:effectLst>
        </p:spPr>
      </p:sp>
      <p:sp>
        <p:nvSpPr>
          <p:cNvPr id="16" name="Text 14"/>
          <p:cNvSpPr txBox="1"/>
          <p:nvPr/>
        </p:nvSpPr>
        <p:spPr>
          <a:xfrm>
            <a:off x="868680" y="3749040"/>
            <a:ext cx="4846320" cy="320040"/>
          </a:xfrm>
          <a:prstGeom prst="rect">
            <a:avLst/>
          </a:prstGeom>
          <a:noFill/>
          <a:ln/>
        </p:spPr>
        <p:txBody>
          <a:bodyPr wrap="square" lIns="0" tIns="0" rIns="0" bIns="0" rtlCol="0" anchor="t"/>
          <a:lstStyle/>
          <a:p>
            <a:pPr indent="0" marL="0">
              <a:buNone/>
            </a:pPr>
            <a:r>
              <a:rPr lang="en-US" sz="1500" b="1" dirty="0">
                <a:solidFill>
                  <a:srgbClr val="506474"/>
                </a:solidFill>
                <a:latin typeface="Arial" pitchFamily="34" charset="0"/>
                <a:ea typeface="Arial" pitchFamily="34" charset="-122"/>
                <a:cs typeface="Arial" pitchFamily="34" charset="-120"/>
              </a:rPr>
              <a:t>What SaveThePlanet keeps</a:t>
            </a:r>
            <a:endParaRPr lang="en-US" sz="1500" dirty="0"/>
          </a:p>
        </p:txBody>
      </p:sp>
      <p:sp>
        <p:nvSpPr>
          <p:cNvPr id="17" name="Text 15"/>
          <p:cNvSpPr txBox="1"/>
          <p:nvPr/>
        </p:nvSpPr>
        <p:spPr>
          <a:xfrm>
            <a:off x="868680" y="4160520"/>
            <a:ext cx="4114800" cy="320040"/>
          </a:xfrm>
          <a:prstGeom prst="rect">
            <a:avLst/>
          </a:prstGeom>
          <a:noFill/>
          <a:ln/>
        </p:spPr>
        <p:txBody>
          <a:bodyPr wrap="square" lIns="0" tIns="0" rIns="0" bIns="0" rtlCol="0" anchor="t"/>
          <a:lstStyle/>
          <a:p>
            <a:pPr indent="0" marL="0">
              <a:buNone/>
            </a:pPr>
            <a:r>
              <a:rPr lang="en-US" sz="1500" dirty="0">
                <a:solidFill>
                  <a:srgbClr val="142130"/>
                </a:solidFill>
                <a:latin typeface="Arial" pitchFamily="34" charset="0"/>
                <a:ea typeface="Arial" pitchFamily="34" charset="-122"/>
                <a:cs typeface="Arial" pitchFamily="34" charset="-120"/>
              </a:rPr>
              <a:t>Commission (25%, gross)</a:t>
            </a:r>
            <a:endParaRPr lang="en-US" sz="1500" dirty="0"/>
          </a:p>
        </p:txBody>
      </p:sp>
      <p:sp>
        <p:nvSpPr>
          <p:cNvPr id="18" name="Text 16"/>
          <p:cNvSpPr txBox="1"/>
          <p:nvPr/>
        </p:nvSpPr>
        <p:spPr>
          <a:xfrm>
            <a:off x="5333695" y="4160520"/>
            <a:ext cx="1463040" cy="320040"/>
          </a:xfrm>
          <a:prstGeom prst="rect">
            <a:avLst/>
          </a:prstGeom>
          <a:noFill/>
          <a:ln/>
        </p:spPr>
        <p:txBody>
          <a:bodyPr wrap="square" lIns="0" tIns="0" rIns="0" bIns="0" rtlCol="0" anchor="t"/>
          <a:lstStyle/>
          <a:p>
            <a:pPr algn="r" indent="0" marL="0">
              <a:buNone/>
            </a:pPr>
            <a:r>
              <a:rPr lang="en-US" sz="1500" b="1" dirty="0">
                <a:solidFill>
                  <a:srgbClr val="142130"/>
                </a:solidFill>
                <a:latin typeface="Arial" pitchFamily="34" charset="0"/>
                <a:ea typeface="Arial" pitchFamily="34" charset="-122"/>
                <a:cs typeface="Arial" pitchFamily="34" charset="-120"/>
              </a:rPr>
              <a:t>€0.50</a:t>
            </a:r>
            <a:endParaRPr lang="en-US" sz="1500" dirty="0"/>
          </a:p>
        </p:txBody>
      </p:sp>
      <p:sp>
        <p:nvSpPr>
          <p:cNvPr id="19" name="Text 17"/>
          <p:cNvSpPr txBox="1"/>
          <p:nvPr/>
        </p:nvSpPr>
        <p:spPr>
          <a:xfrm>
            <a:off x="868680" y="4544568"/>
            <a:ext cx="4114800" cy="320040"/>
          </a:xfrm>
          <a:prstGeom prst="rect">
            <a:avLst/>
          </a:prstGeom>
          <a:noFill/>
          <a:ln/>
        </p:spPr>
        <p:txBody>
          <a:bodyPr wrap="square" lIns="0" tIns="0" rIns="0" bIns="0" rtlCol="0" anchor="t"/>
          <a:lstStyle/>
          <a:p>
            <a:pPr indent="0" marL="0">
              <a:buNone/>
            </a:pPr>
            <a:r>
              <a:rPr lang="en-US" sz="1500" dirty="0">
                <a:solidFill>
                  <a:srgbClr val="506474"/>
                </a:solidFill>
                <a:latin typeface="Arial" pitchFamily="34" charset="0"/>
                <a:ea typeface="Arial" pitchFamily="34" charset="-122"/>
                <a:cs typeface="Arial" pitchFamily="34" charset="-120"/>
              </a:rPr>
              <a:t>Our cost per session</a:t>
            </a:r>
            <a:endParaRPr lang="en-US" sz="1500" dirty="0"/>
          </a:p>
        </p:txBody>
      </p:sp>
      <p:sp>
        <p:nvSpPr>
          <p:cNvPr id="20" name="Text 18"/>
          <p:cNvSpPr txBox="1"/>
          <p:nvPr/>
        </p:nvSpPr>
        <p:spPr>
          <a:xfrm>
            <a:off x="5333695" y="4544568"/>
            <a:ext cx="1463040" cy="320040"/>
          </a:xfrm>
          <a:prstGeom prst="rect">
            <a:avLst/>
          </a:prstGeom>
          <a:noFill/>
          <a:ln/>
        </p:spPr>
        <p:txBody>
          <a:bodyPr wrap="square" lIns="0" tIns="0" rIns="0" bIns="0" rtlCol="0" anchor="t"/>
          <a:lstStyle/>
          <a:p>
            <a:pPr algn="r" indent="0" marL="0">
              <a:buNone/>
            </a:pPr>
            <a:r>
              <a:rPr lang="en-US" sz="1500" b="1" dirty="0">
                <a:solidFill>
                  <a:srgbClr val="506474"/>
                </a:solidFill>
                <a:latin typeface="Arial" pitchFamily="34" charset="0"/>
                <a:ea typeface="Arial" pitchFamily="34" charset="-122"/>
                <a:cs typeface="Arial" pitchFamily="34" charset="-120"/>
              </a:rPr>
              <a:t>−€0.10</a:t>
            </a:r>
            <a:endParaRPr lang="en-US" sz="1500" dirty="0"/>
          </a:p>
        </p:txBody>
      </p:sp>
      <p:sp>
        <p:nvSpPr>
          <p:cNvPr id="21" name="Shape 19"/>
          <p:cNvSpPr/>
          <p:nvPr/>
        </p:nvSpPr>
        <p:spPr>
          <a:xfrm>
            <a:off x="868680" y="4983480"/>
            <a:ext cx="5928055" cy="0"/>
          </a:xfrm>
          <a:prstGeom prst="line">
            <a:avLst/>
          </a:prstGeom>
          <a:noFill/>
          <a:ln w="12700">
            <a:solidFill>
              <a:srgbClr val="DBE9E9"/>
            </a:solidFill>
            <a:prstDash val="solid"/>
          </a:ln>
        </p:spPr>
      </p:sp>
      <p:sp>
        <p:nvSpPr>
          <p:cNvPr id="22" name="Text 20"/>
          <p:cNvSpPr txBox="1"/>
          <p:nvPr/>
        </p:nvSpPr>
        <p:spPr>
          <a:xfrm>
            <a:off x="868680" y="5230368"/>
            <a:ext cx="4114800" cy="457200"/>
          </a:xfrm>
          <a:prstGeom prst="rect">
            <a:avLst/>
          </a:prstGeom>
          <a:noFill/>
          <a:ln/>
        </p:spPr>
        <p:txBody>
          <a:bodyPr wrap="square" lIns="0" tIns="0" rIns="0" bIns="0" rtlCol="0" anchor="t"/>
          <a:lstStyle/>
          <a:p>
            <a:pPr indent="0" marL="0">
              <a:buNone/>
            </a:pPr>
            <a:r>
              <a:rPr lang="en-US" sz="1600" b="1" dirty="0">
                <a:solidFill>
                  <a:srgbClr val="0B4339"/>
                </a:solidFill>
                <a:latin typeface="Arial" pitchFamily="34" charset="0"/>
                <a:ea typeface="Arial" pitchFamily="34" charset="-122"/>
                <a:cs typeface="Arial" pitchFamily="34" charset="-120"/>
              </a:rPr>
              <a:t>Contribution per session</a:t>
            </a:r>
            <a:endParaRPr lang="en-US" sz="1600" dirty="0"/>
          </a:p>
        </p:txBody>
      </p:sp>
      <p:sp>
        <p:nvSpPr>
          <p:cNvPr id="23" name="Text 21"/>
          <p:cNvSpPr txBox="1"/>
          <p:nvPr/>
        </p:nvSpPr>
        <p:spPr>
          <a:xfrm>
            <a:off x="4967935" y="5138928"/>
            <a:ext cx="1828800" cy="548640"/>
          </a:xfrm>
          <a:prstGeom prst="rect">
            <a:avLst/>
          </a:prstGeom>
          <a:noFill/>
          <a:ln/>
        </p:spPr>
        <p:txBody>
          <a:bodyPr wrap="square" lIns="0" tIns="0" rIns="0" bIns="0" rtlCol="0" anchor="t"/>
          <a:lstStyle/>
          <a:p>
            <a:pPr algn="r" indent="0" marL="0">
              <a:buNone/>
            </a:pPr>
            <a:r>
              <a:rPr lang="en-US" sz="2800" b="1" dirty="0">
                <a:solidFill>
                  <a:srgbClr val="087C59"/>
                </a:solidFill>
                <a:latin typeface="Arial" pitchFamily="34" charset="0"/>
                <a:ea typeface="Arial" pitchFamily="34" charset="-122"/>
                <a:cs typeface="Arial" pitchFamily="34" charset="-120"/>
              </a:rPr>
              <a:t>€0.40</a:t>
            </a:r>
            <a:endParaRPr lang="en-US" sz="2800" dirty="0"/>
          </a:p>
        </p:txBody>
      </p:sp>
      <p:sp>
        <p:nvSpPr>
          <p:cNvPr id="24" name="Shape 22"/>
          <p:cNvSpPr/>
          <p:nvPr/>
        </p:nvSpPr>
        <p:spPr>
          <a:xfrm>
            <a:off x="7436815" y="3566160"/>
            <a:ext cx="4206240" cy="2366010"/>
          </a:xfrm>
          <a:prstGeom prst="roundRect">
            <a:avLst>
              <a:gd name="adj" fmla="val 5411"/>
            </a:avLst>
          </a:prstGeom>
          <a:solidFill>
            <a:srgbClr val="15212D"/>
          </a:solidFill>
          <a:ln w="12700">
            <a:solidFill>
              <a:srgbClr val="15212D"/>
            </a:solidFill>
            <a:prstDash val="solid"/>
          </a:ln>
          <a:effectLst>
            <a:outerShdw sx="100000" sy="100000" kx="0" ky="0" algn="bl" rotWithShape="0" blurRad="101600" dist="25400" dir="5400000">
              <a:srgbClr val="0B2A24">
                <a:alpha val="12000"/>
              </a:srgbClr>
            </a:outerShdw>
          </a:effectLst>
        </p:spPr>
      </p:sp>
      <p:sp>
        <p:nvSpPr>
          <p:cNvPr id="25" name="Shape 23"/>
          <p:cNvSpPr/>
          <p:nvPr/>
        </p:nvSpPr>
        <p:spPr>
          <a:xfrm>
            <a:off x="7528255" y="3657600"/>
            <a:ext cx="4023360" cy="2183130"/>
          </a:xfrm>
          <a:prstGeom prst="roundRect">
            <a:avLst>
              <a:gd name="adj" fmla="val 4188"/>
            </a:avLst>
          </a:prstGeom>
          <a:solidFill>
            <a:srgbClr val="1F2F3D"/>
          </a:solidFill>
          <a:ln w="12700">
            <a:solidFill>
              <a:srgbClr val="1F2F3D"/>
            </a:solidFill>
            <a:prstDash val="solid"/>
          </a:ln>
        </p:spPr>
      </p:sp>
      <p:pic>
        <p:nvPicPr>
          <p:cNvPr id="26" name="Image 0" descr="preencoded.png">    </p:cNvPr>
          <p:cNvPicPr>
            <a:picLocks noChangeAspect="1"/>
          </p:cNvPicPr>
          <p:nvPr/>
        </p:nvPicPr>
        <p:blipFill>
          <a:blip r:embed="rId1">
            <a:alphaModFix amt="80000"/>
          </a:blip>
          <a:stretch>
            <a:fillRect/>
          </a:stretch>
        </p:blipFill>
        <p:spPr>
          <a:xfrm>
            <a:off x="9208694" y="4326484"/>
            <a:ext cx="662483" cy="662483"/>
          </a:xfrm>
          <a:prstGeom prst="rect">
            <a:avLst/>
          </a:prstGeom>
        </p:spPr>
      </p:pic>
      <p:sp>
        <p:nvSpPr>
          <p:cNvPr id="27" name="Text 24"/>
          <p:cNvSpPr txBox="1"/>
          <p:nvPr/>
        </p:nvSpPr>
        <p:spPr>
          <a:xfrm>
            <a:off x="7711135" y="3794760"/>
            <a:ext cx="3657600" cy="274320"/>
          </a:xfrm>
          <a:prstGeom prst="rect">
            <a:avLst/>
          </a:prstGeom>
          <a:noFill/>
          <a:ln/>
        </p:spPr>
        <p:txBody>
          <a:bodyPr wrap="square" lIns="0" tIns="0" rIns="0" bIns="0" rtlCol="0" anchor="t"/>
          <a:lstStyle/>
          <a:p>
            <a:pPr indent="0" marL="0">
              <a:buNone/>
            </a:pPr>
            <a:r>
              <a:rPr lang="en-US" sz="1200" b="1" spc="100" kern="0" dirty="0">
                <a:solidFill>
                  <a:srgbClr val="FFFFFF"/>
                </a:solidFill>
                <a:latin typeface="Arial" pitchFamily="34" charset="0"/>
                <a:ea typeface="Arial" pitchFamily="34" charset="-122"/>
                <a:cs typeface="Arial" pitchFamily="34" charset="-120"/>
              </a:rPr>
              <a:t>CLIP 4 · EV PAGE · JOIN → RESERVE</a:t>
            </a:r>
            <a:endParaRPr lang="en-US" sz="1200" dirty="0"/>
          </a:p>
        </p:txBody>
      </p:sp>
      <p:sp>
        <p:nvSpPr>
          <p:cNvPr id="28" name="Text 25"/>
          <p:cNvSpPr txBox="1"/>
          <p:nvPr/>
        </p:nvSpPr>
        <p:spPr>
          <a:xfrm>
            <a:off x="7711135" y="5365242"/>
            <a:ext cx="3657600" cy="365760"/>
          </a:xfrm>
          <a:prstGeom prst="rect">
            <a:avLst/>
          </a:prstGeom>
          <a:noFill/>
          <a:ln/>
        </p:spPr>
        <p:txBody>
          <a:bodyPr wrap="square" lIns="0" tIns="0" rIns="0" bIns="0" rtlCol="0" anchor="t"/>
          <a:lstStyle/>
          <a:p>
            <a:pPr indent="0" marL="0">
              <a:buNone/>
            </a:pPr>
            <a:r>
              <a:rPr lang="en-US" sz="1000" dirty="0">
                <a:solidFill>
                  <a:srgbClr val="A9B8C4"/>
                </a:solidFill>
                <a:latin typeface="Arial" pitchFamily="34" charset="0"/>
                <a:ea typeface="Arial" pitchFamily="34" charset="-122"/>
                <a:cs typeface="Arial" pitchFamily="34" charset="-120"/>
              </a:rPr>
              <a:t>Insert the recording here (Insert › Video › This Device), size it to this frame, then delete the frame.</a:t>
            </a:r>
            <a:endParaRPr lang="en-US" sz="1000" dirty="0"/>
          </a:p>
        </p:txBody>
      </p:sp>
      <p:sp>
        <p:nvSpPr>
          <p:cNvPr id="29" name="Text 26"/>
          <p:cNvSpPr txBox="1"/>
          <p:nvPr/>
        </p:nvSpPr>
        <p:spPr>
          <a:xfrm>
            <a:off x="548640" y="6382512"/>
            <a:ext cx="11094415" cy="292608"/>
          </a:xfrm>
          <a:prstGeom prst="rect">
            <a:avLst/>
          </a:prstGeom>
          <a:noFill/>
          <a:ln/>
        </p:spPr>
        <p:txBody>
          <a:bodyPr wrap="square" lIns="0" tIns="0" rIns="0" bIns="0" rtlCol="0" anchor="b"/>
          <a:lstStyle/>
          <a:p>
            <a:pPr indent="0" marL="0">
              <a:buNone/>
            </a:pPr>
            <a:r>
              <a:rPr lang="en-US" sz="1000" dirty="0">
                <a:solidFill>
                  <a:srgbClr val="748892"/>
                </a:solidFill>
                <a:latin typeface="Arial" pitchFamily="34" charset="0"/>
                <a:ea typeface="Arial" pitchFamily="34" charset="-122"/>
                <a:cs typeface="Arial" pitchFamily="34" charset="-120"/>
              </a:rPr>
              <a:t>Commission is revenue, not profit: monthly overhead comes next. Worked example from issue #56, settled in whole cents by backend/offers.py.</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F8F8"/>
        </a:solidFill>
      </p:bgPr>
    </p:bg>
    <p:spTree>
      <p:nvGrpSpPr>
        <p:cNvPr id="1" name=""/>
        <p:cNvGrpSpPr/>
        <p:nvPr/>
      </p:nvGrpSpPr>
      <p:grpSpPr>
        <a:xfrm>
          <a:off x="0" y="0"/>
          <a:ext cx="0" cy="0"/>
          <a:chOff x="0" y="0"/>
          <a:chExt cx="0" cy="0"/>
        </a:xfrm>
      </p:grpSpPr>
      <p:sp>
        <p:nvSpPr>
          <p:cNvPr id="2" name="Shape 0"/>
          <p:cNvSpPr/>
          <p:nvPr/>
        </p:nvSpPr>
        <p:spPr>
          <a:xfrm>
            <a:off x="548640" y="384048"/>
            <a:ext cx="2029968" cy="310896"/>
          </a:xfrm>
          <a:prstGeom prst="roundRect">
            <a:avLst>
              <a:gd name="adj" fmla="val 50000"/>
            </a:avLst>
          </a:prstGeom>
          <a:solidFill>
            <a:srgbClr val="E0F7EE"/>
          </a:solidFill>
          <a:ln w="12700">
            <a:solidFill>
              <a:srgbClr val="E0F7EE"/>
            </a:solidFill>
            <a:prstDash val="solid"/>
          </a:ln>
        </p:spPr>
      </p:sp>
      <p:sp>
        <p:nvSpPr>
          <p:cNvPr id="3" name="Text 1"/>
          <p:cNvSpPr txBox="1"/>
          <p:nvPr/>
        </p:nvSpPr>
        <p:spPr>
          <a:xfrm>
            <a:off x="548640" y="384048"/>
            <a:ext cx="2029968" cy="310896"/>
          </a:xfrm>
          <a:prstGeom prst="rect">
            <a:avLst/>
          </a:prstGeom>
          <a:noFill/>
          <a:ln/>
        </p:spPr>
        <p:txBody>
          <a:bodyPr wrap="square" lIns="0" tIns="0" rIns="0" bIns="0" rtlCol="0" anchor="ctr"/>
          <a:lstStyle/>
          <a:p>
            <a:pPr algn="ctr" indent="0" marL="0">
              <a:buNone/>
            </a:pPr>
            <a:r>
              <a:rPr lang="en-US" sz="1100" b="1" spc="150" kern="0" dirty="0">
                <a:solidFill>
                  <a:srgbClr val="0B4339"/>
                </a:solidFill>
                <a:latin typeface="Arial" pitchFamily="34" charset="0"/>
                <a:ea typeface="Arial" pitchFamily="34" charset="-122"/>
                <a:cs typeface="Arial" pitchFamily="34" charset="-120"/>
              </a:rPr>
              <a:t>BUSINESS IMPACT</a:t>
            </a:r>
            <a:endParaRPr lang="en-US" sz="1100" dirty="0"/>
          </a:p>
        </p:txBody>
      </p:sp>
      <p:sp>
        <p:nvSpPr>
          <p:cNvPr id="4" name="Text 2"/>
          <p:cNvSpPr txBox="1"/>
          <p:nvPr/>
        </p:nvSpPr>
        <p:spPr>
          <a:xfrm>
            <a:off x="548640" y="841248"/>
            <a:ext cx="11094415" cy="914400"/>
          </a:xfrm>
          <a:prstGeom prst="rect">
            <a:avLst/>
          </a:prstGeom>
          <a:noFill/>
          <a:ln/>
        </p:spPr>
        <p:txBody>
          <a:bodyPr wrap="square" lIns="0" tIns="0" rIns="0" bIns="0" rtlCol="0" anchor="t"/>
          <a:lstStyle/>
          <a:p>
            <a:pPr indent="0" marL="0">
              <a:buNone/>
            </a:pPr>
            <a:r>
              <a:rPr lang="en-US" sz="3400" b="1" dirty="0">
                <a:solidFill>
                  <a:srgbClr val="142130"/>
                </a:solidFill>
                <a:latin typeface="Arial" pitchFamily="34" charset="0"/>
                <a:ea typeface="Arial" pitchFamily="34" charset="-122"/>
                <a:cs typeface="Arial" pitchFamily="34" charset="-120"/>
              </a:rPr>
              <a:t>In a pilot month, all three sides come out ahead.</a:t>
            </a:r>
            <a:endParaRPr lang="en-US" sz="3400" dirty="0"/>
          </a:p>
        </p:txBody>
      </p:sp>
      <p:sp>
        <p:nvSpPr>
          <p:cNvPr id="5" name="Text 3"/>
          <p:cNvSpPr txBox="1"/>
          <p:nvPr/>
        </p:nvSpPr>
        <p:spPr>
          <a:xfrm>
            <a:off x="548640" y="1627632"/>
            <a:ext cx="11094415" cy="411480"/>
          </a:xfrm>
          <a:prstGeom prst="rect">
            <a:avLst/>
          </a:prstGeom>
          <a:noFill/>
          <a:ln/>
        </p:spPr>
        <p:txBody>
          <a:bodyPr wrap="square" lIns="0" tIns="0" rIns="0" bIns="0" rtlCol="0" anchor="t"/>
          <a:lstStyle/>
          <a:p>
            <a:pPr indent="0" marL="0">
              <a:buNone/>
            </a:pPr>
            <a:r>
              <a:rPr lang="en-US" sz="1700" dirty="0">
                <a:solidFill>
                  <a:srgbClr val="506474"/>
                </a:solidFill>
                <a:latin typeface="Arial" pitchFamily="34" charset="0"/>
                <a:ea typeface="Arial" pitchFamily="34" charset="-122"/>
                <a:cs typeface="Arial" pitchFamily="34" charset="-120"/>
              </a:rPr>
              <a:t>400 sessions × 20 kWh × €0.10 = €800 of extra savings: about 13 an evening, within the 16 the site fits.</a:t>
            </a:r>
            <a:endParaRPr lang="en-US" sz="1700" dirty="0"/>
          </a:p>
        </p:txBody>
      </p:sp>
      <p:sp>
        <p:nvSpPr>
          <p:cNvPr id="6" name="Shape 4"/>
          <p:cNvSpPr/>
          <p:nvPr/>
        </p:nvSpPr>
        <p:spPr>
          <a:xfrm>
            <a:off x="548640" y="2331720"/>
            <a:ext cx="3484778" cy="3520440"/>
          </a:xfrm>
          <a:prstGeom prst="roundRect">
            <a:avLst>
              <a:gd name="adj" fmla="val 4198"/>
            </a:avLst>
          </a:prstGeom>
          <a:solidFill>
            <a:srgbClr val="FFFFFF"/>
          </a:solidFill>
          <a:ln w="9525">
            <a:solidFill>
              <a:srgbClr val="DBE9E9"/>
            </a:solidFill>
            <a:prstDash val="solid"/>
          </a:ln>
          <a:effectLst>
            <a:outerShdw sx="100000" sy="100000" kx="0" ky="0" algn="bl" rotWithShape="0" blurRad="101600" dist="25400" dir="5400000">
              <a:srgbClr val="0B2A24">
                <a:alpha val="12000"/>
              </a:srgbClr>
            </a:outerShdw>
          </a:effectLst>
        </p:spPr>
      </p:sp>
      <p:sp>
        <p:nvSpPr>
          <p:cNvPr id="7" name="Shape 5"/>
          <p:cNvSpPr/>
          <p:nvPr/>
        </p:nvSpPr>
        <p:spPr>
          <a:xfrm>
            <a:off x="868680" y="2660904"/>
            <a:ext cx="201168" cy="201168"/>
          </a:xfrm>
          <a:prstGeom prst="ellipse">
            <a:avLst/>
          </a:prstGeom>
          <a:solidFill>
            <a:srgbClr val="1FAE6C"/>
          </a:solidFill>
          <a:ln w="12700">
            <a:solidFill>
              <a:srgbClr val="1FAE6C"/>
            </a:solidFill>
            <a:prstDash val="solid"/>
          </a:ln>
        </p:spPr>
      </p:sp>
      <p:sp>
        <p:nvSpPr>
          <p:cNvPr id="8" name="Text 6"/>
          <p:cNvSpPr txBox="1"/>
          <p:nvPr/>
        </p:nvSpPr>
        <p:spPr>
          <a:xfrm>
            <a:off x="1188720" y="2606040"/>
            <a:ext cx="2570378" cy="310896"/>
          </a:xfrm>
          <a:prstGeom prst="rect">
            <a:avLst/>
          </a:prstGeom>
          <a:noFill/>
          <a:ln/>
        </p:spPr>
        <p:txBody>
          <a:bodyPr wrap="square" lIns="0" tIns="0" rIns="0" bIns="0" rtlCol="0" anchor="t"/>
          <a:lstStyle/>
          <a:p>
            <a:pPr indent="0" marL="0">
              <a:buNone/>
            </a:pPr>
            <a:r>
              <a:rPr lang="en-US" sz="1600" b="1" dirty="0">
                <a:solidFill>
                  <a:srgbClr val="142130"/>
                </a:solidFill>
                <a:latin typeface="Arial" pitchFamily="34" charset="0"/>
                <a:ea typeface="Arial" pitchFamily="34" charset="-122"/>
                <a:cs typeface="Arial" pitchFamily="34" charset="-120"/>
              </a:rPr>
              <a:t>Drivers</a:t>
            </a:r>
            <a:endParaRPr lang="en-US" sz="1600" dirty="0"/>
          </a:p>
        </p:txBody>
      </p:sp>
      <p:sp>
        <p:nvSpPr>
          <p:cNvPr id="9" name="Text 7"/>
          <p:cNvSpPr txBox="1"/>
          <p:nvPr/>
        </p:nvSpPr>
        <p:spPr>
          <a:xfrm>
            <a:off x="868680" y="3044952"/>
            <a:ext cx="2844698" cy="731520"/>
          </a:xfrm>
          <a:prstGeom prst="rect">
            <a:avLst/>
          </a:prstGeom>
          <a:noFill/>
          <a:ln/>
        </p:spPr>
        <p:txBody>
          <a:bodyPr wrap="square" lIns="0" tIns="0" rIns="0" bIns="0" rtlCol="0" anchor="t"/>
          <a:lstStyle/>
          <a:p>
            <a:pPr indent="0" marL="0">
              <a:buNone/>
            </a:pPr>
            <a:r>
              <a:rPr lang="en-US" sz="4400" b="1" dirty="0">
                <a:solidFill>
                  <a:srgbClr val="087C59"/>
                </a:solidFill>
                <a:latin typeface="Arial" pitchFamily="34" charset="0"/>
                <a:ea typeface="Arial" pitchFamily="34" charset="-122"/>
                <a:cs typeface="Arial" pitchFamily="34" charset="-120"/>
              </a:rPr>
              <a:t>€400</a:t>
            </a:r>
            <a:endParaRPr lang="en-US" sz="4400" dirty="0"/>
          </a:p>
        </p:txBody>
      </p:sp>
      <p:sp>
        <p:nvSpPr>
          <p:cNvPr id="10" name="Text 8"/>
          <p:cNvSpPr txBox="1"/>
          <p:nvPr/>
        </p:nvSpPr>
        <p:spPr>
          <a:xfrm>
            <a:off x="868680" y="3776472"/>
            <a:ext cx="2844698" cy="274320"/>
          </a:xfrm>
          <a:prstGeom prst="rect">
            <a:avLst/>
          </a:prstGeom>
          <a:noFill/>
          <a:ln/>
        </p:spPr>
        <p:txBody>
          <a:bodyPr wrap="square" lIns="0" tIns="0" rIns="0" bIns="0" rtlCol="0" anchor="t"/>
          <a:lstStyle/>
          <a:p>
            <a:pPr indent="0" marL="0">
              <a:buNone/>
            </a:pPr>
            <a:r>
              <a:rPr lang="en-US" sz="1300" dirty="0">
                <a:solidFill>
                  <a:srgbClr val="506474"/>
                </a:solidFill>
                <a:latin typeface="Arial" pitchFamily="34" charset="0"/>
                <a:ea typeface="Arial" pitchFamily="34" charset="-122"/>
                <a:cs typeface="Arial" pitchFamily="34" charset="-120"/>
              </a:rPr>
              <a:t>saved a month</a:t>
            </a:r>
            <a:endParaRPr lang="en-US" sz="1300" dirty="0"/>
          </a:p>
        </p:txBody>
      </p:sp>
      <p:sp>
        <p:nvSpPr>
          <p:cNvPr id="11" name="Text 9"/>
          <p:cNvSpPr txBox="1"/>
          <p:nvPr/>
        </p:nvSpPr>
        <p:spPr>
          <a:xfrm>
            <a:off x="868680" y="4206240"/>
            <a:ext cx="2844698" cy="274320"/>
          </a:xfrm>
          <a:prstGeom prst="rect">
            <a:avLst/>
          </a:prstGeom>
          <a:noFill/>
          <a:ln/>
        </p:spPr>
        <p:txBody>
          <a:bodyPr wrap="square" lIns="0" tIns="0" rIns="0" bIns="0" rtlCol="0" anchor="t"/>
          <a:lstStyle/>
          <a:p>
            <a:pPr indent="0" marL="0">
              <a:buNone/>
            </a:pPr>
            <a:r>
              <a:rPr lang="en-US" sz="1300" dirty="0">
                <a:solidFill>
                  <a:srgbClr val="506474"/>
                </a:solidFill>
                <a:latin typeface="Arial" pitchFamily="34" charset="0"/>
                <a:ea typeface="Arial" pitchFamily="34" charset="-122"/>
                <a:cs typeface="Arial" pitchFamily="34" charset="-120"/>
              </a:rPr>
              <a:t>€1.00 off each 20 kWh charge</a:t>
            </a:r>
            <a:endParaRPr lang="en-US" sz="1300" dirty="0"/>
          </a:p>
        </p:txBody>
      </p:sp>
      <p:sp>
        <p:nvSpPr>
          <p:cNvPr id="12" name="Text 10"/>
          <p:cNvSpPr txBox="1"/>
          <p:nvPr/>
        </p:nvSpPr>
        <p:spPr>
          <a:xfrm>
            <a:off x="868680" y="4535424"/>
            <a:ext cx="2844698" cy="274320"/>
          </a:xfrm>
          <a:prstGeom prst="rect">
            <a:avLst/>
          </a:prstGeom>
          <a:noFill/>
          <a:ln/>
        </p:spPr>
        <p:txBody>
          <a:bodyPr wrap="square" lIns="0" tIns="0" rIns="0" bIns="0" rtlCol="0" anchor="t"/>
          <a:lstStyle/>
          <a:p>
            <a:pPr indent="0" marL="0">
              <a:buNone/>
            </a:pPr>
            <a:r>
              <a:rPr lang="en-US" sz="1300" dirty="0">
                <a:solidFill>
                  <a:srgbClr val="506474"/>
                </a:solidFill>
                <a:latin typeface="Arial" pitchFamily="34" charset="0"/>
                <a:ea typeface="Arial" pitchFamily="34" charset="-122"/>
                <a:cs typeface="Arial" pitchFamily="34" charset="-120"/>
              </a:rPr>
              <a:t>Joining is free</a:t>
            </a:r>
            <a:endParaRPr lang="en-US" sz="1300" dirty="0"/>
          </a:p>
        </p:txBody>
      </p:sp>
      <p:sp>
        <p:nvSpPr>
          <p:cNvPr id="13" name="Text 11"/>
          <p:cNvSpPr txBox="1"/>
          <p:nvPr/>
        </p:nvSpPr>
        <p:spPr>
          <a:xfrm>
            <a:off x="868680" y="4864608"/>
            <a:ext cx="2844698" cy="274320"/>
          </a:xfrm>
          <a:prstGeom prst="rect">
            <a:avLst/>
          </a:prstGeom>
          <a:noFill/>
          <a:ln/>
        </p:spPr>
        <p:txBody>
          <a:bodyPr wrap="square" lIns="0" tIns="0" rIns="0" bIns="0" rtlCol="0" anchor="t"/>
          <a:lstStyle/>
          <a:p>
            <a:pPr indent="0" marL="0">
              <a:buNone/>
            </a:pPr>
            <a:r>
              <a:rPr lang="en-US" sz="1300" dirty="0">
                <a:solidFill>
                  <a:srgbClr val="506474"/>
                </a:solidFill>
                <a:latin typeface="Arial" pitchFamily="34" charset="0"/>
                <a:ea typeface="Arial" pitchFamily="34" charset="-122"/>
                <a:cs typeface="Arial" pitchFamily="34" charset="-120"/>
              </a:rPr>
              <a:t>Normal price always available</a:t>
            </a:r>
            <a:endParaRPr lang="en-US" sz="1300" dirty="0"/>
          </a:p>
        </p:txBody>
      </p:sp>
      <p:sp>
        <p:nvSpPr>
          <p:cNvPr id="14" name="Shape 12"/>
          <p:cNvSpPr/>
          <p:nvPr/>
        </p:nvSpPr>
        <p:spPr>
          <a:xfrm>
            <a:off x="777240" y="5248656"/>
            <a:ext cx="3027578" cy="384048"/>
          </a:xfrm>
          <a:prstGeom prst="roundRect">
            <a:avLst>
              <a:gd name="adj" fmla="val 50000"/>
            </a:avLst>
          </a:prstGeom>
          <a:solidFill>
            <a:srgbClr val="E0F7EE"/>
          </a:solidFill>
          <a:ln w="12700">
            <a:solidFill>
              <a:srgbClr val="E0F7EE"/>
            </a:solidFill>
            <a:prstDash val="solid"/>
          </a:ln>
        </p:spPr>
      </p:sp>
      <p:sp>
        <p:nvSpPr>
          <p:cNvPr id="15" name="Text 13"/>
          <p:cNvSpPr txBox="1"/>
          <p:nvPr/>
        </p:nvSpPr>
        <p:spPr>
          <a:xfrm>
            <a:off x="777240" y="5248656"/>
            <a:ext cx="3027578" cy="384048"/>
          </a:xfrm>
          <a:prstGeom prst="rect">
            <a:avLst/>
          </a:prstGeom>
          <a:noFill/>
          <a:ln/>
        </p:spPr>
        <p:txBody>
          <a:bodyPr wrap="square" lIns="0" tIns="0" rIns="0" bIns="0" rtlCol="0" anchor="ctr"/>
          <a:lstStyle/>
          <a:p>
            <a:pPr algn="ctr" indent="0" marL="0">
              <a:buNone/>
            </a:pPr>
            <a:r>
              <a:rPr lang="en-US" sz="1200" b="1" dirty="0">
                <a:solidFill>
                  <a:srgbClr val="142130"/>
                </a:solidFill>
                <a:latin typeface="Arial" pitchFamily="34" charset="0"/>
                <a:ea typeface="Arial" pitchFamily="34" charset="-122"/>
                <a:cs typeface="Arial" pitchFamily="34" charset="-120"/>
              </a:rPr>
              <a:t>No fees, prices shown up front</a:t>
            </a:r>
            <a:endParaRPr lang="en-US" sz="1200" dirty="0"/>
          </a:p>
        </p:txBody>
      </p:sp>
      <p:sp>
        <p:nvSpPr>
          <p:cNvPr id="16" name="Shape 14"/>
          <p:cNvSpPr/>
          <p:nvPr/>
        </p:nvSpPr>
        <p:spPr>
          <a:xfrm>
            <a:off x="4353458" y="2331720"/>
            <a:ext cx="3484778" cy="3520440"/>
          </a:xfrm>
          <a:prstGeom prst="roundRect">
            <a:avLst>
              <a:gd name="adj" fmla="val 4198"/>
            </a:avLst>
          </a:prstGeom>
          <a:solidFill>
            <a:srgbClr val="FFFFFF"/>
          </a:solidFill>
          <a:ln w="9525">
            <a:solidFill>
              <a:srgbClr val="DBE9E9"/>
            </a:solidFill>
            <a:prstDash val="solid"/>
          </a:ln>
          <a:effectLst>
            <a:outerShdw sx="100000" sy="100000" kx="0" ky="0" algn="bl" rotWithShape="0" blurRad="101600" dist="25400" dir="5400000">
              <a:srgbClr val="0B2A24">
                <a:alpha val="12000"/>
              </a:srgbClr>
            </a:outerShdw>
          </a:effectLst>
        </p:spPr>
      </p:sp>
      <p:sp>
        <p:nvSpPr>
          <p:cNvPr id="17" name="Shape 15"/>
          <p:cNvSpPr/>
          <p:nvPr/>
        </p:nvSpPr>
        <p:spPr>
          <a:xfrm>
            <a:off x="4673498" y="2660904"/>
            <a:ext cx="201168" cy="201168"/>
          </a:xfrm>
          <a:prstGeom prst="ellipse">
            <a:avLst/>
          </a:prstGeom>
          <a:solidFill>
            <a:srgbClr val="0F9D8A"/>
          </a:solidFill>
          <a:ln w="12700">
            <a:solidFill>
              <a:srgbClr val="0F9D8A"/>
            </a:solidFill>
            <a:prstDash val="solid"/>
          </a:ln>
        </p:spPr>
      </p:sp>
      <p:sp>
        <p:nvSpPr>
          <p:cNvPr id="18" name="Text 16"/>
          <p:cNvSpPr txBox="1"/>
          <p:nvPr/>
        </p:nvSpPr>
        <p:spPr>
          <a:xfrm>
            <a:off x="4993538" y="2606040"/>
            <a:ext cx="2570378" cy="310896"/>
          </a:xfrm>
          <a:prstGeom prst="rect">
            <a:avLst/>
          </a:prstGeom>
          <a:noFill/>
          <a:ln/>
        </p:spPr>
        <p:txBody>
          <a:bodyPr wrap="square" lIns="0" tIns="0" rIns="0" bIns="0" rtlCol="0" anchor="t"/>
          <a:lstStyle/>
          <a:p>
            <a:pPr indent="0" marL="0">
              <a:buNone/>
            </a:pPr>
            <a:r>
              <a:rPr lang="en-US" sz="1600" b="1" dirty="0">
                <a:solidFill>
                  <a:srgbClr val="142130"/>
                </a:solidFill>
                <a:latin typeface="Arial" pitchFamily="34" charset="0"/>
                <a:ea typeface="Arial" pitchFamily="34" charset="-122"/>
                <a:cs typeface="Arial" pitchFamily="34" charset="-120"/>
              </a:rPr>
              <a:t>Charging operator</a:t>
            </a:r>
            <a:endParaRPr lang="en-US" sz="1600" dirty="0"/>
          </a:p>
        </p:txBody>
      </p:sp>
      <p:sp>
        <p:nvSpPr>
          <p:cNvPr id="19" name="Text 17"/>
          <p:cNvSpPr txBox="1"/>
          <p:nvPr/>
        </p:nvSpPr>
        <p:spPr>
          <a:xfrm>
            <a:off x="4673498" y="3044952"/>
            <a:ext cx="2844698" cy="731520"/>
          </a:xfrm>
          <a:prstGeom prst="rect">
            <a:avLst/>
          </a:prstGeom>
          <a:noFill/>
          <a:ln/>
        </p:spPr>
        <p:txBody>
          <a:bodyPr wrap="square" lIns="0" tIns="0" rIns="0" bIns="0" rtlCol="0" anchor="t"/>
          <a:lstStyle/>
          <a:p>
            <a:pPr indent="0" marL="0">
              <a:buNone/>
            </a:pPr>
            <a:r>
              <a:rPr lang="en-US" sz="4400" b="1" dirty="0">
                <a:solidFill>
                  <a:srgbClr val="0F9D8A"/>
                </a:solidFill>
                <a:latin typeface="Arial" pitchFamily="34" charset="0"/>
                <a:ea typeface="Arial" pitchFamily="34" charset="-122"/>
                <a:cs typeface="Arial" pitchFamily="34" charset="-120"/>
              </a:rPr>
              <a:t>+€100</a:t>
            </a:r>
            <a:endParaRPr lang="en-US" sz="4400" dirty="0"/>
          </a:p>
        </p:txBody>
      </p:sp>
      <p:sp>
        <p:nvSpPr>
          <p:cNvPr id="20" name="Text 18"/>
          <p:cNvSpPr txBox="1"/>
          <p:nvPr/>
        </p:nvSpPr>
        <p:spPr>
          <a:xfrm>
            <a:off x="4673498" y="3776472"/>
            <a:ext cx="2844698" cy="274320"/>
          </a:xfrm>
          <a:prstGeom prst="rect">
            <a:avLst/>
          </a:prstGeom>
          <a:noFill/>
          <a:ln/>
        </p:spPr>
        <p:txBody>
          <a:bodyPr wrap="square" lIns="0" tIns="0" rIns="0" bIns="0" rtlCol="0" anchor="t"/>
          <a:lstStyle/>
          <a:p>
            <a:pPr indent="0" marL="0">
              <a:buNone/>
            </a:pPr>
            <a:r>
              <a:rPr lang="en-US" sz="1300" dirty="0">
                <a:solidFill>
                  <a:srgbClr val="506474"/>
                </a:solidFill>
                <a:latin typeface="Arial" pitchFamily="34" charset="0"/>
                <a:ea typeface="Arial" pitchFamily="34" charset="-122"/>
                <a:cs typeface="Arial" pitchFamily="34" charset="-120"/>
              </a:rPr>
              <a:t>extra profit a month</a:t>
            </a:r>
            <a:endParaRPr lang="en-US" sz="1300" dirty="0"/>
          </a:p>
        </p:txBody>
      </p:sp>
      <p:sp>
        <p:nvSpPr>
          <p:cNvPr id="21" name="Text 19"/>
          <p:cNvSpPr txBox="1"/>
          <p:nvPr/>
        </p:nvSpPr>
        <p:spPr>
          <a:xfrm>
            <a:off x="4673498" y="4206240"/>
            <a:ext cx="1747418" cy="274320"/>
          </a:xfrm>
          <a:prstGeom prst="rect">
            <a:avLst/>
          </a:prstGeom>
          <a:noFill/>
          <a:ln/>
        </p:spPr>
        <p:txBody>
          <a:bodyPr wrap="square" lIns="0" tIns="0" rIns="0" bIns="0" rtlCol="0" anchor="t"/>
          <a:lstStyle/>
          <a:p>
            <a:pPr indent="0" marL="0">
              <a:buNone/>
            </a:pPr>
            <a:r>
              <a:rPr lang="en-US" sz="1300" dirty="0">
                <a:solidFill>
                  <a:srgbClr val="506474"/>
                </a:solidFill>
                <a:latin typeface="Arial" pitchFamily="34" charset="0"/>
                <a:ea typeface="Arial" pitchFamily="34" charset="-122"/>
                <a:cs typeface="Arial" pitchFamily="34" charset="-120"/>
              </a:rPr>
              <a:t>25% share</a:t>
            </a:r>
            <a:endParaRPr lang="en-US" sz="1300" dirty="0"/>
          </a:p>
        </p:txBody>
      </p:sp>
      <p:sp>
        <p:nvSpPr>
          <p:cNvPr id="22" name="Text 20"/>
          <p:cNvSpPr txBox="1"/>
          <p:nvPr/>
        </p:nvSpPr>
        <p:spPr>
          <a:xfrm>
            <a:off x="6420917" y="4206240"/>
            <a:ext cx="1097280" cy="274320"/>
          </a:xfrm>
          <a:prstGeom prst="rect">
            <a:avLst/>
          </a:prstGeom>
          <a:noFill/>
          <a:ln/>
        </p:spPr>
        <p:txBody>
          <a:bodyPr wrap="square" lIns="0" tIns="0" rIns="0" bIns="0" rtlCol="0" anchor="t"/>
          <a:lstStyle/>
          <a:p>
            <a:pPr algn="r" indent="0" marL="0">
              <a:buNone/>
            </a:pPr>
            <a:r>
              <a:rPr lang="en-US" sz="1300" b="1" dirty="0">
                <a:solidFill>
                  <a:srgbClr val="142130"/>
                </a:solidFill>
                <a:latin typeface="Arial" pitchFamily="34" charset="0"/>
                <a:ea typeface="Arial" pitchFamily="34" charset="-122"/>
                <a:cs typeface="Arial" pitchFamily="34" charset="-120"/>
              </a:rPr>
              <a:t>€200</a:t>
            </a:r>
            <a:endParaRPr lang="en-US" sz="1300" dirty="0"/>
          </a:p>
        </p:txBody>
      </p:sp>
      <p:sp>
        <p:nvSpPr>
          <p:cNvPr id="23" name="Text 21"/>
          <p:cNvSpPr txBox="1"/>
          <p:nvPr/>
        </p:nvSpPr>
        <p:spPr>
          <a:xfrm>
            <a:off x="4673498" y="4535424"/>
            <a:ext cx="1747418" cy="274320"/>
          </a:xfrm>
          <a:prstGeom prst="rect">
            <a:avLst/>
          </a:prstGeom>
          <a:noFill/>
          <a:ln/>
        </p:spPr>
        <p:txBody>
          <a:bodyPr wrap="square" lIns="0" tIns="0" rIns="0" bIns="0" rtlCol="0" anchor="t"/>
          <a:lstStyle/>
          <a:p>
            <a:pPr indent="0" marL="0">
              <a:buNone/>
            </a:pPr>
            <a:r>
              <a:rPr lang="en-US" sz="1300" dirty="0">
                <a:solidFill>
                  <a:srgbClr val="506474"/>
                </a:solidFill>
                <a:latin typeface="Arial" pitchFamily="34" charset="0"/>
                <a:ea typeface="Arial" pitchFamily="34" charset="-122"/>
                <a:cs typeface="Arial" pitchFamily="34" charset="-120"/>
              </a:rPr>
              <a:t>Programme costs</a:t>
            </a:r>
            <a:endParaRPr lang="en-US" sz="1300" dirty="0"/>
          </a:p>
        </p:txBody>
      </p:sp>
      <p:sp>
        <p:nvSpPr>
          <p:cNvPr id="24" name="Text 22"/>
          <p:cNvSpPr txBox="1"/>
          <p:nvPr/>
        </p:nvSpPr>
        <p:spPr>
          <a:xfrm>
            <a:off x="6420917" y="4535424"/>
            <a:ext cx="1097280" cy="274320"/>
          </a:xfrm>
          <a:prstGeom prst="rect">
            <a:avLst/>
          </a:prstGeom>
          <a:noFill/>
          <a:ln/>
        </p:spPr>
        <p:txBody>
          <a:bodyPr wrap="square" lIns="0" tIns="0" rIns="0" bIns="0" rtlCol="0" anchor="t"/>
          <a:lstStyle/>
          <a:p>
            <a:pPr algn="r" indent="0" marL="0">
              <a:buNone/>
            </a:pPr>
            <a:r>
              <a:rPr lang="en-US" sz="1300" b="1" dirty="0">
                <a:solidFill>
                  <a:srgbClr val="142130"/>
                </a:solidFill>
                <a:latin typeface="Arial" pitchFamily="34" charset="0"/>
                <a:ea typeface="Arial" pitchFamily="34" charset="-122"/>
                <a:cs typeface="Arial" pitchFamily="34" charset="-120"/>
              </a:rPr>
              <a:t>−€100</a:t>
            </a:r>
            <a:endParaRPr lang="en-US" sz="1300" dirty="0"/>
          </a:p>
        </p:txBody>
      </p:sp>
      <p:sp>
        <p:nvSpPr>
          <p:cNvPr id="25" name="Shape 23"/>
          <p:cNvSpPr/>
          <p:nvPr/>
        </p:nvSpPr>
        <p:spPr>
          <a:xfrm>
            <a:off x="4582058" y="5248656"/>
            <a:ext cx="3027578" cy="384048"/>
          </a:xfrm>
          <a:prstGeom prst="roundRect">
            <a:avLst>
              <a:gd name="adj" fmla="val 50000"/>
            </a:avLst>
          </a:prstGeom>
          <a:solidFill>
            <a:srgbClr val="D8F3EE"/>
          </a:solidFill>
          <a:ln w="12700">
            <a:solidFill>
              <a:srgbClr val="D8F3EE"/>
            </a:solidFill>
            <a:prstDash val="solid"/>
          </a:ln>
        </p:spPr>
      </p:sp>
      <p:sp>
        <p:nvSpPr>
          <p:cNvPr id="26" name="Text 24"/>
          <p:cNvSpPr txBox="1"/>
          <p:nvPr/>
        </p:nvSpPr>
        <p:spPr>
          <a:xfrm>
            <a:off x="4582058" y="5248656"/>
            <a:ext cx="3027578" cy="384048"/>
          </a:xfrm>
          <a:prstGeom prst="rect">
            <a:avLst/>
          </a:prstGeom>
          <a:noFill/>
          <a:ln/>
        </p:spPr>
        <p:txBody>
          <a:bodyPr wrap="square" lIns="0" tIns="0" rIns="0" bIns="0" rtlCol="0" anchor="ctr"/>
          <a:lstStyle/>
          <a:p>
            <a:pPr algn="ctr" indent="0" marL="0">
              <a:buNone/>
            </a:pPr>
            <a:r>
              <a:rPr lang="en-US" sz="1200" b="1" dirty="0">
                <a:solidFill>
                  <a:srgbClr val="142130"/>
                </a:solidFill>
                <a:latin typeface="Arial" pitchFamily="34" charset="0"/>
                <a:ea typeface="Arial" pitchFamily="34" charset="-122"/>
                <a:cs typeface="Arial" pitchFamily="34" charset="-120"/>
              </a:rPr>
              <a:t>Breaks even at 200 sessions</a:t>
            </a:r>
            <a:endParaRPr lang="en-US" sz="1200" dirty="0"/>
          </a:p>
        </p:txBody>
      </p:sp>
      <p:sp>
        <p:nvSpPr>
          <p:cNvPr id="27" name="Shape 25"/>
          <p:cNvSpPr/>
          <p:nvPr/>
        </p:nvSpPr>
        <p:spPr>
          <a:xfrm>
            <a:off x="8158277" y="2331720"/>
            <a:ext cx="3484778" cy="3520440"/>
          </a:xfrm>
          <a:prstGeom prst="roundRect">
            <a:avLst>
              <a:gd name="adj" fmla="val 4198"/>
            </a:avLst>
          </a:prstGeom>
          <a:solidFill>
            <a:srgbClr val="FFFFFF"/>
          </a:solidFill>
          <a:ln w="9525">
            <a:solidFill>
              <a:srgbClr val="DBE9E9"/>
            </a:solidFill>
            <a:prstDash val="solid"/>
          </a:ln>
          <a:effectLst>
            <a:outerShdw sx="100000" sy="100000" kx="0" ky="0" algn="bl" rotWithShape="0" blurRad="101600" dist="25400" dir="5400000">
              <a:srgbClr val="0B2A24">
                <a:alpha val="12000"/>
              </a:srgbClr>
            </a:outerShdw>
          </a:effectLst>
        </p:spPr>
      </p:sp>
      <p:sp>
        <p:nvSpPr>
          <p:cNvPr id="28" name="Shape 26"/>
          <p:cNvSpPr/>
          <p:nvPr/>
        </p:nvSpPr>
        <p:spPr>
          <a:xfrm>
            <a:off x="8478317" y="2660904"/>
            <a:ext cx="201168" cy="201168"/>
          </a:xfrm>
          <a:prstGeom prst="ellipse">
            <a:avLst/>
          </a:prstGeom>
          <a:solidFill>
            <a:srgbClr val="2F7BE0"/>
          </a:solidFill>
          <a:ln w="12700">
            <a:solidFill>
              <a:srgbClr val="2F7BE0"/>
            </a:solidFill>
            <a:prstDash val="solid"/>
          </a:ln>
        </p:spPr>
      </p:sp>
      <p:sp>
        <p:nvSpPr>
          <p:cNvPr id="29" name="Text 27"/>
          <p:cNvSpPr txBox="1"/>
          <p:nvPr/>
        </p:nvSpPr>
        <p:spPr>
          <a:xfrm>
            <a:off x="8798357" y="2606040"/>
            <a:ext cx="2570378" cy="310896"/>
          </a:xfrm>
          <a:prstGeom prst="rect">
            <a:avLst/>
          </a:prstGeom>
          <a:noFill/>
          <a:ln/>
        </p:spPr>
        <p:txBody>
          <a:bodyPr wrap="square" lIns="0" tIns="0" rIns="0" bIns="0" rtlCol="0" anchor="t"/>
          <a:lstStyle/>
          <a:p>
            <a:pPr indent="0" marL="0">
              <a:buNone/>
            </a:pPr>
            <a:r>
              <a:rPr lang="en-US" sz="1600" b="1" dirty="0">
                <a:solidFill>
                  <a:srgbClr val="142130"/>
                </a:solidFill>
                <a:latin typeface="Arial" pitchFamily="34" charset="0"/>
                <a:ea typeface="Arial" pitchFamily="34" charset="-122"/>
                <a:cs typeface="Arial" pitchFamily="34" charset="-120"/>
              </a:rPr>
              <a:t>SaveThePlanet</a:t>
            </a:r>
            <a:endParaRPr lang="en-US" sz="1600" dirty="0"/>
          </a:p>
        </p:txBody>
      </p:sp>
      <p:sp>
        <p:nvSpPr>
          <p:cNvPr id="30" name="Text 28"/>
          <p:cNvSpPr txBox="1"/>
          <p:nvPr/>
        </p:nvSpPr>
        <p:spPr>
          <a:xfrm>
            <a:off x="8478317" y="3044952"/>
            <a:ext cx="2844698" cy="731520"/>
          </a:xfrm>
          <a:prstGeom prst="rect">
            <a:avLst/>
          </a:prstGeom>
          <a:noFill/>
          <a:ln/>
        </p:spPr>
        <p:txBody>
          <a:bodyPr wrap="square" lIns="0" tIns="0" rIns="0" bIns="0" rtlCol="0" anchor="t"/>
          <a:lstStyle/>
          <a:p>
            <a:pPr indent="0" marL="0">
              <a:buNone/>
            </a:pPr>
            <a:r>
              <a:rPr lang="en-US" sz="4400" b="1" dirty="0">
                <a:solidFill>
                  <a:srgbClr val="2F7BE0"/>
                </a:solidFill>
                <a:latin typeface="Arial" pitchFamily="34" charset="0"/>
                <a:ea typeface="Arial" pitchFamily="34" charset="-122"/>
                <a:cs typeface="Arial" pitchFamily="34" charset="-120"/>
              </a:rPr>
              <a:t>+€40</a:t>
            </a:r>
            <a:endParaRPr lang="en-US" sz="4400" dirty="0"/>
          </a:p>
        </p:txBody>
      </p:sp>
      <p:sp>
        <p:nvSpPr>
          <p:cNvPr id="31" name="Text 29"/>
          <p:cNvSpPr txBox="1"/>
          <p:nvPr/>
        </p:nvSpPr>
        <p:spPr>
          <a:xfrm>
            <a:off x="8478317" y="3776472"/>
            <a:ext cx="2844698" cy="274320"/>
          </a:xfrm>
          <a:prstGeom prst="rect">
            <a:avLst/>
          </a:prstGeom>
          <a:noFill/>
          <a:ln/>
        </p:spPr>
        <p:txBody>
          <a:bodyPr wrap="square" lIns="0" tIns="0" rIns="0" bIns="0" rtlCol="0" anchor="t"/>
          <a:lstStyle/>
          <a:p>
            <a:pPr indent="0" marL="0">
              <a:buNone/>
            </a:pPr>
            <a:r>
              <a:rPr lang="en-US" sz="1300" dirty="0">
                <a:solidFill>
                  <a:srgbClr val="506474"/>
                </a:solidFill>
                <a:latin typeface="Arial" pitchFamily="34" charset="0"/>
                <a:ea typeface="Arial" pitchFamily="34" charset="-122"/>
                <a:cs typeface="Arial" pitchFamily="34" charset="-120"/>
              </a:rPr>
              <a:t>operating profit a month</a:t>
            </a:r>
            <a:endParaRPr lang="en-US" sz="1300" dirty="0"/>
          </a:p>
        </p:txBody>
      </p:sp>
      <p:sp>
        <p:nvSpPr>
          <p:cNvPr id="32" name="Text 30"/>
          <p:cNvSpPr txBox="1"/>
          <p:nvPr/>
        </p:nvSpPr>
        <p:spPr>
          <a:xfrm>
            <a:off x="8478317" y="4206240"/>
            <a:ext cx="1747418" cy="274320"/>
          </a:xfrm>
          <a:prstGeom prst="rect">
            <a:avLst/>
          </a:prstGeom>
          <a:noFill/>
          <a:ln/>
        </p:spPr>
        <p:txBody>
          <a:bodyPr wrap="square" lIns="0" tIns="0" rIns="0" bIns="0" rtlCol="0" anchor="t"/>
          <a:lstStyle/>
          <a:p>
            <a:pPr indent="0" marL="0">
              <a:buNone/>
            </a:pPr>
            <a:r>
              <a:rPr lang="en-US" sz="1300" dirty="0">
                <a:solidFill>
                  <a:srgbClr val="506474"/>
                </a:solidFill>
                <a:latin typeface="Arial" pitchFamily="34" charset="0"/>
                <a:ea typeface="Arial" pitchFamily="34" charset="-122"/>
                <a:cs typeface="Arial" pitchFamily="34" charset="-120"/>
              </a:rPr>
              <a:t>Commission</a:t>
            </a:r>
            <a:endParaRPr lang="en-US" sz="1300" dirty="0"/>
          </a:p>
        </p:txBody>
      </p:sp>
      <p:sp>
        <p:nvSpPr>
          <p:cNvPr id="33" name="Text 31"/>
          <p:cNvSpPr txBox="1"/>
          <p:nvPr/>
        </p:nvSpPr>
        <p:spPr>
          <a:xfrm>
            <a:off x="10225735" y="4206240"/>
            <a:ext cx="1097280" cy="274320"/>
          </a:xfrm>
          <a:prstGeom prst="rect">
            <a:avLst/>
          </a:prstGeom>
          <a:noFill/>
          <a:ln/>
        </p:spPr>
        <p:txBody>
          <a:bodyPr wrap="square" lIns="0" tIns="0" rIns="0" bIns="0" rtlCol="0" anchor="t"/>
          <a:lstStyle/>
          <a:p>
            <a:pPr algn="r" indent="0" marL="0">
              <a:buNone/>
            </a:pPr>
            <a:r>
              <a:rPr lang="en-US" sz="1300" b="1" dirty="0">
                <a:solidFill>
                  <a:srgbClr val="142130"/>
                </a:solidFill>
                <a:latin typeface="Arial" pitchFamily="34" charset="0"/>
                <a:ea typeface="Arial" pitchFamily="34" charset="-122"/>
                <a:cs typeface="Arial" pitchFamily="34" charset="-120"/>
              </a:rPr>
              <a:t>€200</a:t>
            </a:r>
            <a:endParaRPr lang="en-US" sz="1300" dirty="0"/>
          </a:p>
        </p:txBody>
      </p:sp>
      <p:sp>
        <p:nvSpPr>
          <p:cNvPr id="34" name="Text 32"/>
          <p:cNvSpPr txBox="1"/>
          <p:nvPr/>
        </p:nvSpPr>
        <p:spPr>
          <a:xfrm>
            <a:off x="8478317" y="4535424"/>
            <a:ext cx="1747418" cy="274320"/>
          </a:xfrm>
          <a:prstGeom prst="rect">
            <a:avLst/>
          </a:prstGeom>
          <a:noFill/>
          <a:ln/>
        </p:spPr>
        <p:txBody>
          <a:bodyPr wrap="square" lIns="0" tIns="0" rIns="0" bIns="0" rtlCol="0" anchor="t"/>
          <a:lstStyle/>
          <a:p>
            <a:pPr indent="0" marL="0">
              <a:buNone/>
            </a:pPr>
            <a:r>
              <a:rPr lang="en-US" sz="1300" dirty="0">
                <a:solidFill>
                  <a:srgbClr val="506474"/>
                </a:solidFill>
                <a:latin typeface="Arial" pitchFamily="34" charset="0"/>
                <a:ea typeface="Arial" pitchFamily="34" charset="-122"/>
                <a:cs typeface="Arial" pitchFamily="34" charset="-120"/>
              </a:rPr>
              <a:t>Per-session costs</a:t>
            </a:r>
            <a:endParaRPr lang="en-US" sz="1300" dirty="0"/>
          </a:p>
        </p:txBody>
      </p:sp>
      <p:sp>
        <p:nvSpPr>
          <p:cNvPr id="35" name="Text 33"/>
          <p:cNvSpPr txBox="1"/>
          <p:nvPr/>
        </p:nvSpPr>
        <p:spPr>
          <a:xfrm>
            <a:off x="10225735" y="4535424"/>
            <a:ext cx="1097280" cy="274320"/>
          </a:xfrm>
          <a:prstGeom prst="rect">
            <a:avLst/>
          </a:prstGeom>
          <a:noFill/>
          <a:ln/>
        </p:spPr>
        <p:txBody>
          <a:bodyPr wrap="square" lIns="0" tIns="0" rIns="0" bIns="0" rtlCol="0" anchor="t"/>
          <a:lstStyle/>
          <a:p>
            <a:pPr algn="r" indent="0" marL="0">
              <a:buNone/>
            </a:pPr>
            <a:r>
              <a:rPr lang="en-US" sz="1300" b="1" dirty="0">
                <a:solidFill>
                  <a:srgbClr val="142130"/>
                </a:solidFill>
                <a:latin typeface="Arial" pitchFamily="34" charset="0"/>
                <a:ea typeface="Arial" pitchFamily="34" charset="-122"/>
                <a:cs typeface="Arial" pitchFamily="34" charset="-120"/>
              </a:rPr>
              <a:t>−€40</a:t>
            </a:r>
            <a:endParaRPr lang="en-US" sz="1300" dirty="0"/>
          </a:p>
        </p:txBody>
      </p:sp>
      <p:sp>
        <p:nvSpPr>
          <p:cNvPr id="36" name="Text 34"/>
          <p:cNvSpPr txBox="1"/>
          <p:nvPr/>
        </p:nvSpPr>
        <p:spPr>
          <a:xfrm>
            <a:off x="8478317" y="4864608"/>
            <a:ext cx="1747418" cy="274320"/>
          </a:xfrm>
          <a:prstGeom prst="rect">
            <a:avLst/>
          </a:prstGeom>
          <a:noFill/>
          <a:ln/>
        </p:spPr>
        <p:txBody>
          <a:bodyPr wrap="square" lIns="0" tIns="0" rIns="0" bIns="0" rtlCol="0" anchor="t"/>
          <a:lstStyle/>
          <a:p>
            <a:pPr indent="0" marL="0">
              <a:buNone/>
            </a:pPr>
            <a:r>
              <a:rPr lang="en-US" sz="1300" dirty="0">
                <a:solidFill>
                  <a:srgbClr val="506474"/>
                </a:solidFill>
                <a:latin typeface="Arial" pitchFamily="34" charset="0"/>
                <a:ea typeface="Arial" pitchFamily="34" charset="-122"/>
                <a:cs typeface="Arial" pitchFamily="34" charset="-120"/>
              </a:rPr>
              <a:t>Overhead</a:t>
            </a:r>
            <a:endParaRPr lang="en-US" sz="1300" dirty="0"/>
          </a:p>
        </p:txBody>
      </p:sp>
      <p:sp>
        <p:nvSpPr>
          <p:cNvPr id="37" name="Text 35"/>
          <p:cNvSpPr txBox="1"/>
          <p:nvPr/>
        </p:nvSpPr>
        <p:spPr>
          <a:xfrm>
            <a:off x="10225735" y="4864608"/>
            <a:ext cx="1097280" cy="274320"/>
          </a:xfrm>
          <a:prstGeom prst="rect">
            <a:avLst/>
          </a:prstGeom>
          <a:noFill/>
          <a:ln/>
        </p:spPr>
        <p:txBody>
          <a:bodyPr wrap="square" lIns="0" tIns="0" rIns="0" bIns="0" rtlCol="0" anchor="t"/>
          <a:lstStyle/>
          <a:p>
            <a:pPr algn="r" indent="0" marL="0">
              <a:buNone/>
            </a:pPr>
            <a:r>
              <a:rPr lang="en-US" sz="1300" b="1" dirty="0">
                <a:solidFill>
                  <a:srgbClr val="142130"/>
                </a:solidFill>
                <a:latin typeface="Arial" pitchFamily="34" charset="0"/>
                <a:ea typeface="Arial" pitchFamily="34" charset="-122"/>
                <a:cs typeface="Arial" pitchFamily="34" charset="-120"/>
              </a:rPr>
              <a:t>−€120</a:t>
            </a:r>
            <a:endParaRPr lang="en-US" sz="1300" dirty="0"/>
          </a:p>
        </p:txBody>
      </p:sp>
      <p:sp>
        <p:nvSpPr>
          <p:cNvPr id="38" name="Shape 36"/>
          <p:cNvSpPr/>
          <p:nvPr/>
        </p:nvSpPr>
        <p:spPr>
          <a:xfrm>
            <a:off x="8386877" y="5248656"/>
            <a:ext cx="3027578" cy="384048"/>
          </a:xfrm>
          <a:prstGeom prst="roundRect">
            <a:avLst>
              <a:gd name="adj" fmla="val 50000"/>
            </a:avLst>
          </a:prstGeom>
          <a:solidFill>
            <a:srgbClr val="E4EFFF"/>
          </a:solidFill>
          <a:ln w="12700">
            <a:solidFill>
              <a:srgbClr val="E4EFFF"/>
            </a:solidFill>
            <a:prstDash val="solid"/>
          </a:ln>
        </p:spPr>
      </p:sp>
      <p:sp>
        <p:nvSpPr>
          <p:cNvPr id="39" name="Text 37"/>
          <p:cNvSpPr txBox="1"/>
          <p:nvPr/>
        </p:nvSpPr>
        <p:spPr>
          <a:xfrm>
            <a:off x="8386877" y="5248656"/>
            <a:ext cx="3027578" cy="384048"/>
          </a:xfrm>
          <a:prstGeom prst="rect">
            <a:avLst/>
          </a:prstGeom>
          <a:noFill/>
          <a:ln/>
        </p:spPr>
        <p:txBody>
          <a:bodyPr wrap="square" lIns="0" tIns="0" rIns="0" bIns="0" rtlCol="0" anchor="ctr"/>
          <a:lstStyle/>
          <a:p>
            <a:pPr algn="ctr" indent="0" marL="0">
              <a:buNone/>
            </a:pPr>
            <a:r>
              <a:rPr lang="en-US" sz="1200" b="1" dirty="0">
                <a:solidFill>
                  <a:srgbClr val="142130"/>
                </a:solidFill>
                <a:latin typeface="Arial" pitchFamily="34" charset="0"/>
                <a:ea typeface="Arial" pitchFamily="34" charset="-122"/>
                <a:cs typeface="Arial" pitchFamily="34" charset="-120"/>
              </a:rPr>
              <a:t>Breaks even at 300 sessions</a:t>
            </a:r>
            <a:endParaRPr lang="en-US" sz="1200" dirty="0"/>
          </a:p>
        </p:txBody>
      </p:sp>
      <p:sp>
        <p:nvSpPr>
          <p:cNvPr id="40" name="Text 38"/>
          <p:cNvSpPr txBox="1"/>
          <p:nvPr/>
        </p:nvSpPr>
        <p:spPr>
          <a:xfrm>
            <a:off x="548640" y="6382512"/>
            <a:ext cx="11094415" cy="292608"/>
          </a:xfrm>
          <a:prstGeom prst="rect">
            <a:avLst/>
          </a:prstGeom>
          <a:noFill/>
          <a:ln/>
        </p:spPr>
        <p:txBody>
          <a:bodyPr wrap="square" lIns="0" tIns="0" rIns="0" bIns="0" rtlCol="0" anchor="b"/>
          <a:lstStyle/>
          <a:p>
            <a:pPr indent="0" marL="0">
              <a:buNone/>
            </a:pPr>
            <a:r>
              <a:rPr lang="en-US" sz="1000" dirty="0">
                <a:solidFill>
                  <a:srgbClr val="748892"/>
                </a:solidFill>
                <a:latin typeface="Arial" pitchFamily="34" charset="0"/>
                <a:ea typeface="Arial" pitchFamily="34" charset="-122"/>
                <a:cs typeface="Arial" pitchFamily="34" charset="-120"/>
              </a:rPr>
              <a:t>Illustrative pilot month (issue #56 assumptions); the Impact page’s “400 sessions” preset computes the same figures, tested to the cent. Projected, not realised revenue.</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F8F8"/>
        </a:solidFill>
      </p:bgPr>
    </p:bg>
    <p:spTree>
      <p:nvGrpSpPr>
        <p:cNvPr id="1" name=""/>
        <p:cNvGrpSpPr/>
        <p:nvPr/>
      </p:nvGrpSpPr>
      <p:grpSpPr>
        <a:xfrm>
          <a:off x="0" y="0"/>
          <a:ext cx="0" cy="0"/>
          <a:chOff x="0" y="0"/>
          <a:chExt cx="0" cy="0"/>
        </a:xfrm>
      </p:grpSpPr>
      <p:sp>
        <p:nvSpPr>
          <p:cNvPr id="2" name="Shape 0"/>
          <p:cNvSpPr/>
          <p:nvPr/>
        </p:nvSpPr>
        <p:spPr>
          <a:xfrm>
            <a:off x="548640" y="384048"/>
            <a:ext cx="2569464" cy="310896"/>
          </a:xfrm>
          <a:prstGeom prst="roundRect">
            <a:avLst>
              <a:gd name="adj" fmla="val 50000"/>
            </a:avLst>
          </a:prstGeom>
          <a:solidFill>
            <a:srgbClr val="E0F7EE"/>
          </a:solidFill>
          <a:ln w="12700">
            <a:solidFill>
              <a:srgbClr val="E0F7EE"/>
            </a:solidFill>
            <a:prstDash val="solid"/>
          </a:ln>
        </p:spPr>
      </p:sp>
      <p:sp>
        <p:nvSpPr>
          <p:cNvPr id="3" name="Text 1"/>
          <p:cNvSpPr txBox="1"/>
          <p:nvPr/>
        </p:nvSpPr>
        <p:spPr>
          <a:xfrm>
            <a:off x="548640" y="384048"/>
            <a:ext cx="2569464" cy="310896"/>
          </a:xfrm>
          <a:prstGeom prst="rect">
            <a:avLst/>
          </a:prstGeom>
          <a:noFill/>
          <a:ln/>
        </p:spPr>
        <p:txBody>
          <a:bodyPr wrap="square" lIns="0" tIns="0" rIns="0" bIns="0" rtlCol="0" anchor="ctr"/>
          <a:lstStyle/>
          <a:p>
            <a:pPr algn="ctr" indent="0" marL="0">
              <a:buNone/>
            </a:pPr>
            <a:r>
              <a:rPr lang="en-US" sz="1100" b="1" spc="150" kern="0" dirty="0">
                <a:solidFill>
                  <a:srgbClr val="0B4339"/>
                </a:solidFill>
                <a:latin typeface="Arial" pitchFamily="34" charset="0"/>
                <a:ea typeface="Arial" pitchFamily="34" charset="-122"/>
                <a:cs typeface="Arial" pitchFamily="34" charset="-120"/>
              </a:rPr>
              <a:t>ENVIRONMENTAL IMPACT</a:t>
            </a:r>
            <a:endParaRPr lang="en-US" sz="1100" dirty="0"/>
          </a:p>
        </p:txBody>
      </p:sp>
      <p:sp>
        <p:nvSpPr>
          <p:cNvPr id="4" name="Text 2"/>
          <p:cNvSpPr txBox="1"/>
          <p:nvPr/>
        </p:nvSpPr>
        <p:spPr>
          <a:xfrm>
            <a:off x="548640" y="841248"/>
            <a:ext cx="11094415" cy="914400"/>
          </a:xfrm>
          <a:prstGeom prst="rect">
            <a:avLst/>
          </a:prstGeom>
          <a:noFill/>
          <a:ln/>
        </p:spPr>
        <p:txBody>
          <a:bodyPr wrap="square" lIns="0" tIns="0" rIns="0" bIns="0" rtlCol="0" anchor="t"/>
          <a:lstStyle/>
          <a:p>
            <a:pPr indent="0" marL="0">
              <a:buNone/>
            </a:pPr>
            <a:r>
              <a:rPr lang="en-US" sz="3400" b="1" dirty="0">
                <a:solidFill>
                  <a:srgbClr val="142130"/>
                </a:solidFill>
                <a:latin typeface="Arial" pitchFamily="34" charset="0"/>
                <a:ea typeface="Arial" pitchFamily="34" charset="-122"/>
                <a:cs typeface="Arial" pitchFamily="34" charset="-120"/>
              </a:rPr>
              <a:t>The energy claim, counted carefully.</a:t>
            </a:r>
            <a:endParaRPr lang="en-US" sz="3400" dirty="0"/>
          </a:p>
        </p:txBody>
      </p:sp>
      <p:sp>
        <p:nvSpPr>
          <p:cNvPr id="5" name="Text 3"/>
          <p:cNvSpPr txBox="1"/>
          <p:nvPr/>
        </p:nvSpPr>
        <p:spPr>
          <a:xfrm>
            <a:off x="548640" y="1627632"/>
            <a:ext cx="11094415" cy="411480"/>
          </a:xfrm>
          <a:prstGeom prst="rect">
            <a:avLst/>
          </a:prstGeom>
          <a:noFill/>
          <a:ln/>
        </p:spPr>
        <p:txBody>
          <a:bodyPr wrap="square" lIns="0" tIns="0" rIns="0" bIns="0" rtlCol="0" anchor="t"/>
          <a:lstStyle/>
          <a:p>
            <a:pPr indent="0" marL="0">
              <a:buNone/>
            </a:pPr>
            <a:r>
              <a:rPr lang="en-US" sz="1700" dirty="0">
                <a:solidFill>
                  <a:srgbClr val="506474"/>
                </a:solidFill>
                <a:latin typeface="Arial" pitchFamily="34" charset="0"/>
                <a:ea typeface="Arial" pitchFamily="34" charset="-122"/>
                <a:cs typeface="Arial" pitchFamily="34" charset="-120"/>
              </a:rPr>
              <a:t>The same pilot month, from surplus stored overnight to EVs in the evening.</a:t>
            </a:r>
            <a:endParaRPr lang="en-US" sz="1700" dirty="0"/>
          </a:p>
        </p:txBody>
      </p:sp>
      <p:sp>
        <p:nvSpPr>
          <p:cNvPr id="6" name="Shape 4"/>
          <p:cNvSpPr/>
          <p:nvPr/>
        </p:nvSpPr>
        <p:spPr>
          <a:xfrm>
            <a:off x="548640" y="2377440"/>
            <a:ext cx="2377440" cy="2377440"/>
          </a:xfrm>
          <a:prstGeom prst="roundRect">
            <a:avLst>
              <a:gd name="adj" fmla="val 5385"/>
            </a:avLst>
          </a:prstGeom>
          <a:solidFill>
            <a:srgbClr val="0B4339"/>
          </a:solidFill>
          <a:ln w="12700">
            <a:solidFill>
              <a:srgbClr val="0B4339"/>
            </a:solidFill>
            <a:prstDash val="solid"/>
          </a:ln>
        </p:spPr>
      </p:sp>
      <p:sp>
        <p:nvSpPr>
          <p:cNvPr id="7" name="Text 5"/>
          <p:cNvSpPr txBox="1"/>
          <p:nvPr/>
        </p:nvSpPr>
        <p:spPr>
          <a:xfrm>
            <a:off x="777240" y="2697480"/>
            <a:ext cx="2011680" cy="457200"/>
          </a:xfrm>
          <a:prstGeom prst="rect">
            <a:avLst/>
          </a:prstGeom>
          <a:noFill/>
          <a:ln/>
        </p:spPr>
        <p:txBody>
          <a:bodyPr wrap="square" lIns="0" tIns="0" rIns="0" bIns="0" rtlCol="0" anchor="t"/>
          <a:lstStyle/>
          <a:p>
            <a:pPr indent="0" marL="0">
              <a:buNone/>
            </a:pPr>
            <a:r>
              <a:rPr lang="en-US" sz="2400" b="1" dirty="0">
                <a:solidFill>
                  <a:srgbClr val="FFFFFF"/>
                </a:solidFill>
                <a:latin typeface="Arial" pitchFamily="34" charset="0"/>
                <a:ea typeface="Arial" pitchFamily="34" charset="-122"/>
                <a:cs typeface="Arial" pitchFamily="34" charset="-120"/>
              </a:rPr>
              <a:t>≈9,450 kWh</a:t>
            </a:r>
            <a:endParaRPr lang="en-US" sz="2400" dirty="0"/>
          </a:p>
        </p:txBody>
      </p:sp>
      <p:sp>
        <p:nvSpPr>
          <p:cNvPr id="8" name="Text 6"/>
          <p:cNvSpPr txBox="1"/>
          <p:nvPr/>
        </p:nvSpPr>
        <p:spPr>
          <a:xfrm>
            <a:off x="777240" y="3246120"/>
            <a:ext cx="1965960" cy="1097280"/>
          </a:xfrm>
          <a:prstGeom prst="rect">
            <a:avLst/>
          </a:prstGeom>
          <a:noFill/>
          <a:ln/>
        </p:spPr>
        <p:txBody>
          <a:bodyPr wrap="square" lIns="0" tIns="0" rIns="0" bIns="0" rtlCol="0" anchor="t"/>
          <a:lstStyle/>
          <a:p>
            <a:pPr indent="0" marL="0">
              <a:buNone/>
            </a:pPr>
            <a:r>
              <a:rPr lang="en-US" sz="1250" dirty="0">
                <a:solidFill>
                  <a:srgbClr val="CFE6DD"/>
                </a:solidFill>
                <a:latin typeface="Arial" pitchFamily="34" charset="0"/>
                <a:ea typeface="Arial" pitchFamily="34" charset="-122"/>
                <a:cs typeface="Arial" pitchFamily="34" charset="-120"/>
              </a:rPr>
              <a:t>surplus bought while the forecast called it, and stored</a:t>
            </a:r>
            <a:endParaRPr lang="en-US" sz="1250" dirty="0"/>
          </a:p>
        </p:txBody>
      </p:sp>
      <p:sp>
        <p:nvSpPr>
          <p:cNvPr id="9" name="Shape 7"/>
          <p:cNvSpPr/>
          <p:nvPr/>
        </p:nvSpPr>
        <p:spPr>
          <a:xfrm>
            <a:off x="3108960" y="3291840"/>
            <a:ext cx="548640" cy="548640"/>
          </a:xfrm>
          <a:prstGeom prst="ellipse">
            <a:avLst/>
          </a:prstGeom>
          <a:solidFill>
            <a:srgbClr val="FFFFFF"/>
          </a:solidFill>
          <a:ln w="12700">
            <a:solidFill>
              <a:srgbClr val="FFFFFF"/>
            </a:solidFill>
            <a:prstDash val="solid"/>
          </a:ln>
        </p:spPr>
      </p:sp>
      <p:pic>
        <p:nvPicPr>
          <p:cNvPr id="10" name="Image 0" descr="preencoded.png">    </p:cNvPr>
          <p:cNvPicPr>
            <a:picLocks noChangeAspect="1"/>
          </p:cNvPicPr>
          <p:nvPr/>
        </p:nvPicPr>
        <p:blipFill>
          <a:blip r:embed="rId1"/>
          <a:stretch>
            <a:fillRect/>
          </a:stretch>
        </p:blipFill>
        <p:spPr>
          <a:xfrm>
            <a:off x="3240634" y="3423514"/>
            <a:ext cx="285293" cy="285293"/>
          </a:xfrm>
          <a:prstGeom prst="rect">
            <a:avLst/>
          </a:prstGeom>
        </p:spPr>
      </p:pic>
      <p:sp>
        <p:nvSpPr>
          <p:cNvPr id="11" name="Shape 8"/>
          <p:cNvSpPr/>
          <p:nvPr/>
        </p:nvSpPr>
        <p:spPr>
          <a:xfrm>
            <a:off x="3840480" y="2377440"/>
            <a:ext cx="3566160" cy="1783080"/>
          </a:xfrm>
          <a:prstGeom prst="roundRect">
            <a:avLst>
              <a:gd name="adj" fmla="val 7179"/>
            </a:avLst>
          </a:prstGeom>
          <a:solidFill>
            <a:srgbClr val="1FAE6C"/>
          </a:solidFill>
          <a:ln w="12700">
            <a:solidFill>
              <a:srgbClr val="1FAE6C"/>
            </a:solidFill>
            <a:prstDash val="solid"/>
          </a:ln>
        </p:spPr>
      </p:sp>
      <p:sp>
        <p:nvSpPr>
          <p:cNvPr id="12" name="Text 9"/>
          <p:cNvSpPr txBox="1"/>
          <p:nvPr/>
        </p:nvSpPr>
        <p:spPr>
          <a:xfrm>
            <a:off x="4069080" y="2651760"/>
            <a:ext cx="3108960" cy="502920"/>
          </a:xfrm>
          <a:prstGeom prst="rect">
            <a:avLst/>
          </a:prstGeom>
          <a:noFill/>
          <a:ln/>
        </p:spPr>
        <p:txBody>
          <a:bodyPr wrap="square" lIns="0" tIns="0" rIns="0" bIns="0" rtlCol="0" anchor="t"/>
          <a:lstStyle/>
          <a:p>
            <a:pPr indent="0" marL="0">
              <a:buNone/>
            </a:pPr>
            <a:r>
              <a:rPr lang="en-US" sz="2800" b="1" dirty="0">
                <a:solidFill>
                  <a:srgbClr val="FFFFFF"/>
                </a:solidFill>
                <a:latin typeface="Arial" pitchFamily="34" charset="0"/>
                <a:ea typeface="Arial" pitchFamily="34" charset="-122"/>
                <a:cs typeface="Arial" pitchFamily="34" charset="-120"/>
              </a:rPr>
              <a:t>8,000 kWh</a:t>
            </a:r>
            <a:endParaRPr lang="en-US" sz="2800" dirty="0"/>
          </a:p>
        </p:txBody>
      </p:sp>
      <p:sp>
        <p:nvSpPr>
          <p:cNvPr id="13" name="Text 10"/>
          <p:cNvSpPr txBox="1"/>
          <p:nvPr/>
        </p:nvSpPr>
        <p:spPr>
          <a:xfrm>
            <a:off x="4069080" y="3200400"/>
            <a:ext cx="3108960" cy="365760"/>
          </a:xfrm>
          <a:prstGeom prst="rect">
            <a:avLst/>
          </a:prstGeom>
          <a:noFill/>
          <a:ln/>
        </p:spPr>
        <p:txBody>
          <a:bodyPr wrap="square" lIns="0" tIns="0" rIns="0" bIns="0" rtlCol="0" anchor="t"/>
          <a:lstStyle/>
          <a:p>
            <a:pPr indent="0" marL="0">
              <a:buNone/>
            </a:pPr>
            <a:r>
              <a:rPr lang="en-US" sz="1300" dirty="0">
                <a:solidFill>
                  <a:srgbClr val="EAF7F1"/>
                </a:solidFill>
                <a:latin typeface="Arial" pitchFamily="34" charset="0"/>
                <a:ea typeface="Arial" pitchFamily="34" charset="-122"/>
                <a:cs typeface="Arial" pitchFamily="34" charset="-120"/>
              </a:rPr>
              <a:t>delivered at the chargers: 400 × 20 kWh</a:t>
            </a:r>
            <a:endParaRPr lang="en-US" sz="1300" dirty="0"/>
          </a:p>
        </p:txBody>
      </p:sp>
      <p:sp>
        <p:nvSpPr>
          <p:cNvPr id="14" name="Shape 11"/>
          <p:cNvSpPr/>
          <p:nvPr/>
        </p:nvSpPr>
        <p:spPr>
          <a:xfrm>
            <a:off x="3840480" y="4251960"/>
            <a:ext cx="3566160" cy="502920"/>
          </a:xfrm>
          <a:prstGeom prst="roundRect">
            <a:avLst>
              <a:gd name="adj" fmla="val 14545"/>
            </a:avLst>
          </a:prstGeom>
          <a:solidFill>
            <a:srgbClr val="C9D5DC"/>
          </a:solidFill>
          <a:ln w="12700">
            <a:solidFill>
              <a:srgbClr val="C9D5DC"/>
            </a:solidFill>
            <a:prstDash val="solid"/>
          </a:ln>
        </p:spPr>
      </p:sp>
      <p:sp>
        <p:nvSpPr>
          <p:cNvPr id="15" name="Text 12"/>
          <p:cNvSpPr txBox="1"/>
          <p:nvPr/>
        </p:nvSpPr>
        <p:spPr>
          <a:xfrm>
            <a:off x="4023360" y="4251960"/>
            <a:ext cx="3291840" cy="502920"/>
          </a:xfrm>
          <a:prstGeom prst="rect">
            <a:avLst/>
          </a:prstGeom>
          <a:noFill/>
          <a:ln/>
        </p:spPr>
        <p:txBody>
          <a:bodyPr wrap="square" lIns="0" tIns="0" rIns="0" bIns="0" rtlCol="0" anchor="ctr"/>
          <a:lstStyle/>
          <a:p>
            <a:pPr indent="0" marL="0">
              <a:buNone/>
            </a:pPr>
            <a:r>
              <a:rPr lang="en-US" sz="1100" b="1" dirty="0">
                <a:solidFill>
                  <a:srgbClr val="142130"/>
                </a:solidFill>
                <a:latin typeface="Arial" pitchFamily="34" charset="0"/>
                <a:ea typeface="Arial" pitchFamily="34" charset="-122"/>
                <a:cs typeface="Arial" pitchFamily="34" charset="-120"/>
              </a:rPr>
              <a:t>≈1,450 kWh lost in storage (15%) — counted</a:t>
            </a:r>
            <a:endParaRPr lang="en-US" sz="1100" dirty="0"/>
          </a:p>
        </p:txBody>
      </p:sp>
      <p:sp>
        <p:nvSpPr>
          <p:cNvPr id="16" name="Shape 13"/>
          <p:cNvSpPr/>
          <p:nvPr/>
        </p:nvSpPr>
        <p:spPr>
          <a:xfrm>
            <a:off x="548640" y="4983480"/>
            <a:ext cx="6858000" cy="566928"/>
          </a:xfrm>
          <a:prstGeom prst="roundRect">
            <a:avLst>
              <a:gd name="adj" fmla="val 19355"/>
            </a:avLst>
          </a:prstGeom>
          <a:solidFill>
            <a:srgbClr val="FFFFFF"/>
          </a:solidFill>
          <a:ln w="12700">
            <a:solidFill>
              <a:srgbClr val="DBE9E9"/>
            </a:solidFill>
            <a:prstDash val="solid"/>
          </a:ln>
        </p:spPr>
      </p:sp>
      <p:sp>
        <p:nvSpPr>
          <p:cNvPr id="17" name="Text 14"/>
          <p:cNvSpPr txBox="1"/>
          <p:nvPr/>
        </p:nvSpPr>
        <p:spPr>
          <a:xfrm>
            <a:off x="777240" y="4983480"/>
            <a:ext cx="6492240" cy="566928"/>
          </a:xfrm>
          <a:prstGeom prst="rect">
            <a:avLst/>
          </a:prstGeom>
          <a:noFill/>
          <a:ln/>
        </p:spPr>
        <p:txBody>
          <a:bodyPr wrap="square" lIns="0" tIns="0" rIns="0" bIns="0" rtlCol="0" anchor="ctr"/>
          <a:lstStyle/>
          <a:p>
            <a:pPr indent="0" marL="0">
              <a:buNone/>
            </a:pPr>
            <a:r>
              <a:rPr lang="en-US" sz="1250" dirty="0">
                <a:solidFill>
                  <a:srgbClr val="506474"/>
                </a:solidFill>
                <a:latin typeface="Arial" pitchFamily="34" charset="0"/>
                <a:ea typeface="Arial" pitchFamily="34" charset="-122"/>
                <a:cs typeface="Arial" pitchFamily="34" charset="-120"/>
              </a:rPr>
              <a:t>False alarms: energy bought when the surplus didn’t come is ordinary grid power — never offered, never counted.</a:t>
            </a:r>
            <a:endParaRPr lang="en-US" sz="1250" dirty="0"/>
          </a:p>
        </p:txBody>
      </p:sp>
      <p:sp>
        <p:nvSpPr>
          <p:cNvPr id="18" name="Shape 15"/>
          <p:cNvSpPr/>
          <p:nvPr/>
        </p:nvSpPr>
        <p:spPr>
          <a:xfrm>
            <a:off x="7589520" y="2377440"/>
            <a:ext cx="4053535" cy="3172968"/>
          </a:xfrm>
          <a:prstGeom prst="roundRect">
            <a:avLst>
              <a:gd name="adj" fmla="val 4611"/>
            </a:avLst>
          </a:prstGeom>
          <a:solidFill>
            <a:srgbClr val="0B4339"/>
          </a:solidFill>
          <a:ln w="9525">
            <a:solidFill>
              <a:srgbClr val="0B4339"/>
            </a:solidFill>
            <a:prstDash val="solid"/>
          </a:ln>
          <a:effectLst>
            <a:outerShdw sx="100000" sy="100000" kx="0" ky="0" algn="bl" rotWithShape="0" blurRad="101600" dist="25400" dir="5400000">
              <a:srgbClr val="0B2A24">
                <a:alpha val="12000"/>
              </a:srgbClr>
            </a:outerShdw>
          </a:effectLst>
        </p:spPr>
      </p:sp>
      <p:sp>
        <p:nvSpPr>
          <p:cNvPr id="19" name="Shape 16"/>
          <p:cNvSpPr/>
          <p:nvPr/>
        </p:nvSpPr>
        <p:spPr>
          <a:xfrm>
            <a:off x="7909560" y="2606040"/>
            <a:ext cx="548640" cy="548640"/>
          </a:xfrm>
          <a:prstGeom prst="ellipse">
            <a:avLst/>
          </a:prstGeom>
          <a:solidFill>
            <a:srgbClr val="E0F7EE"/>
          </a:solidFill>
          <a:ln w="12700">
            <a:solidFill>
              <a:srgbClr val="E0F7EE"/>
            </a:solidFill>
            <a:prstDash val="solid"/>
          </a:ln>
        </p:spPr>
      </p:sp>
      <p:pic>
        <p:nvPicPr>
          <p:cNvPr id="20" name="Image 1" descr="preencoded.png">    </p:cNvPr>
          <p:cNvPicPr>
            <a:picLocks noChangeAspect="1"/>
          </p:cNvPicPr>
          <p:nvPr/>
        </p:nvPicPr>
        <p:blipFill>
          <a:blip r:embed="rId2"/>
          <a:stretch>
            <a:fillRect/>
          </a:stretch>
        </p:blipFill>
        <p:spPr>
          <a:xfrm>
            <a:off x="8041234" y="2737714"/>
            <a:ext cx="285293" cy="285293"/>
          </a:xfrm>
          <a:prstGeom prst="rect">
            <a:avLst/>
          </a:prstGeom>
        </p:spPr>
      </p:pic>
      <p:sp>
        <p:nvSpPr>
          <p:cNvPr id="21" name="Text 17"/>
          <p:cNvSpPr txBox="1"/>
          <p:nvPr/>
        </p:nvSpPr>
        <p:spPr>
          <a:xfrm>
            <a:off x="7909560" y="3291840"/>
            <a:ext cx="3413455" cy="731520"/>
          </a:xfrm>
          <a:prstGeom prst="rect">
            <a:avLst/>
          </a:prstGeom>
          <a:noFill/>
          <a:ln/>
        </p:spPr>
        <p:txBody>
          <a:bodyPr wrap="square" lIns="0" tIns="0" rIns="0" bIns="0" rtlCol="0" anchor="t"/>
          <a:lstStyle/>
          <a:p>
            <a:pPr indent="0" marL="0">
              <a:buNone/>
            </a:pPr>
            <a:r>
              <a:rPr lang="en-US" sz="4400" b="1" dirty="0">
                <a:solidFill>
                  <a:srgbClr val="FFFFFF"/>
                </a:solidFill>
                <a:latin typeface="Arial" pitchFamily="34" charset="0"/>
                <a:ea typeface="Arial" pitchFamily="34" charset="-122"/>
                <a:cs typeface="Arial" pitchFamily="34" charset="-120"/>
              </a:rPr>
              <a:t>≈2 t CO₂</a:t>
            </a:r>
            <a:endParaRPr lang="en-US" sz="4400" dirty="0"/>
          </a:p>
        </p:txBody>
      </p:sp>
      <p:sp>
        <p:nvSpPr>
          <p:cNvPr id="22" name="Text 18"/>
          <p:cNvSpPr txBox="1"/>
          <p:nvPr/>
        </p:nvSpPr>
        <p:spPr>
          <a:xfrm>
            <a:off x="7909560" y="4041648"/>
            <a:ext cx="3413455" cy="365760"/>
          </a:xfrm>
          <a:prstGeom prst="rect">
            <a:avLst/>
          </a:prstGeom>
          <a:noFill/>
          <a:ln/>
        </p:spPr>
        <p:txBody>
          <a:bodyPr wrap="square" lIns="0" tIns="0" rIns="0" bIns="0" rtlCol="0" anchor="t"/>
          <a:lstStyle/>
          <a:p>
            <a:pPr indent="0" marL="0">
              <a:buNone/>
            </a:pPr>
            <a:r>
              <a:rPr lang="en-US" sz="1500" b="1" dirty="0">
                <a:solidFill>
                  <a:srgbClr val="CFE6DD"/>
                </a:solidFill>
                <a:latin typeface="Arial" pitchFamily="34" charset="0"/>
                <a:ea typeface="Arial" pitchFamily="34" charset="-122"/>
                <a:cs typeface="Arial" pitchFamily="34" charset="-120"/>
              </a:rPr>
              <a:t>a month per site · ≈24 t a year</a:t>
            </a:r>
            <a:endParaRPr lang="en-US" sz="1500" dirty="0"/>
          </a:p>
        </p:txBody>
      </p:sp>
      <p:sp>
        <p:nvSpPr>
          <p:cNvPr id="23" name="Text 19"/>
          <p:cNvSpPr txBox="1"/>
          <p:nvPr/>
        </p:nvSpPr>
        <p:spPr>
          <a:xfrm>
            <a:off x="7909560" y="4526280"/>
            <a:ext cx="3413455" cy="914400"/>
          </a:xfrm>
          <a:prstGeom prst="rect">
            <a:avLst/>
          </a:prstGeom>
          <a:noFill/>
          <a:ln/>
        </p:spPr>
        <p:txBody>
          <a:bodyPr wrap="square" lIns="0" tIns="0" rIns="0" bIns="0" rtlCol="0" anchor="t"/>
          <a:lstStyle/>
          <a:p>
            <a:pPr indent="0" marL="0">
              <a:buNone/>
            </a:pPr>
            <a:r>
              <a:rPr lang="en-US" sz="1200" dirty="0">
                <a:solidFill>
                  <a:srgbClr val="CFE6DD"/>
                </a:solidFill>
                <a:latin typeface="Arial" pitchFamily="34" charset="0"/>
                <a:ea typeface="Arial" pitchFamily="34" charset="-122"/>
                <a:cs typeface="Arial" pitchFamily="34" charset="-120"/>
              </a:rPr>
              <a:t>Estimated: 8,000 kWh × 0.25 kg CO₂/kWh, if that surplus would otherwise have been dispatched down. Not a verified saving.</a:t>
            </a:r>
            <a:endParaRPr lang="en-US" sz="1200" dirty="0"/>
          </a:p>
        </p:txBody>
      </p:sp>
      <p:sp>
        <p:nvSpPr>
          <p:cNvPr id="24" name="Text 20"/>
          <p:cNvSpPr txBox="1"/>
          <p:nvPr/>
        </p:nvSpPr>
        <p:spPr>
          <a:xfrm>
            <a:off x="548640" y="6382512"/>
            <a:ext cx="11094415" cy="292608"/>
          </a:xfrm>
          <a:prstGeom prst="rect">
            <a:avLst/>
          </a:prstGeom>
          <a:noFill/>
          <a:ln/>
        </p:spPr>
        <p:txBody>
          <a:bodyPr wrap="square" lIns="0" tIns="0" rIns="0" bIns="0" rtlCol="0" anchor="b"/>
          <a:lstStyle/>
          <a:p>
            <a:pPr indent="0" marL="0">
              <a:buNone/>
            </a:pPr>
            <a:r>
              <a:rPr lang="en-US" sz="1000" dirty="0">
                <a:solidFill>
                  <a:srgbClr val="748892"/>
                </a:solidFill>
                <a:latin typeface="Arial" pitchFamily="34" charset="0"/>
                <a:ea typeface="Arial" pitchFamily="34" charset="-122"/>
                <a:cs typeface="Arial" pitchFamily="34" charset="-120"/>
              </a:rPr>
              <a:t>Round trip 92% × 92% (hypothetical battery). Flat grid factor 0.25 kg CO₂/kWh, the app’s stated method; not measured marginal displacement.</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F8F8"/>
        </a:solidFill>
      </p:bgPr>
    </p:bg>
    <p:spTree>
      <p:nvGrpSpPr>
        <p:cNvPr id="1" name=""/>
        <p:cNvGrpSpPr/>
        <p:nvPr/>
      </p:nvGrpSpPr>
      <p:grpSpPr>
        <a:xfrm>
          <a:off x="0" y="0"/>
          <a:ext cx="0" cy="0"/>
          <a:chOff x="0" y="0"/>
          <a:chExt cx="0" cy="0"/>
        </a:xfrm>
      </p:grpSpPr>
      <p:sp>
        <p:nvSpPr>
          <p:cNvPr id="2" name="Shape 0"/>
          <p:cNvSpPr/>
          <p:nvPr/>
        </p:nvSpPr>
        <p:spPr>
          <a:xfrm>
            <a:off x="548640" y="384048"/>
            <a:ext cx="1598371" cy="310896"/>
          </a:xfrm>
          <a:prstGeom prst="roundRect">
            <a:avLst>
              <a:gd name="adj" fmla="val 50000"/>
            </a:avLst>
          </a:prstGeom>
          <a:solidFill>
            <a:srgbClr val="E0F7EE"/>
          </a:solidFill>
          <a:ln w="12700">
            <a:solidFill>
              <a:srgbClr val="E0F7EE"/>
            </a:solidFill>
            <a:prstDash val="solid"/>
          </a:ln>
        </p:spPr>
      </p:sp>
      <p:sp>
        <p:nvSpPr>
          <p:cNvPr id="3" name="Text 1"/>
          <p:cNvSpPr txBox="1"/>
          <p:nvPr/>
        </p:nvSpPr>
        <p:spPr>
          <a:xfrm>
            <a:off x="548640" y="384048"/>
            <a:ext cx="1598371" cy="310896"/>
          </a:xfrm>
          <a:prstGeom prst="rect">
            <a:avLst/>
          </a:prstGeom>
          <a:noFill/>
          <a:ln/>
        </p:spPr>
        <p:txBody>
          <a:bodyPr wrap="square" lIns="0" tIns="0" rIns="0" bIns="0" rtlCol="0" anchor="ctr"/>
          <a:lstStyle/>
          <a:p>
            <a:pPr algn="ctr" indent="0" marL="0">
              <a:buNone/>
            </a:pPr>
            <a:r>
              <a:rPr lang="en-US" sz="1100" b="1" spc="150" kern="0" dirty="0">
                <a:solidFill>
                  <a:srgbClr val="0B4339"/>
                </a:solidFill>
                <a:latin typeface="Arial" pitchFamily="34" charset="0"/>
                <a:ea typeface="Arial" pitchFamily="34" charset="-122"/>
                <a:cs typeface="Arial" pitchFamily="34" charset="-120"/>
              </a:rPr>
              <a:t>SCALABILITY</a:t>
            </a:r>
            <a:endParaRPr lang="en-US" sz="1100" dirty="0"/>
          </a:p>
        </p:txBody>
      </p:sp>
      <p:sp>
        <p:nvSpPr>
          <p:cNvPr id="4" name="Text 2"/>
          <p:cNvSpPr txBox="1"/>
          <p:nvPr/>
        </p:nvSpPr>
        <p:spPr>
          <a:xfrm>
            <a:off x="548640" y="841248"/>
            <a:ext cx="11094415" cy="914400"/>
          </a:xfrm>
          <a:prstGeom prst="rect">
            <a:avLst/>
          </a:prstGeom>
          <a:noFill/>
          <a:ln/>
        </p:spPr>
        <p:txBody>
          <a:bodyPr wrap="square" lIns="0" tIns="0" rIns="0" bIns="0" rtlCol="0" anchor="t"/>
          <a:lstStyle/>
          <a:p>
            <a:pPr indent="0" marL="0">
              <a:buNone/>
            </a:pPr>
            <a:r>
              <a:rPr lang="en-US" sz="3400" b="1" dirty="0">
                <a:solidFill>
                  <a:srgbClr val="142130"/>
                </a:solidFill>
                <a:latin typeface="Arial" pitchFamily="34" charset="0"/>
                <a:ea typeface="Arial" pitchFamily="34" charset="-122"/>
                <a:cs typeface="Arial" pitchFamily="34" charset="-120"/>
              </a:rPr>
              <a:t>Ireland first. Built to repeat, site by site.</a:t>
            </a:r>
            <a:endParaRPr lang="en-US" sz="3400" dirty="0"/>
          </a:p>
        </p:txBody>
      </p:sp>
      <p:sp>
        <p:nvSpPr>
          <p:cNvPr id="5" name="Shape 3"/>
          <p:cNvSpPr/>
          <p:nvPr/>
        </p:nvSpPr>
        <p:spPr>
          <a:xfrm>
            <a:off x="548640" y="1920240"/>
            <a:ext cx="3362858" cy="2011680"/>
          </a:xfrm>
          <a:prstGeom prst="roundRect">
            <a:avLst>
              <a:gd name="adj" fmla="val 7273"/>
            </a:avLst>
          </a:prstGeom>
          <a:solidFill>
            <a:srgbClr val="FFFFFF"/>
          </a:solidFill>
          <a:ln w="9525">
            <a:solidFill>
              <a:srgbClr val="DBE9E9"/>
            </a:solidFill>
            <a:prstDash val="solid"/>
          </a:ln>
          <a:effectLst>
            <a:outerShdw sx="100000" sy="100000" kx="0" ky="0" algn="bl" rotWithShape="0" blurRad="101600" dist="25400" dir="5400000">
              <a:srgbClr val="0B2A24">
                <a:alpha val="12000"/>
              </a:srgbClr>
            </a:outerShdw>
          </a:effectLst>
        </p:spPr>
      </p:sp>
      <p:sp>
        <p:nvSpPr>
          <p:cNvPr id="6" name="Shape 4"/>
          <p:cNvSpPr/>
          <p:nvPr/>
        </p:nvSpPr>
        <p:spPr>
          <a:xfrm>
            <a:off x="822960" y="2194560"/>
            <a:ext cx="548640" cy="548640"/>
          </a:xfrm>
          <a:prstGeom prst="ellipse">
            <a:avLst/>
          </a:prstGeom>
          <a:solidFill>
            <a:srgbClr val="1FAE6C"/>
          </a:solidFill>
          <a:ln w="12700">
            <a:solidFill>
              <a:srgbClr val="1FAE6C"/>
            </a:solidFill>
            <a:prstDash val="solid"/>
          </a:ln>
        </p:spPr>
      </p:sp>
      <p:pic>
        <p:nvPicPr>
          <p:cNvPr id="7" name="Image 0" descr="preencoded.png">    </p:cNvPr>
          <p:cNvPicPr>
            <a:picLocks noChangeAspect="1"/>
          </p:cNvPicPr>
          <p:nvPr/>
        </p:nvPicPr>
        <p:blipFill>
          <a:blip r:embed="rId1"/>
          <a:stretch>
            <a:fillRect/>
          </a:stretch>
        </p:blipFill>
        <p:spPr>
          <a:xfrm>
            <a:off x="954634" y="2326234"/>
            <a:ext cx="285293" cy="285293"/>
          </a:xfrm>
          <a:prstGeom prst="rect">
            <a:avLst/>
          </a:prstGeom>
        </p:spPr>
      </p:pic>
      <p:sp>
        <p:nvSpPr>
          <p:cNvPr id="8" name="Text 5"/>
          <p:cNvSpPr txBox="1"/>
          <p:nvPr/>
        </p:nvSpPr>
        <p:spPr>
          <a:xfrm>
            <a:off x="1554480" y="2176272"/>
            <a:ext cx="2174138" cy="329184"/>
          </a:xfrm>
          <a:prstGeom prst="rect">
            <a:avLst/>
          </a:prstGeom>
          <a:noFill/>
          <a:ln/>
        </p:spPr>
        <p:txBody>
          <a:bodyPr wrap="square" lIns="0" tIns="0" rIns="0" bIns="0" rtlCol="0" anchor="t"/>
          <a:lstStyle/>
          <a:p>
            <a:pPr indent="0" marL="0">
              <a:buNone/>
            </a:pPr>
            <a:r>
              <a:rPr lang="en-US" sz="1900" b="1" dirty="0">
                <a:solidFill>
                  <a:srgbClr val="142130"/>
                </a:solidFill>
                <a:latin typeface="Arial" pitchFamily="34" charset="0"/>
                <a:ea typeface="Arial" pitchFamily="34" charset="-122"/>
                <a:cs typeface="Arial" pitchFamily="34" charset="-120"/>
              </a:rPr>
              <a:t>Pilot</a:t>
            </a:r>
            <a:endParaRPr lang="en-US" sz="1900" dirty="0"/>
          </a:p>
        </p:txBody>
      </p:sp>
      <p:sp>
        <p:nvSpPr>
          <p:cNvPr id="9" name="Text 6"/>
          <p:cNvSpPr txBox="1"/>
          <p:nvPr/>
        </p:nvSpPr>
        <p:spPr>
          <a:xfrm>
            <a:off x="1554480" y="2505456"/>
            <a:ext cx="2174138" cy="274320"/>
          </a:xfrm>
          <a:prstGeom prst="rect">
            <a:avLst/>
          </a:prstGeom>
          <a:noFill/>
          <a:ln/>
        </p:spPr>
        <p:txBody>
          <a:bodyPr wrap="square" lIns="0" tIns="0" rIns="0" bIns="0" rtlCol="0" anchor="t"/>
          <a:lstStyle/>
          <a:p>
            <a:pPr indent="0" marL="0">
              <a:buNone/>
            </a:pPr>
            <a:r>
              <a:rPr lang="en-US" sz="1250" b="1" dirty="0">
                <a:solidFill>
                  <a:srgbClr val="748892"/>
                </a:solidFill>
                <a:latin typeface="Arial" pitchFamily="34" charset="0"/>
                <a:ea typeface="Arial" pitchFamily="34" charset="-122"/>
                <a:cs typeface="Arial" pitchFamily="34" charset="-120"/>
              </a:rPr>
              <a:t>1 Irish operator site</a:t>
            </a:r>
            <a:endParaRPr lang="en-US" sz="1250" dirty="0"/>
          </a:p>
        </p:txBody>
      </p:sp>
      <p:sp>
        <p:nvSpPr>
          <p:cNvPr id="10" name="Text 7"/>
          <p:cNvSpPr txBox="1"/>
          <p:nvPr/>
        </p:nvSpPr>
        <p:spPr>
          <a:xfrm>
            <a:off x="822960" y="3017520"/>
            <a:ext cx="2814218" cy="822960"/>
          </a:xfrm>
          <a:prstGeom prst="rect">
            <a:avLst/>
          </a:prstGeom>
          <a:noFill/>
          <a:ln/>
        </p:spPr>
        <p:txBody>
          <a:bodyPr wrap="square" lIns="0" tIns="0" rIns="0" bIns="0" rtlCol="0" anchor="t"/>
          <a:lstStyle/>
          <a:p>
            <a:pPr indent="0" marL="0">
              <a:buNone/>
            </a:pPr>
            <a:r>
              <a:rPr lang="en-US" sz="1300" dirty="0">
                <a:solidFill>
                  <a:srgbClr val="506474"/>
                </a:solidFill>
                <a:latin typeface="Arial" pitchFamily="34" charset="0"/>
                <a:ea typeface="Arial" pitchFamily="34" charset="-122"/>
                <a:cs typeface="Arial" pitchFamily="34" charset="-120"/>
              </a:rPr>
              <a:t>Validate deliverability, real tariffs, bookings and settlement.</a:t>
            </a:r>
            <a:endParaRPr lang="en-US" sz="1300" dirty="0"/>
          </a:p>
        </p:txBody>
      </p:sp>
      <p:pic>
        <p:nvPicPr>
          <p:cNvPr id="11" name="Image 1" descr="preencoded.png">    </p:cNvPr>
          <p:cNvPicPr>
            <a:picLocks noChangeAspect="1"/>
          </p:cNvPicPr>
          <p:nvPr/>
        </p:nvPicPr>
        <p:blipFill>
          <a:blip r:embed="rId2"/>
          <a:stretch>
            <a:fillRect/>
          </a:stretch>
        </p:blipFill>
        <p:spPr>
          <a:xfrm>
            <a:off x="4002938" y="2697480"/>
            <a:ext cx="320040" cy="320040"/>
          </a:xfrm>
          <a:prstGeom prst="rect">
            <a:avLst/>
          </a:prstGeom>
        </p:spPr>
      </p:pic>
      <p:sp>
        <p:nvSpPr>
          <p:cNvPr id="12" name="Shape 8"/>
          <p:cNvSpPr/>
          <p:nvPr/>
        </p:nvSpPr>
        <p:spPr>
          <a:xfrm>
            <a:off x="4414418" y="1920240"/>
            <a:ext cx="3362858" cy="2011680"/>
          </a:xfrm>
          <a:prstGeom prst="roundRect">
            <a:avLst>
              <a:gd name="adj" fmla="val 7273"/>
            </a:avLst>
          </a:prstGeom>
          <a:solidFill>
            <a:srgbClr val="FFFFFF"/>
          </a:solidFill>
          <a:ln w="9525">
            <a:solidFill>
              <a:srgbClr val="DBE9E9"/>
            </a:solidFill>
            <a:prstDash val="solid"/>
          </a:ln>
          <a:effectLst>
            <a:outerShdw sx="100000" sy="100000" kx="0" ky="0" algn="bl" rotWithShape="0" blurRad="101600" dist="25400" dir="5400000">
              <a:srgbClr val="0B2A24">
                <a:alpha val="12000"/>
              </a:srgbClr>
            </a:outerShdw>
          </a:effectLst>
        </p:spPr>
      </p:sp>
      <p:sp>
        <p:nvSpPr>
          <p:cNvPr id="13" name="Shape 9"/>
          <p:cNvSpPr/>
          <p:nvPr/>
        </p:nvSpPr>
        <p:spPr>
          <a:xfrm>
            <a:off x="4688738" y="2194560"/>
            <a:ext cx="548640" cy="548640"/>
          </a:xfrm>
          <a:prstGeom prst="ellipse">
            <a:avLst/>
          </a:prstGeom>
          <a:solidFill>
            <a:srgbClr val="0B4339"/>
          </a:solidFill>
          <a:ln w="12700">
            <a:solidFill>
              <a:srgbClr val="0B4339"/>
            </a:solidFill>
            <a:prstDash val="solid"/>
          </a:ln>
        </p:spPr>
      </p:sp>
      <p:pic>
        <p:nvPicPr>
          <p:cNvPr id="14" name="Image 2" descr="preencoded.png">    </p:cNvPr>
          <p:cNvPicPr>
            <a:picLocks noChangeAspect="1"/>
          </p:cNvPicPr>
          <p:nvPr/>
        </p:nvPicPr>
        <p:blipFill>
          <a:blip r:embed="rId3"/>
          <a:stretch>
            <a:fillRect/>
          </a:stretch>
        </p:blipFill>
        <p:spPr>
          <a:xfrm>
            <a:off x="4820412" y="2326234"/>
            <a:ext cx="285293" cy="285293"/>
          </a:xfrm>
          <a:prstGeom prst="rect">
            <a:avLst/>
          </a:prstGeom>
        </p:spPr>
      </p:pic>
      <p:sp>
        <p:nvSpPr>
          <p:cNvPr id="15" name="Text 10"/>
          <p:cNvSpPr txBox="1"/>
          <p:nvPr/>
        </p:nvSpPr>
        <p:spPr>
          <a:xfrm>
            <a:off x="5420258" y="2176272"/>
            <a:ext cx="2174138" cy="329184"/>
          </a:xfrm>
          <a:prstGeom prst="rect">
            <a:avLst/>
          </a:prstGeom>
          <a:noFill/>
          <a:ln/>
        </p:spPr>
        <p:txBody>
          <a:bodyPr wrap="square" lIns="0" tIns="0" rIns="0" bIns="0" rtlCol="0" anchor="t"/>
          <a:lstStyle/>
          <a:p>
            <a:pPr indent="0" marL="0">
              <a:buNone/>
            </a:pPr>
            <a:r>
              <a:rPr lang="en-US" sz="1900" b="1" dirty="0">
                <a:solidFill>
                  <a:srgbClr val="142130"/>
                </a:solidFill>
                <a:latin typeface="Arial" pitchFamily="34" charset="0"/>
                <a:ea typeface="Arial" pitchFamily="34" charset="-122"/>
                <a:cs typeface="Arial" pitchFamily="34" charset="-120"/>
              </a:rPr>
              <a:t>Ireland</a:t>
            </a:r>
            <a:endParaRPr lang="en-US" sz="1900" dirty="0"/>
          </a:p>
        </p:txBody>
      </p:sp>
      <p:sp>
        <p:nvSpPr>
          <p:cNvPr id="16" name="Text 11"/>
          <p:cNvSpPr txBox="1"/>
          <p:nvPr/>
        </p:nvSpPr>
        <p:spPr>
          <a:xfrm>
            <a:off x="5420258" y="2505456"/>
            <a:ext cx="2174138" cy="274320"/>
          </a:xfrm>
          <a:prstGeom prst="rect">
            <a:avLst/>
          </a:prstGeom>
          <a:noFill/>
          <a:ln/>
        </p:spPr>
        <p:txBody>
          <a:bodyPr wrap="square" lIns="0" tIns="0" rIns="0" bIns="0" rtlCol="0" anchor="t"/>
          <a:lstStyle/>
          <a:p>
            <a:pPr indent="0" marL="0">
              <a:buNone/>
            </a:pPr>
            <a:r>
              <a:rPr lang="en-US" sz="1250" b="1" dirty="0">
                <a:solidFill>
                  <a:srgbClr val="748892"/>
                </a:solidFill>
                <a:latin typeface="Arial" pitchFamily="34" charset="0"/>
                <a:ea typeface="Arial" pitchFamily="34" charset="-122"/>
                <a:cs typeface="Arial" pitchFamily="34" charset="-120"/>
              </a:rPr>
              <a:t>Comparable sites</a:t>
            </a:r>
            <a:endParaRPr lang="en-US" sz="1250" dirty="0"/>
          </a:p>
        </p:txBody>
      </p:sp>
      <p:sp>
        <p:nvSpPr>
          <p:cNvPr id="17" name="Text 12"/>
          <p:cNvSpPr txBox="1"/>
          <p:nvPr/>
        </p:nvSpPr>
        <p:spPr>
          <a:xfrm>
            <a:off x="4688738" y="3017520"/>
            <a:ext cx="2814218" cy="822960"/>
          </a:xfrm>
          <a:prstGeom prst="rect">
            <a:avLst/>
          </a:prstGeom>
          <a:noFill/>
          <a:ln/>
        </p:spPr>
        <p:txBody>
          <a:bodyPr wrap="square" lIns="0" tIns="0" rIns="0" bIns="0" rtlCol="0" anchor="t"/>
          <a:lstStyle/>
          <a:p>
            <a:pPr indent="0" marL="0">
              <a:buNone/>
            </a:pPr>
            <a:r>
              <a:rPr lang="en-US" sz="1300" dirty="0">
                <a:solidFill>
                  <a:srgbClr val="506474"/>
                </a:solidFill>
                <a:latin typeface="Arial" pitchFamily="34" charset="0"/>
                <a:ea typeface="Arial" pitchFamily="34" charset="-122"/>
                <a:cs typeface="Arial" pitchFamily="34" charset="-120"/>
              </a:rPr>
              <a:t>Same software; each site capped by its own chargers and connection.</a:t>
            </a:r>
            <a:endParaRPr lang="en-US" sz="1300" dirty="0"/>
          </a:p>
        </p:txBody>
      </p:sp>
      <p:pic>
        <p:nvPicPr>
          <p:cNvPr id="18" name="Image 3" descr="preencoded.png">    </p:cNvPr>
          <p:cNvPicPr>
            <a:picLocks noChangeAspect="1"/>
          </p:cNvPicPr>
          <p:nvPr/>
        </p:nvPicPr>
        <p:blipFill>
          <a:blip r:embed="rId4"/>
          <a:stretch>
            <a:fillRect/>
          </a:stretch>
        </p:blipFill>
        <p:spPr>
          <a:xfrm>
            <a:off x="7868717" y="2697480"/>
            <a:ext cx="320040" cy="320040"/>
          </a:xfrm>
          <a:prstGeom prst="rect">
            <a:avLst/>
          </a:prstGeom>
        </p:spPr>
      </p:pic>
      <p:sp>
        <p:nvSpPr>
          <p:cNvPr id="19" name="Shape 13"/>
          <p:cNvSpPr/>
          <p:nvPr/>
        </p:nvSpPr>
        <p:spPr>
          <a:xfrm>
            <a:off x="8280197" y="1920240"/>
            <a:ext cx="3362858" cy="2011680"/>
          </a:xfrm>
          <a:prstGeom prst="roundRect">
            <a:avLst>
              <a:gd name="adj" fmla="val 7273"/>
            </a:avLst>
          </a:prstGeom>
          <a:solidFill>
            <a:srgbClr val="FFFFFF"/>
          </a:solidFill>
          <a:ln w="9525">
            <a:solidFill>
              <a:srgbClr val="DBE9E9"/>
            </a:solidFill>
            <a:prstDash val="solid"/>
          </a:ln>
          <a:effectLst>
            <a:outerShdw sx="100000" sy="100000" kx="0" ky="0" algn="bl" rotWithShape="0" blurRad="101600" dist="25400" dir="5400000">
              <a:srgbClr val="0B2A24">
                <a:alpha val="12000"/>
              </a:srgbClr>
            </a:outerShdw>
          </a:effectLst>
        </p:spPr>
      </p:sp>
      <p:sp>
        <p:nvSpPr>
          <p:cNvPr id="20" name="Shape 14"/>
          <p:cNvSpPr/>
          <p:nvPr/>
        </p:nvSpPr>
        <p:spPr>
          <a:xfrm>
            <a:off x="8554517" y="2194560"/>
            <a:ext cx="548640" cy="548640"/>
          </a:xfrm>
          <a:prstGeom prst="ellipse">
            <a:avLst/>
          </a:prstGeom>
          <a:solidFill>
            <a:srgbClr val="0B4339"/>
          </a:solidFill>
          <a:ln w="12700">
            <a:solidFill>
              <a:srgbClr val="0B4339"/>
            </a:solidFill>
            <a:prstDash val="solid"/>
          </a:ln>
        </p:spPr>
      </p:sp>
      <p:pic>
        <p:nvPicPr>
          <p:cNvPr id="21" name="Image 4" descr="preencoded.png">    </p:cNvPr>
          <p:cNvPicPr>
            <a:picLocks noChangeAspect="1"/>
          </p:cNvPicPr>
          <p:nvPr/>
        </p:nvPicPr>
        <p:blipFill>
          <a:blip r:embed="rId5"/>
          <a:stretch>
            <a:fillRect/>
          </a:stretch>
        </p:blipFill>
        <p:spPr>
          <a:xfrm>
            <a:off x="8686190" y="2326234"/>
            <a:ext cx="285293" cy="285293"/>
          </a:xfrm>
          <a:prstGeom prst="rect">
            <a:avLst/>
          </a:prstGeom>
        </p:spPr>
      </p:pic>
      <p:sp>
        <p:nvSpPr>
          <p:cNvPr id="22" name="Text 15"/>
          <p:cNvSpPr txBox="1"/>
          <p:nvPr/>
        </p:nvSpPr>
        <p:spPr>
          <a:xfrm>
            <a:off x="9286037" y="2176272"/>
            <a:ext cx="2174138" cy="329184"/>
          </a:xfrm>
          <a:prstGeom prst="rect">
            <a:avLst/>
          </a:prstGeom>
          <a:noFill/>
          <a:ln/>
        </p:spPr>
        <p:txBody>
          <a:bodyPr wrap="square" lIns="0" tIns="0" rIns="0" bIns="0" rtlCol="0" anchor="t"/>
          <a:lstStyle/>
          <a:p>
            <a:pPr indent="0" marL="0">
              <a:buNone/>
            </a:pPr>
            <a:r>
              <a:rPr lang="en-US" sz="1900" b="1" dirty="0">
                <a:solidFill>
                  <a:srgbClr val="142130"/>
                </a:solidFill>
                <a:latin typeface="Arial" pitchFamily="34" charset="0"/>
                <a:ea typeface="Arial" pitchFamily="34" charset="-122"/>
                <a:cs typeface="Arial" pitchFamily="34" charset="-120"/>
              </a:rPr>
              <a:t>Europe</a:t>
            </a:r>
            <a:endParaRPr lang="en-US" sz="1900" dirty="0"/>
          </a:p>
        </p:txBody>
      </p:sp>
      <p:sp>
        <p:nvSpPr>
          <p:cNvPr id="23" name="Text 16"/>
          <p:cNvSpPr txBox="1"/>
          <p:nvPr/>
        </p:nvSpPr>
        <p:spPr>
          <a:xfrm>
            <a:off x="9286037" y="2505456"/>
            <a:ext cx="2174138" cy="274320"/>
          </a:xfrm>
          <a:prstGeom prst="rect">
            <a:avLst/>
          </a:prstGeom>
          <a:noFill/>
          <a:ln/>
        </p:spPr>
        <p:txBody>
          <a:bodyPr wrap="square" lIns="0" tIns="0" rIns="0" bIns="0" rtlCol="0" anchor="t"/>
          <a:lstStyle/>
          <a:p>
            <a:pPr indent="0" marL="0">
              <a:buNone/>
            </a:pPr>
            <a:r>
              <a:rPr lang="en-US" sz="1250" b="1" dirty="0">
                <a:solidFill>
                  <a:srgbClr val="748892"/>
                </a:solidFill>
                <a:latin typeface="Arial" pitchFamily="34" charset="0"/>
                <a:ea typeface="Arial" pitchFamily="34" charset="-122"/>
                <a:cs typeface="Arial" pitchFamily="34" charset="-120"/>
              </a:rPr>
              <a:t>Grids with curtailment</a:t>
            </a:r>
            <a:endParaRPr lang="en-US" sz="1250" dirty="0"/>
          </a:p>
        </p:txBody>
      </p:sp>
      <p:sp>
        <p:nvSpPr>
          <p:cNvPr id="24" name="Text 17"/>
          <p:cNvSpPr txBox="1"/>
          <p:nvPr/>
        </p:nvSpPr>
        <p:spPr>
          <a:xfrm>
            <a:off x="8554517" y="3017520"/>
            <a:ext cx="2814218" cy="822960"/>
          </a:xfrm>
          <a:prstGeom prst="rect">
            <a:avLst/>
          </a:prstGeom>
          <a:noFill/>
          <a:ln/>
        </p:spPr>
        <p:txBody>
          <a:bodyPr wrap="square" lIns="0" tIns="0" rIns="0" bIns="0" rtlCol="0" anchor="t"/>
          <a:lstStyle/>
          <a:p>
            <a:pPr indent="0" marL="0">
              <a:buNone/>
            </a:pPr>
            <a:r>
              <a:rPr lang="en-US" sz="1300" dirty="0">
                <a:solidFill>
                  <a:srgbClr val="506474"/>
                </a:solidFill>
                <a:latin typeface="Arial" pitchFamily="34" charset="0"/>
                <a:ea typeface="Arial" pitchFamily="34" charset="-122"/>
                <a:cs typeface="Arial" pitchFamily="34" charset="-120"/>
              </a:rPr>
              <a:t>Per country: grid data, a retrained forecast model, local tariffs, network checks.</a:t>
            </a:r>
            <a:endParaRPr lang="en-US" sz="1300" dirty="0"/>
          </a:p>
        </p:txBody>
      </p:sp>
      <p:sp>
        <p:nvSpPr>
          <p:cNvPr id="25" name="Shape 18"/>
          <p:cNvSpPr/>
          <p:nvPr/>
        </p:nvSpPr>
        <p:spPr>
          <a:xfrm>
            <a:off x="548640" y="4206240"/>
            <a:ext cx="11094415" cy="1691640"/>
          </a:xfrm>
          <a:prstGeom prst="roundRect">
            <a:avLst>
              <a:gd name="adj" fmla="val 8649"/>
            </a:avLst>
          </a:prstGeom>
          <a:solidFill>
            <a:srgbClr val="0B4339"/>
          </a:solidFill>
          <a:ln w="9525">
            <a:solidFill>
              <a:srgbClr val="0B4339"/>
            </a:solidFill>
            <a:prstDash val="solid"/>
          </a:ln>
          <a:effectLst>
            <a:outerShdw sx="100000" sy="100000" kx="0" ky="0" algn="bl" rotWithShape="0" blurRad="101600" dist="25400" dir="5400000">
              <a:srgbClr val="0B2A24">
                <a:alpha val="12000"/>
              </a:srgbClr>
            </a:outerShdw>
          </a:effectLst>
        </p:spPr>
      </p:sp>
      <p:sp>
        <p:nvSpPr>
          <p:cNvPr id="26" name="Text 19"/>
          <p:cNvSpPr txBox="1"/>
          <p:nvPr/>
        </p:nvSpPr>
        <p:spPr>
          <a:xfrm>
            <a:off x="868680" y="4370832"/>
            <a:ext cx="5486400" cy="274320"/>
          </a:xfrm>
          <a:prstGeom prst="rect">
            <a:avLst/>
          </a:prstGeom>
          <a:noFill/>
          <a:ln/>
        </p:spPr>
        <p:txBody>
          <a:bodyPr wrap="square" lIns="0" tIns="0" rIns="0" bIns="0" rtlCol="0" anchor="t"/>
          <a:lstStyle/>
          <a:p>
            <a:pPr indent="0" marL="0">
              <a:buNone/>
            </a:pPr>
            <a:r>
              <a:rPr lang="en-US" sz="1250" b="1" spc="100" kern="0" dirty="0">
                <a:solidFill>
                  <a:srgbClr val="AFD1C4"/>
                </a:solidFill>
                <a:latin typeface="Arial" pitchFamily="34" charset="0"/>
                <a:ea typeface="Arial" pitchFamily="34" charset="-122"/>
                <a:cs typeface="Arial" pitchFamily="34" charset="-120"/>
              </a:rPr>
              <a:t>100 sites at pilot assumptions, a year</a:t>
            </a:r>
            <a:endParaRPr lang="en-US" sz="1250" dirty="0"/>
          </a:p>
        </p:txBody>
      </p:sp>
      <p:sp>
        <p:nvSpPr>
          <p:cNvPr id="27" name="Text 20"/>
          <p:cNvSpPr txBox="1"/>
          <p:nvPr/>
        </p:nvSpPr>
        <p:spPr>
          <a:xfrm>
            <a:off x="868680" y="4709160"/>
            <a:ext cx="2430704" cy="566928"/>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€480k</a:t>
            </a:r>
            <a:endParaRPr lang="en-US" sz="3200" dirty="0"/>
          </a:p>
        </p:txBody>
      </p:sp>
      <p:sp>
        <p:nvSpPr>
          <p:cNvPr id="28" name="Text 21"/>
          <p:cNvSpPr txBox="1"/>
          <p:nvPr/>
        </p:nvSpPr>
        <p:spPr>
          <a:xfrm>
            <a:off x="868680" y="5303520"/>
            <a:ext cx="2430704" cy="320040"/>
          </a:xfrm>
          <a:prstGeom prst="rect">
            <a:avLst/>
          </a:prstGeom>
          <a:noFill/>
          <a:ln/>
        </p:spPr>
        <p:txBody>
          <a:bodyPr wrap="square" lIns="0" tIns="0" rIns="0" bIns="0" rtlCol="0" anchor="t"/>
          <a:lstStyle/>
          <a:p>
            <a:pPr indent="0" marL="0">
              <a:buNone/>
            </a:pPr>
            <a:r>
              <a:rPr lang="en-US" sz="1300" dirty="0">
                <a:solidFill>
                  <a:srgbClr val="CFE6DD"/>
                </a:solidFill>
                <a:latin typeface="Arial" pitchFamily="34" charset="0"/>
                <a:ea typeface="Arial" pitchFamily="34" charset="-122"/>
                <a:cs typeface="Arial" pitchFamily="34" charset="-120"/>
              </a:rPr>
              <a:t>saved by drivers</a:t>
            </a:r>
            <a:endParaRPr lang="en-US" sz="1300" dirty="0"/>
          </a:p>
        </p:txBody>
      </p:sp>
      <p:sp>
        <p:nvSpPr>
          <p:cNvPr id="29" name="Text 22"/>
          <p:cNvSpPr txBox="1"/>
          <p:nvPr/>
        </p:nvSpPr>
        <p:spPr>
          <a:xfrm>
            <a:off x="3482264" y="4709160"/>
            <a:ext cx="2430704" cy="566928"/>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€120k</a:t>
            </a:r>
            <a:endParaRPr lang="en-US" sz="3200" dirty="0"/>
          </a:p>
        </p:txBody>
      </p:sp>
      <p:sp>
        <p:nvSpPr>
          <p:cNvPr id="30" name="Text 23"/>
          <p:cNvSpPr txBox="1"/>
          <p:nvPr/>
        </p:nvSpPr>
        <p:spPr>
          <a:xfrm>
            <a:off x="3482264" y="5303520"/>
            <a:ext cx="2430704" cy="320040"/>
          </a:xfrm>
          <a:prstGeom prst="rect">
            <a:avLst/>
          </a:prstGeom>
          <a:noFill/>
          <a:ln/>
        </p:spPr>
        <p:txBody>
          <a:bodyPr wrap="square" lIns="0" tIns="0" rIns="0" bIns="0" rtlCol="0" anchor="t"/>
          <a:lstStyle/>
          <a:p>
            <a:pPr indent="0" marL="0">
              <a:buNone/>
            </a:pPr>
            <a:r>
              <a:rPr lang="en-US" sz="1300" dirty="0">
                <a:solidFill>
                  <a:srgbClr val="CFE6DD"/>
                </a:solidFill>
                <a:latin typeface="Arial" pitchFamily="34" charset="0"/>
                <a:ea typeface="Arial" pitchFamily="34" charset="-122"/>
                <a:cs typeface="Arial" pitchFamily="34" charset="-120"/>
              </a:rPr>
              <a:t>new operator profit</a:t>
            </a:r>
            <a:endParaRPr lang="en-US" sz="1300" dirty="0"/>
          </a:p>
        </p:txBody>
      </p:sp>
      <p:sp>
        <p:nvSpPr>
          <p:cNvPr id="31" name="Text 24"/>
          <p:cNvSpPr txBox="1"/>
          <p:nvPr/>
        </p:nvSpPr>
        <p:spPr>
          <a:xfrm>
            <a:off x="6095848" y="4709160"/>
            <a:ext cx="2430704" cy="566928"/>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€48k</a:t>
            </a:r>
            <a:endParaRPr lang="en-US" sz="3200" dirty="0"/>
          </a:p>
        </p:txBody>
      </p:sp>
      <p:sp>
        <p:nvSpPr>
          <p:cNvPr id="32" name="Text 25"/>
          <p:cNvSpPr txBox="1"/>
          <p:nvPr/>
        </p:nvSpPr>
        <p:spPr>
          <a:xfrm>
            <a:off x="6095848" y="5303520"/>
            <a:ext cx="2430704" cy="320040"/>
          </a:xfrm>
          <a:prstGeom prst="rect">
            <a:avLst/>
          </a:prstGeom>
          <a:noFill/>
          <a:ln/>
        </p:spPr>
        <p:txBody>
          <a:bodyPr wrap="square" lIns="0" tIns="0" rIns="0" bIns="0" rtlCol="0" anchor="t"/>
          <a:lstStyle/>
          <a:p>
            <a:pPr indent="0" marL="0">
              <a:buNone/>
            </a:pPr>
            <a:r>
              <a:rPr lang="en-US" sz="1300" dirty="0">
                <a:solidFill>
                  <a:srgbClr val="CFE6DD"/>
                </a:solidFill>
                <a:latin typeface="Arial" pitchFamily="34" charset="0"/>
                <a:ea typeface="Arial" pitchFamily="34" charset="-122"/>
                <a:cs typeface="Arial" pitchFamily="34" charset="-120"/>
              </a:rPr>
              <a:t>SaveThePlanet operating profit</a:t>
            </a:r>
            <a:endParaRPr lang="en-US" sz="1300" dirty="0"/>
          </a:p>
        </p:txBody>
      </p:sp>
      <p:sp>
        <p:nvSpPr>
          <p:cNvPr id="33" name="Text 26"/>
          <p:cNvSpPr txBox="1"/>
          <p:nvPr/>
        </p:nvSpPr>
        <p:spPr>
          <a:xfrm>
            <a:off x="8709431" y="4709160"/>
            <a:ext cx="2430704" cy="566928"/>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≈2,400 t</a:t>
            </a:r>
            <a:endParaRPr lang="en-US" sz="3200" dirty="0"/>
          </a:p>
        </p:txBody>
      </p:sp>
      <p:sp>
        <p:nvSpPr>
          <p:cNvPr id="34" name="Text 27"/>
          <p:cNvSpPr txBox="1"/>
          <p:nvPr/>
        </p:nvSpPr>
        <p:spPr>
          <a:xfrm>
            <a:off x="8709431" y="5303520"/>
            <a:ext cx="2430704" cy="320040"/>
          </a:xfrm>
          <a:prstGeom prst="rect">
            <a:avLst/>
          </a:prstGeom>
          <a:noFill/>
          <a:ln/>
        </p:spPr>
        <p:txBody>
          <a:bodyPr wrap="square" lIns="0" tIns="0" rIns="0" bIns="0" rtlCol="0" anchor="t"/>
          <a:lstStyle/>
          <a:p>
            <a:pPr indent="0" marL="0">
              <a:buNone/>
            </a:pPr>
            <a:r>
              <a:rPr lang="en-US" sz="1300" dirty="0">
                <a:solidFill>
                  <a:srgbClr val="CFE6DD"/>
                </a:solidFill>
                <a:latin typeface="Arial" pitchFamily="34" charset="0"/>
                <a:ea typeface="Arial" pitchFamily="34" charset="-122"/>
                <a:cs typeface="Arial" pitchFamily="34" charset="-120"/>
              </a:rPr>
              <a:t>CO₂, estimated</a:t>
            </a:r>
            <a:endParaRPr lang="en-US" sz="1300" dirty="0"/>
          </a:p>
        </p:txBody>
      </p:sp>
      <p:sp>
        <p:nvSpPr>
          <p:cNvPr id="35" name="Text 28"/>
          <p:cNvSpPr txBox="1"/>
          <p:nvPr/>
        </p:nvSpPr>
        <p:spPr>
          <a:xfrm>
            <a:off x="548640" y="6382512"/>
            <a:ext cx="11094415" cy="292608"/>
          </a:xfrm>
          <a:prstGeom prst="rect">
            <a:avLst/>
          </a:prstGeom>
          <a:noFill/>
          <a:ln/>
        </p:spPr>
        <p:txBody>
          <a:bodyPr wrap="square" lIns="0" tIns="0" rIns="0" bIns="0" rtlCol="0" anchor="b"/>
          <a:lstStyle/>
          <a:p>
            <a:pPr indent="0" marL="0">
              <a:buNone/>
            </a:pPr>
            <a:r>
              <a:rPr lang="en-US" sz="1000" dirty="0">
                <a:solidFill>
                  <a:srgbClr val="748892"/>
                </a:solidFill>
                <a:latin typeface="Arial" pitchFamily="34" charset="0"/>
                <a:ea typeface="Arial" pitchFamily="34" charset="-122"/>
                <a:cs typeface="Arial" pitchFamily="34" charset="-120"/>
              </a:rPr>
              <a:t>Illustrative and capacity-capped: 400 sessions a month per site (≤16 per window). Not a forecast or a sales pipeline; each site needs its own grid check.</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3F8F8"/>
        </a:solidFill>
      </p:bgPr>
    </p:bg>
    <p:spTree>
      <p:nvGrpSpPr>
        <p:cNvPr id="1" name=""/>
        <p:cNvGrpSpPr/>
        <p:nvPr/>
      </p:nvGrpSpPr>
      <p:grpSpPr>
        <a:xfrm>
          <a:off x="0" y="0"/>
          <a:ext cx="0" cy="0"/>
          <a:chOff x="0" y="0"/>
          <a:chExt cx="0" cy="0"/>
        </a:xfrm>
      </p:grpSpPr>
      <p:sp>
        <p:nvSpPr>
          <p:cNvPr id="2" name="Shape 0"/>
          <p:cNvSpPr/>
          <p:nvPr/>
        </p:nvSpPr>
        <p:spPr>
          <a:xfrm>
            <a:off x="548640" y="384048"/>
            <a:ext cx="2677363" cy="310896"/>
          </a:xfrm>
          <a:prstGeom prst="roundRect">
            <a:avLst>
              <a:gd name="adj" fmla="val 50000"/>
            </a:avLst>
          </a:prstGeom>
          <a:solidFill>
            <a:srgbClr val="E0F7EE"/>
          </a:solidFill>
          <a:ln w="12700">
            <a:solidFill>
              <a:srgbClr val="E0F7EE"/>
            </a:solidFill>
            <a:prstDash val="solid"/>
          </a:ln>
        </p:spPr>
      </p:sp>
      <p:sp>
        <p:nvSpPr>
          <p:cNvPr id="3" name="Text 1"/>
          <p:cNvSpPr txBox="1"/>
          <p:nvPr/>
        </p:nvSpPr>
        <p:spPr>
          <a:xfrm>
            <a:off x="548640" y="384048"/>
            <a:ext cx="2677363" cy="310896"/>
          </a:xfrm>
          <a:prstGeom prst="rect">
            <a:avLst/>
          </a:prstGeom>
          <a:noFill/>
          <a:ln/>
        </p:spPr>
        <p:txBody>
          <a:bodyPr wrap="square" lIns="0" tIns="0" rIns="0" bIns="0" rtlCol="0" anchor="ctr"/>
          <a:lstStyle/>
          <a:p>
            <a:pPr algn="ctr" indent="0" marL="0">
              <a:buNone/>
            </a:pPr>
            <a:r>
              <a:rPr lang="en-US" sz="1100" b="1" spc="150" kern="0" dirty="0">
                <a:solidFill>
                  <a:srgbClr val="0B4339"/>
                </a:solidFill>
                <a:latin typeface="Arial" pitchFamily="34" charset="0"/>
                <a:ea typeface="Arial" pitchFamily="34" charset="-122"/>
                <a:cs typeface="Arial" pitchFamily="34" charset="-120"/>
              </a:rPr>
              <a:t>TECHNICAL · EXECUTION</a:t>
            </a:r>
            <a:endParaRPr lang="en-US" sz="1100" dirty="0"/>
          </a:p>
        </p:txBody>
      </p:sp>
      <p:sp>
        <p:nvSpPr>
          <p:cNvPr id="4" name="Text 2"/>
          <p:cNvSpPr txBox="1"/>
          <p:nvPr/>
        </p:nvSpPr>
        <p:spPr>
          <a:xfrm>
            <a:off x="548640" y="841248"/>
            <a:ext cx="11094415" cy="914400"/>
          </a:xfrm>
          <a:prstGeom prst="rect">
            <a:avLst/>
          </a:prstGeom>
          <a:noFill/>
          <a:ln/>
        </p:spPr>
        <p:txBody>
          <a:bodyPr wrap="square" lIns="0" tIns="0" rIns="0" bIns="0" rtlCol="0" anchor="t"/>
          <a:lstStyle/>
          <a:p>
            <a:pPr indent="0" marL="0">
              <a:buNone/>
            </a:pPr>
            <a:r>
              <a:rPr lang="en-US" sz="3400" b="1" dirty="0">
                <a:solidFill>
                  <a:srgbClr val="142130"/>
                </a:solidFill>
                <a:latin typeface="Arial" pitchFamily="34" charset="0"/>
                <a:ea typeface="Arial" pitchFamily="34" charset="-122"/>
                <a:cs typeface="Arial" pitchFamily="34" charset="-120"/>
              </a:rPr>
              <a:t>Real data in. Tested decisions out.</a:t>
            </a:r>
            <a:endParaRPr lang="en-US" sz="3400" dirty="0"/>
          </a:p>
        </p:txBody>
      </p:sp>
      <p:sp>
        <p:nvSpPr>
          <p:cNvPr id="5" name="Shape 3"/>
          <p:cNvSpPr/>
          <p:nvPr/>
        </p:nvSpPr>
        <p:spPr>
          <a:xfrm>
            <a:off x="548640" y="2011680"/>
            <a:ext cx="1984797" cy="1920240"/>
          </a:xfrm>
          <a:prstGeom prst="roundRect">
            <a:avLst>
              <a:gd name="adj" fmla="val 7619"/>
            </a:avLst>
          </a:prstGeom>
          <a:solidFill>
            <a:srgbClr val="FFFFFF"/>
          </a:solidFill>
          <a:ln w="9525">
            <a:solidFill>
              <a:srgbClr val="DBE9E9"/>
            </a:solidFill>
            <a:prstDash val="solid"/>
          </a:ln>
          <a:effectLst>
            <a:outerShdw sx="100000" sy="100000" kx="0" ky="0" algn="bl" rotWithShape="0" blurRad="101600" dist="25400" dir="5400000">
              <a:srgbClr val="0B2A24">
                <a:alpha val="12000"/>
              </a:srgbClr>
            </a:outerShdw>
          </a:effectLst>
        </p:spPr>
      </p:sp>
      <p:sp>
        <p:nvSpPr>
          <p:cNvPr id="6" name="Shape 4"/>
          <p:cNvSpPr/>
          <p:nvPr/>
        </p:nvSpPr>
        <p:spPr>
          <a:xfrm>
            <a:off x="777240" y="2240280"/>
            <a:ext cx="512064" cy="512064"/>
          </a:xfrm>
          <a:prstGeom prst="ellipse">
            <a:avLst/>
          </a:prstGeom>
          <a:solidFill>
            <a:srgbClr val="0B4339"/>
          </a:solidFill>
          <a:ln w="12700">
            <a:solidFill>
              <a:srgbClr val="0B4339"/>
            </a:solidFill>
            <a:prstDash val="solid"/>
          </a:ln>
        </p:spPr>
      </p:sp>
      <p:pic>
        <p:nvPicPr>
          <p:cNvPr id="7" name="Image 0" descr="preencoded.png">    </p:cNvPr>
          <p:cNvPicPr>
            <a:picLocks noChangeAspect="1"/>
          </p:cNvPicPr>
          <p:nvPr/>
        </p:nvPicPr>
        <p:blipFill>
          <a:blip r:embed="rId1"/>
          <a:stretch>
            <a:fillRect/>
          </a:stretch>
        </p:blipFill>
        <p:spPr>
          <a:xfrm>
            <a:off x="900135" y="2363175"/>
            <a:ext cx="266273" cy="266273"/>
          </a:xfrm>
          <a:prstGeom prst="rect">
            <a:avLst/>
          </a:prstGeom>
        </p:spPr>
      </p:pic>
      <p:sp>
        <p:nvSpPr>
          <p:cNvPr id="8" name="Text 5"/>
          <p:cNvSpPr txBox="1"/>
          <p:nvPr/>
        </p:nvSpPr>
        <p:spPr>
          <a:xfrm>
            <a:off x="777240" y="2880360"/>
            <a:ext cx="1619037" cy="329184"/>
          </a:xfrm>
          <a:prstGeom prst="rect">
            <a:avLst/>
          </a:prstGeom>
          <a:noFill/>
          <a:ln/>
        </p:spPr>
        <p:txBody>
          <a:bodyPr wrap="square" lIns="0" tIns="0" rIns="0" bIns="0" rtlCol="0" anchor="t"/>
          <a:lstStyle/>
          <a:p>
            <a:pPr indent="0" marL="0">
              <a:buNone/>
            </a:pPr>
            <a:r>
              <a:rPr lang="en-US" sz="1500" b="1" dirty="0">
                <a:solidFill>
                  <a:srgbClr val="142130"/>
                </a:solidFill>
                <a:latin typeface="Arial" pitchFamily="34" charset="0"/>
                <a:ea typeface="Arial" pitchFamily="34" charset="-122"/>
                <a:cs typeface="Arial" pitchFamily="34" charset="-120"/>
              </a:rPr>
              <a:t>EirGrid data</a:t>
            </a:r>
            <a:endParaRPr lang="en-US" sz="1500" dirty="0"/>
          </a:p>
        </p:txBody>
      </p:sp>
      <p:sp>
        <p:nvSpPr>
          <p:cNvPr id="9" name="Text 6"/>
          <p:cNvSpPr txBox="1"/>
          <p:nvPr/>
        </p:nvSpPr>
        <p:spPr>
          <a:xfrm>
            <a:off x="777240" y="3227832"/>
            <a:ext cx="1619037" cy="594360"/>
          </a:xfrm>
          <a:prstGeom prst="rect">
            <a:avLst/>
          </a:prstGeom>
          <a:noFill/>
          <a:ln/>
        </p:spPr>
        <p:txBody>
          <a:bodyPr wrap="square" lIns="0" tIns="0" rIns="0" bIns="0" rtlCol="0" anchor="t"/>
          <a:lstStyle/>
          <a:p>
            <a:pPr indent="0" marL="0">
              <a:buNone/>
            </a:pPr>
            <a:r>
              <a:rPr lang="en-US" sz="1200" dirty="0">
                <a:solidFill>
                  <a:srgbClr val="506474"/>
                </a:solidFill>
                <a:latin typeface="Arial" pitchFamily="34" charset="0"/>
                <a:ea typeface="Arial" pitchFamily="34" charset="-122"/>
                <a:cs typeface="Arial" pitchFamily="34" charset="-120"/>
              </a:rPr>
              <a:t>observed curtailment</a:t>
            </a:r>
            <a:endParaRPr lang="en-US" sz="1200" dirty="0"/>
          </a:p>
        </p:txBody>
      </p:sp>
      <p:pic>
        <p:nvPicPr>
          <p:cNvPr id="10" name="Image 1" descr="preencoded.png">    </p:cNvPr>
          <p:cNvPicPr>
            <a:picLocks noChangeAspect="1"/>
          </p:cNvPicPr>
          <p:nvPr/>
        </p:nvPicPr>
        <p:blipFill>
          <a:blip r:embed="rId2"/>
          <a:stretch>
            <a:fillRect/>
          </a:stretch>
        </p:blipFill>
        <p:spPr>
          <a:xfrm>
            <a:off x="2551725" y="2816352"/>
            <a:ext cx="256032" cy="256032"/>
          </a:xfrm>
          <a:prstGeom prst="rect">
            <a:avLst/>
          </a:prstGeom>
        </p:spPr>
      </p:pic>
      <p:sp>
        <p:nvSpPr>
          <p:cNvPr id="11" name="Shape 7"/>
          <p:cNvSpPr/>
          <p:nvPr/>
        </p:nvSpPr>
        <p:spPr>
          <a:xfrm>
            <a:off x="2826045" y="2011680"/>
            <a:ext cx="1984797" cy="1920240"/>
          </a:xfrm>
          <a:prstGeom prst="roundRect">
            <a:avLst>
              <a:gd name="adj" fmla="val 7619"/>
            </a:avLst>
          </a:prstGeom>
          <a:solidFill>
            <a:srgbClr val="0B4339"/>
          </a:solidFill>
          <a:ln w="9525">
            <a:solidFill>
              <a:srgbClr val="0B4339"/>
            </a:solidFill>
            <a:prstDash val="solid"/>
          </a:ln>
          <a:effectLst>
            <a:outerShdw sx="100000" sy="100000" kx="0" ky="0" algn="bl" rotWithShape="0" blurRad="101600" dist="25400" dir="5400000">
              <a:srgbClr val="0B2A24">
                <a:alpha val="12000"/>
              </a:srgbClr>
            </a:outerShdw>
          </a:effectLst>
        </p:spPr>
      </p:sp>
      <p:sp>
        <p:nvSpPr>
          <p:cNvPr id="12" name="Shape 8"/>
          <p:cNvSpPr/>
          <p:nvPr/>
        </p:nvSpPr>
        <p:spPr>
          <a:xfrm>
            <a:off x="3054645" y="2240280"/>
            <a:ext cx="512064" cy="512064"/>
          </a:xfrm>
          <a:prstGeom prst="ellipse">
            <a:avLst/>
          </a:prstGeom>
          <a:solidFill>
            <a:srgbClr val="E0F7EE"/>
          </a:solidFill>
          <a:ln w="12700">
            <a:solidFill>
              <a:srgbClr val="E0F7EE"/>
            </a:solidFill>
            <a:prstDash val="solid"/>
          </a:ln>
        </p:spPr>
      </p:sp>
      <p:pic>
        <p:nvPicPr>
          <p:cNvPr id="13" name="Image 2" descr="preencoded.png">    </p:cNvPr>
          <p:cNvPicPr>
            <a:picLocks noChangeAspect="1"/>
          </p:cNvPicPr>
          <p:nvPr/>
        </p:nvPicPr>
        <p:blipFill>
          <a:blip r:embed="rId3"/>
          <a:stretch>
            <a:fillRect/>
          </a:stretch>
        </p:blipFill>
        <p:spPr>
          <a:xfrm>
            <a:off x="3177540" y="2363175"/>
            <a:ext cx="266273" cy="266273"/>
          </a:xfrm>
          <a:prstGeom prst="rect">
            <a:avLst/>
          </a:prstGeom>
        </p:spPr>
      </p:pic>
      <p:sp>
        <p:nvSpPr>
          <p:cNvPr id="14" name="Text 9"/>
          <p:cNvSpPr txBox="1"/>
          <p:nvPr/>
        </p:nvSpPr>
        <p:spPr>
          <a:xfrm>
            <a:off x="3054645" y="2880360"/>
            <a:ext cx="1619037" cy="329184"/>
          </a:xfrm>
          <a:prstGeom prst="rect">
            <a:avLst/>
          </a:prstGeom>
          <a:noFill/>
          <a:ln/>
        </p:spPr>
        <p:txBody>
          <a:bodyPr wrap="square" lIns="0" tIns="0" rIns="0" bIns="0" rtlCol="0" anchor="t"/>
          <a:lstStyle/>
          <a:p>
            <a:pPr indent="0" marL="0">
              <a:buNone/>
            </a:pPr>
            <a:r>
              <a:rPr lang="en-US" sz="1500" b="1" dirty="0">
                <a:solidFill>
                  <a:srgbClr val="FFFFFF"/>
                </a:solidFill>
                <a:latin typeface="Arial" pitchFamily="34" charset="0"/>
                <a:ea typeface="Arial" pitchFamily="34" charset="-122"/>
                <a:cs typeface="Arial" pitchFamily="34" charset="-120"/>
              </a:rPr>
              <a:t>GridToEv model</a:t>
            </a:r>
            <a:endParaRPr lang="en-US" sz="1500" dirty="0"/>
          </a:p>
        </p:txBody>
      </p:sp>
      <p:sp>
        <p:nvSpPr>
          <p:cNvPr id="15" name="Text 10"/>
          <p:cNvSpPr txBox="1"/>
          <p:nvPr/>
        </p:nvSpPr>
        <p:spPr>
          <a:xfrm>
            <a:off x="3054645" y="3227832"/>
            <a:ext cx="1619037" cy="594360"/>
          </a:xfrm>
          <a:prstGeom prst="rect">
            <a:avLst/>
          </a:prstGeom>
          <a:noFill/>
          <a:ln/>
        </p:spPr>
        <p:txBody>
          <a:bodyPr wrap="square" lIns="0" tIns="0" rIns="0" bIns="0" rtlCol="0" anchor="t"/>
          <a:lstStyle/>
          <a:p>
            <a:pPr indent="0" marL="0">
              <a:buNone/>
            </a:pPr>
            <a:r>
              <a:rPr lang="en-US" sz="1200" dirty="0">
                <a:solidFill>
                  <a:srgbClr val="CFE6DD"/>
                </a:solidFill>
                <a:latin typeface="Arial" pitchFamily="34" charset="0"/>
                <a:ea typeface="Arial" pitchFamily="34" charset="-122"/>
                <a:cs typeface="Arial" pitchFamily="34" charset="-120"/>
              </a:rPr>
              <a:t>+30-min forecasts</a:t>
            </a:r>
            <a:endParaRPr lang="en-US" sz="1200" dirty="0"/>
          </a:p>
        </p:txBody>
      </p:sp>
      <p:pic>
        <p:nvPicPr>
          <p:cNvPr id="16" name="Image 3" descr="preencoded.png">    </p:cNvPr>
          <p:cNvPicPr>
            <a:picLocks noChangeAspect="1"/>
          </p:cNvPicPr>
          <p:nvPr/>
        </p:nvPicPr>
        <p:blipFill>
          <a:blip r:embed="rId4"/>
          <a:stretch>
            <a:fillRect/>
          </a:stretch>
        </p:blipFill>
        <p:spPr>
          <a:xfrm>
            <a:off x="4829129" y="2816352"/>
            <a:ext cx="256032" cy="256032"/>
          </a:xfrm>
          <a:prstGeom prst="rect">
            <a:avLst/>
          </a:prstGeom>
        </p:spPr>
      </p:pic>
      <p:sp>
        <p:nvSpPr>
          <p:cNvPr id="17" name="Shape 11"/>
          <p:cNvSpPr/>
          <p:nvPr/>
        </p:nvSpPr>
        <p:spPr>
          <a:xfrm>
            <a:off x="5103449" y="2011680"/>
            <a:ext cx="1984797" cy="1920240"/>
          </a:xfrm>
          <a:prstGeom prst="roundRect">
            <a:avLst>
              <a:gd name="adj" fmla="val 7619"/>
            </a:avLst>
          </a:prstGeom>
          <a:solidFill>
            <a:srgbClr val="FFFFFF"/>
          </a:solidFill>
          <a:ln w="9525">
            <a:solidFill>
              <a:srgbClr val="DBE9E9"/>
            </a:solidFill>
            <a:prstDash val="solid"/>
          </a:ln>
          <a:effectLst>
            <a:outerShdw sx="100000" sy="100000" kx="0" ky="0" algn="bl" rotWithShape="0" blurRad="101600" dist="25400" dir="5400000">
              <a:srgbClr val="0B2A24">
                <a:alpha val="12000"/>
              </a:srgbClr>
            </a:outerShdw>
          </a:effectLst>
        </p:spPr>
      </p:sp>
      <p:sp>
        <p:nvSpPr>
          <p:cNvPr id="18" name="Shape 12"/>
          <p:cNvSpPr/>
          <p:nvPr/>
        </p:nvSpPr>
        <p:spPr>
          <a:xfrm>
            <a:off x="5332049" y="2240280"/>
            <a:ext cx="512064" cy="512064"/>
          </a:xfrm>
          <a:prstGeom prst="ellipse">
            <a:avLst/>
          </a:prstGeom>
          <a:solidFill>
            <a:srgbClr val="0B4339"/>
          </a:solidFill>
          <a:ln w="12700">
            <a:solidFill>
              <a:srgbClr val="0B4339"/>
            </a:solidFill>
            <a:prstDash val="solid"/>
          </a:ln>
        </p:spPr>
      </p:sp>
      <p:pic>
        <p:nvPicPr>
          <p:cNvPr id="19" name="Image 4" descr="preencoded.png">    </p:cNvPr>
          <p:cNvPicPr>
            <a:picLocks noChangeAspect="1"/>
          </p:cNvPicPr>
          <p:nvPr/>
        </p:nvPicPr>
        <p:blipFill>
          <a:blip r:embed="rId5"/>
          <a:stretch>
            <a:fillRect/>
          </a:stretch>
        </p:blipFill>
        <p:spPr>
          <a:xfrm>
            <a:off x="5454945" y="2363175"/>
            <a:ext cx="266273" cy="266273"/>
          </a:xfrm>
          <a:prstGeom prst="rect">
            <a:avLst/>
          </a:prstGeom>
        </p:spPr>
      </p:pic>
      <p:sp>
        <p:nvSpPr>
          <p:cNvPr id="20" name="Text 13"/>
          <p:cNvSpPr txBox="1"/>
          <p:nvPr/>
        </p:nvSpPr>
        <p:spPr>
          <a:xfrm>
            <a:off x="5332049" y="2880360"/>
            <a:ext cx="1619037" cy="329184"/>
          </a:xfrm>
          <a:prstGeom prst="rect">
            <a:avLst/>
          </a:prstGeom>
          <a:noFill/>
          <a:ln/>
        </p:spPr>
        <p:txBody>
          <a:bodyPr wrap="square" lIns="0" tIns="0" rIns="0" bIns="0" rtlCol="0" anchor="t"/>
          <a:lstStyle/>
          <a:p>
            <a:pPr indent="0" marL="0">
              <a:buNone/>
            </a:pPr>
            <a:r>
              <a:rPr lang="en-US" sz="1500" b="1" dirty="0">
                <a:solidFill>
                  <a:srgbClr val="142130"/>
                </a:solidFill>
                <a:latin typeface="Arial" pitchFamily="34" charset="0"/>
                <a:ea typeface="Arial" pitchFamily="34" charset="-122"/>
                <a:cs typeface="Arial" pitchFamily="34" charset="-120"/>
              </a:rPr>
              <a:t>Optimiser</a:t>
            </a:r>
            <a:endParaRPr lang="en-US" sz="1500" dirty="0"/>
          </a:p>
        </p:txBody>
      </p:sp>
      <p:sp>
        <p:nvSpPr>
          <p:cNvPr id="21" name="Text 14"/>
          <p:cNvSpPr txBox="1"/>
          <p:nvPr/>
        </p:nvSpPr>
        <p:spPr>
          <a:xfrm>
            <a:off x="5332049" y="3227832"/>
            <a:ext cx="1619037" cy="594360"/>
          </a:xfrm>
          <a:prstGeom prst="rect">
            <a:avLst/>
          </a:prstGeom>
          <a:noFill/>
          <a:ln/>
        </p:spPr>
        <p:txBody>
          <a:bodyPr wrap="square" lIns="0" tIns="0" rIns="0" bIns="0" rtlCol="0" anchor="t"/>
          <a:lstStyle/>
          <a:p>
            <a:pPr indent="0" marL="0">
              <a:buNone/>
            </a:pPr>
            <a:r>
              <a:rPr lang="en-US" sz="1200" dirty="0">
                <a:solidFill>
                  <a:srgbClr val="506474"/>
                </a:solidFill>
                <a:latin typeface="Arial" pitchFamily="34" charset="0"/>
                <a:ea typeface="Arial" pitchFamily="34" charset="-122"/>
                <a:cs typeface="Arial" pitchFamily="34" charset="-120"/>
              </a:rPr>
              <a:t>feasibility: chargers, connection, battery, departures</a:t>
            </a:r>
            <a:endParaRPr lang="en-US" sz="1200" dirty="0"/>
          </a:p>
        </p:txBody>
      </p:sp>
      <p:pic>
        <p:nvPicPr>
          <p:cNvPr id="22" name="Image 5" descr="preencoded.png">    </p:cNvPr>
          <p:cNvPicPr>
            <a:picLocks noChangeAspect="1"/>
          </p:cNvPicPr>
          <p:nvPr/>
        </p:nvPicPr>
        <p:blipFill>
          <a:blip r:embed="rId6"/>
          <a:stretch>
            <a:fillRect/>
          </a:stretch>
        </p:blipFill>
        <p:spPr>
          <a:xfrm>
            <a:off x="7106534" y="2816352"/>
            <a:ext cx="256032" cy="256032"/>
          </a:xfrm>
          <a:prstGeom prst="rect">
            <a:avLst/>
          </a:prstGeom>
        </p:spPr>
      </p:pic>
      <p:sp>
        <p:nvSpPr>
          <p:cNvPr id="23" name="Shape 15"/>
          <p:cNvSpPr/>
          <p:nvPr/>
        </p:nvSpPr>
        <p:spPr>
          <a:xfrm>
            <a:off x="7380854" y="2011680"/>
            <a:ext cx="1984797" cy="1920240"/>
          </a:xfrm>
          <a:prstGeom prst="roundRect">
            <a:avLst>
              <a:gd name="adj" fmla="val 7619"/>
            </a:avLst>
          </a:prstGeom>
          <a:solidFill>
            <a:srgbClr val="FFFFFF"/>
          </a:solidFill>
          <a:ln w="9525">
            <a:solidFill>
              <a:srgbClr val="DBE9E9"/>
            </a:solidFill>
            <a:prstDash val="solid"/>
          </a:ln>
          <a:effectLst>
            <a:outerShdw sx="100000" sy="100000" kx="0" ky="0" algn="bl" rotWithShape="0" blurRad="101600" dist="25400" dir="5400000">
              <a:srgbClr val="0B2A24">
                <a:alpha val="12000"/>
              </a:srgbClr>
            </a:outerShdw>
          </a:effectLst>
        </p:spPr>
      </p:sp>
      <p:sp>
        <p:nvSpPr>
          <p:cNvPr id="24" name="Shape 16"/>
          <p:cNvSpPr/>
          <p:nvPr/>
        </p:nvSpPr>
        <p:spPr>
          <a:xfrm>
            <a:off x="7609454" y="2240280"/>
            <a:ext cx="512064" cy="512064"/>
          </a:xfrm>
          <a:prstGeom prst="ellipse">
            <a:avLst/>
          </a:prstGeom>
          <a:solidFill>
            <a:srgbClr val="0B4339"/>
          </a:solidFill>
          <a:ln w="12700">
            <a:solidFill>
              <a:srgbClr val="0B4339"/>
            </a:solidFill>
            <a:prstDash val="solid"/>
          </a:ln>
        </p:spPr>
      </p:sp>
      <p:pic>
        <p:nvPicPr>
          <p:cNvPr id="25" name="Image 6" descr="preencoded.png">    </p:cNvPr>
          <p:cNvPicPr>
            <a:picLocks noChangeAspect="1"/>
          </p:cNvPicPr>
          <p:nvPr/>
        </p:nvPicPr>
        <p:blipFill>
          <a:blip r:embed="rId7"/>
          <a:stretch>
            <a:fillRect/>
          </a:stretch>
        </p:blipFill>
        <p:spPr>
          <a:xfrm>
            <a:off x="7732349" y="2363175"/>
            <a:ext cx="266273" cy="266273"/>
          </a:xfrm>
          <a:prstGeom prst="rect">
            <a:avLst/>
          </a:prstGeom>
        </p:spPr>
      </p:pic>
      <p:sp>
        <p:nvSpPr>
          <p:cNvPr id="26" name="Text 17"/>
          <p:cNvSpPr txBox="1"/>
          <p:nvPr/>
        </p:nvSpPr>
        <p:spPr>
          <a:xfrm>
            <a:off x="7609454" y="2880360"/>
            <a:ext cx="1619037" cy="329184"/>
          </a:xfrm>
          <a:prstGeom prst="rect">
            <a:avLst/>
          </a:prstGeom>
          <a:noFill/>
          <a:ln/>
        </p:spPr>
        <p:txBody>
          <a:bodyPr wrap="square" lIns="0" tIns="0" rIns="0" bIns="0" rtlCol="0" anchor="t"/>
          <a:lstStyle/>
          <a:p>
            <a:pPr indent="0" marL="0">
              <a:buNone/>
            </a:pPr>
            <a:r>
              <a:rPr lang="en-US" sz="1500" b="1" dirty="0">
                <a:solidFill>
                  <a:srgbClr val="142130"/>
                </a:solidFill>
                <a:latin typeface="Arial" pitchFamily="34" charset="0"/>
                <a:ea typeface="Arial" pitchFamily="34" charset="-122"/>
                <a:cs typeface="Arial" pitchFamily="34" charset="-120"/>
              </a:rPr>
              <a:t>Settlement ledger</a:t>
            </a:r>
            <a:endParaRPr lang="en-US" sz="1500" dirty="0"/>
          </a:p>
        </p:txBody>
      </p:sp>
      <p:sp>
        <p:nvSpPr>
          <p:cNvPr id="27" name="Text 18"/>
          <p:cNvSpPr txBox="1"/>
          <p:nvPr/>
        </p:nvSpPr>
        <p:spPr>
          <a:xfrm>
            <a:off x="7609454" y="3227832"/>
            <a:ext cx="1619037" cy="594360"/>
          </a:xfrm>
          <a:prstGeom prst="rect">
            <a:avLst/>
          </a:prstGeom>
          <a:noFill/>
          <a:ln/>
        </p:spPr>
        <p:txBody>
          <a:bodyPr wrap="square" lIns="0" tIns="0" rIns="0" bIns="0" rtlCol="0" anchor="t"/>
          <a:lstStyle/>
          <a:p>
            <a:pPr indent="0" marL="0">
              <a:buNone/>
            </a:pPr>
            <a:r>
              <a:rPr lang="en-US" sz="1200" dirty="0">
                <a:solidFill>
                  <a:srgbClr val="506474"/>
                </a:solidFill>
                <a:latin typeface="Arial" pitchFamily="34" charset="0"/>
                <a:ea typeface="Arial" pitchFamily="34" charset="-122"/>
                <a:cs typeface="Arial" pitchFamily="34" charset="-120"/>
              </a:rPr>
              <a:t>50 / 25 / 25 in whole cents</a:t>
            </a:r>
            <a:endParaRPr lang="en-US" sz="1200" dirty="0"/>
          </a:p>
        </p:txBody>
      </p:sp>
      <p:pic>
        <p:nvPicPr>
          <p:cNvPr id="28" name="Image 7" descr="preencoded.png">    </p:cNvPr>
          <p:cNvPicPr>
            <a:picLocks noChangeAspect="1"/>
          </p:cNvPicPr>
          <p:nvPr/>
        </p:nvPicPr>
        <p:blipFill>
          <a:blip r:embed="rId8"/>
          <a:stretch>
            <a:fillRect/>
          </a:stretch>
        </p:blipFill>
        <p:spPr>
          <a:xfrm>
            <a:off x="9383939" y="2816352"/>
            <a:ext cx="256032" cy="256032"/>
          </a:xfrm>
          <a:prstGeom prst="rect">
            <a:avLst/>
          </a:prstGeom>
        </p:spPr>
      </p:pic>
      <p:sp>
        <p:nvSpPr>
          <p:cNvPr id="29" name="Shape 19"/>
          <p:cNvSpPr/>
          <p:nvPr/>
        </p:nvSpPr>
        <p:spPr>
          <a:xfrm>
            <a:off x="9658259" y="2011680"/>
            <a:ext cx="1984797" cy="1920240"/>
          </a:xfrm>
          <a:prstGeom prst="roundRect">
            <a:avLst>
              <a:gd name="adj" fmla="val 7619"/>
            </a:avLst>
          </a:prstGeom>
          <a:solidFill>
            <a:srgbClr val="FFFFFF"/>
          </a:solidFill>
          <a:ln w="9525">
            <a:solidFill>
              <a:srgbClr val="DBE9E9"/>
            </a:solidFill>
            <a:prstDash val="solid"/>
          </a:ln>
          <a:effectLst>
            <a:outerShdw sx="100000" sy="100000" kx="0" ky="0" algn="bl" rotWithShape="0" blurRad="101600" dist="25400" dir="5400000">
              <a:srgbClr val="0B2A24">
                <a:alpha val="12000"/>
              </a:srgbClr>
            </a:outerShdw>
          </a:effectLst>
        </p:spPr>
      </p:sp>
      <p:sp>
        <p:nvSpPr>
          <p:cNvPr id="30" name="Shape 20"/>
          <p:cNvSpPr/>
          <p:nvPr/>
        </p:nvSpPr>
        <p:spPr>
          <a:xfrm>
            <a:off x="9886859" y="2240280"/>
            <a:ext cx="512064" cy="512064"/>
          </a:xfrm>
          <a:prstGeom prst="ellipse">
            <a:avLst/>
          </a:prstGeom>
          <a:solidFill>
            <a:srgbClr val="0B4339"/>
          </a:solidFill>
          <a:ln w="12700">
            <a:solidFill>
              <a:srgbClr val="0B4339"/>
            </a:solidFill>
            <a:prstDash val="solid"/>
          </a:ln>
        </p:spPr>
      </p:sp>
      <p:pic>
        <p:nvPicPr>
          <p:cNvPr id="31" name="Image 8" descr="preencoded.png">    </p:cNvPr>
          <p:cNvPicPr>
            <a:picLocks noChangeAspect="1"/>
          </p:cNvPicPr>
          <p:nvPr/>
        </p:nvPicPr>
        <p:blipFill>
          <a:blip r:embed="rId9"/>
          <a:stretch>
            <a:fillRect/>
          </a:stretch>
        </p:blipFill>
        <p:spPr>
          <a:xfrm>
            <a:off x="10009754" y="2363175"/>
            <a:ext cx="266273" cy="266273"/>
          </a:xfrm>
          <a:prstGeom prst="rect">
            <a:avLst/>
          </a:prstGeom>
        </p:spPr>
      </p:pic>
      <p:sp>
        <p:nvSpPr>
          <p:cNvPr id="32" name="Text 21"/>
          <p:cNvSpPr txBox="1"/>
          <p:nvPr/>
        </p:nvSpPr>
        <p:spPr>
          <a:xfrm>
            <a:off x="9886859" y="2880360"/>
            <a:ext cx="1619037" cy="329184"/>
          </a:xfrm>
          <a:prstGeom prst="rect">
            <a:avLst/>
          </a:prstGeom>
          <a:noFill/>
          <a:ln/>
        </p:spPr>
        <p:txBody>
          <a:bodyPr wrap="square" lIns="0" tIns="0" rIns="0" bIns="0" rtlCol="0" anchor="t"/>
          <a:lstStyle/>
          <a:p>
            <a:pPr indent="0" marL="0">
              <a:buNone/>
            </a:pPr>
            <a:r>
              <a:rPr lang="en-US" sz="1500" b="1" dirty="0">
                <a:solidFill>
                  <a:srgbClr val="142130"/>
                </a:solidFill>
                <a:latin typeface="Arial" pitchFamily="34" charset="0"/>
                <a:ea typeface="Arial" pitchFamily="34" charset="-122"/>
                <a:cs typeface="Arial" pitchFamily="34" charset="-120"/>
              </a:rPr>
              <a:t>Web app</a:t>
            </a:r>
            <a:endParaRPr lang="en-US" sz="1500" dirty="0"/>
          </a:p>
        </p:txBody>
      </p:sp>
      <p:sp>
        <p:nvSpPr>
          <p:cNvPr id="33" name="Text 22"/>
          <p:cNvSpPr txBox="1"/>
          <p:nvPr/>
        </p:nvSpPr>
        <p:spPr>
          <a:xfrm>
            <a:off x="9886859" y="3227832"/>
            <a:ext cx="1619037" cy="594360"/>
          </a:xfrm>
          <a:prstGeom prst="rect">
            <a:avLst/>
          </a:prstGeom>
          <a:noFill/>
          <a:ln/>
        </p:spPr>
        <p:txBody>
          <a:bodyPr wrap="square" lIns="0" tIns="0" rIns="0" bIns="0" rtlCol="0" anchor="t"/>
          <a:lstStyle/>
          <a:p>
            <a:pPr indent="0" marL="0">
              <a:buNone/>
            </a:pPr>
            <a:r>
              <a:rPr lang="en-US" sz="1200" dirty="0">
                <a:solidFill>
                  <a:srgbClr val="506474"/>
                </a:solidFill>
                <a:latin typeface="Arial" pitchFamily="34" charset="0"/>
                <a:ea typeface="Arial" pitchFamily="34" charset="-122"/>
                <a:cs typeface="Arial" pitchFamily="34" charset="-120"/>
              </a:rPr>
              <a:t>6 pages, from forecast to impact</a:t>
            </a:r>
            <a:endParaRPr lang="en-US" sz="1200" dirty="0"/>
          </a:p>
        </p:txBody>
      </p:sp>
      <p:sp>
        <p:nvSpPr>
          <p:cNvPr id="34" name="Shape 23"/>
          <p:cNvSpPr/>
          <p:nvPr/>
        </p:nvSpPr>
        <p:spPr>
          <a:xfrm>
            <a:off x="548640" y="4343400"/>
            <a:ext cx="3484778" cy="1417320"/>
          </a:xfrm>
          <a:prstGeom prst="roundRect">
            <a:avLst>
              <a:gd name="adj" fmla="val 10323"/>
            </a:avLst>
          </a:prstGeom>
          <a:solidFill>
            <a:srgbClr val="E0F7EE"/>
          </a:solidFill>
          <a:ln w="9525">
            <a:solidFill>
              <a:srgbClr val="E0F7EE"/>
            </a:solidFill>
            <a:prstDash val="solid"/>
          </a:ln>
          <a:effectLst>
            <a:outerShdw sx="100000" sy="100000" kx="0" ky="0" algn="bl" rotWithShape="0" blurRad="101600" dist="25400" dir="5400000">
              <a:srgbClr val="0B2A24">
                <a:alpha val="12000"/>
              </a:srgbClr>
            </a:outerShdw>
          </a:effectLst>
        </p:spPr>
      </p:sp>
      <p:sp>
        <p:nvSpPr>
          <p:cNvPr id="35" name="Text 24"/>
          <p:cNvSpPr txBox="1"/>
          <p:nvPr/>
        </p:nvSpPr>
        <p:spPr>
          <a:xfrm>
            <a:off x="822960" y="4544568"/>
            <a:ext cx="2936138" cy="548640"/>
          </a:xfrm>
          <a:prstGeom prst="rect">
            <a:avLst/>
          </a:prstGeom>
          <a:noFill/>
          <a:ln/>
        </p:spPr>
        <p:txBody>
          <a:bodyPr wrap="square" lIns="0" tIns="0" rIns="0" bIns="0" rtlCol="0" anchor="t"/>
          <a:lstStyle/>
          <a:p>
            <a:pPr indent="0" marL="0">
              <a:buNone/>
            </a:pPr>
            <a:r>
              <a:rPr lang="en-US" sz="3000" b="1" dirty="0">
                <a:solidFill>
                  <a:srgbClr val="0B4339"/>
                </a:solidFill>
                <a:latin typeface="Arial" pitchFamily="34" charset="0"/>
                <a:ea typeface="Arial" pitchFamily="34" charset="-122"/>
                <a:cs typeface="Arial" pitchFamily="34" charset="-120"/>
              </a:rPr>
              <a:t>406</a:t>
            </a:r>
            <a:endParaRPr lang="en-US" sz="3000" dirty="0"/>
          </a:p>
        </p:txBody>
      </p:sp>
      <p:sp>
        <p:nvSpPr>
          <p:cNvPr id="36" name="Text 25"/>
          <p:cNvSpPr txBox="1"/>
          <p:nvPr/>
        </p:nvSpPr>
        <p:spPr>
          <a:xfrm>
            <a:off x="822960" y="5148072"/>
            <a:ext cx="2936138" cy="457200"/>
          </a:xfrm>
          <a:prstGeom prst="rect">
            <a:avLst/>
          </a:prstGeom>
          <a:noFill/>
          <a:ln/>
        </p:spPr>
        <p:txBody>
          <a:bodyPr wrap="square" lIns="0" tIns="0" rIns="0" bIns="0" rtlCol="0" anchor="t"/>
          <a:lstStyle/>
          <a:p>
            <a:pPr indent="0" marL="0">
              <a:buNone/>
            </a:pPr>
            <a:r>
              <a:rPr lang="en-US" sz="1300" dirty="0">
                <a:solidFill>
                  <a:srgbClr val="506474"/>
                </a:solidFill>
                <a:latin typeface="Arial" pitchFamily="34" charset="0"/>
                <a:ea typeface="Arial" pitchFamily="34" charset="-122"/>
                <a:cs typeface="Arial" pitchFamily="34" charset="-120"/>
              </a:rPr>
              <a:t>automated tests (340 backend, 66 frontend)</a:t>
            </a:r>
            <a:endParaRPr lang="en-US" sz="1300" dirty="0"/>
          </a:p>
        </p:txBody>
      </p:sp>
      <p:sp>
        <p:nvSpPr>
          <p:cNvPr id="37" name="Shape 26"/>
          <p:cNvSpPr/>
          <p:nvPr/>
        </p:nvSpPr>
        <p:spPr>
          <a:xfrm>
            <a:off x="4353458" y="4343400"/>
            <a:ext cx="3484778" cy="1417320"/>
          </a:xfrm>
          <a:prstGeom prst="roundRect">
            <a:avLst>
              <a:gd name="adj" fmla="val 10323"/>
            </a:avLst>
          </a:prstGeom>
          <a:solidFill>
            <a:srgbClr val="E0F7EE"/>
          </a:solidFill>
          <a:ln w="9525">
            <a:solidFill>
              <a:srgbClr val="E0F7EE"/>
            </a:solidFill>
            <a:prstDash val="solid"/>
          </a:ln>
          <a:effectLst>
            <a:outerShdw sx="100000" sy="100000" kx="0" ky="0" algn="bl" rotWithShape="0" blurRad="101600" dist="25400" dir="5400000">
              <a:srgbClr val="0B2A24">
                <a:alpha val="12000"/>
              </a:srgbClr>
            </a:outerShdw>
          </a:effectLst>
        </p:spPr>
      </p:sp>
      <p:sp>
        <p:nvSpPr>
          <p:cNvPr id="38" name="Text 27"/>
          <p:cNvSpPr txBox="1"/>
          <p:nvPr/>
        </p:nvSpPr>
        <p:spPr>
          <a:xfrm>
            <a:off x="4627778" y="4544568"/>
            <a:ext cx="2936138" cy="548640"/>
          </a:xfrm>
          <a:prstGeom prst="rect">
            <a:avLst/>
          </a:prstGeom>
          <a:noFill/>
          <a:ln/>
        </p:spPr>
        <p:txBody>
          <a:bodyPr wrap="square" lIns="0" tIns="0" rIns="0" bIns="0" rtlCol="0" anchor="t"/>
          <a:lstStyle/>
          <a:p>
            <a:pPr indent="0" marL="0">
              <a:buNone/>
            </a:pPr>
            <a:r>
              <a:rPr lang="en-US" sz="3000" b="1" dirty="0">
                <a:solidFill>
                  <a:srgbClr val="0B4339"/>
                </a:solidFill>
                <a:latin typeface="Arial" pitchFamily="34" charset="0"/>
                <a:ea typeface="Arial" pitchFamily="34" charset="-122"/>
                <a:cs typeface="Arial" pitchFamily="34" charset="-120"/>
              </a:rPr>
              <a:t>Every change</a:t>
            </a:r>
            <a:endParaRPr lang="en-US" sz="3000" dirty="0"/>
          </a:p>
        </p:txBody>
      </p:sp>
      <p:sp>
        <p:nvSpPr>
          <p:cNvPr id="39" name="Text 28"/>
          <p:cNvSpPr txBox="1"/>
          <p:nvPr/>
        </p:nvSpPr>
        <p:spPr>
          <a:xfrm>
            <a:off x="4627778" y="5148072"/>
            <a:ext cx="2936138" cy="457200"/>
          </a:xfrm>
          <a:prstGeom prst="rect">
            <a:avLst/>
          </a:prstGeom>
          <a:noFill/>
          <a:ln/>
        </p:spPr>
        <p:txBody>
          <a:bodyPr wrap="square" lIns="0" tIns="0" rIns="0" bIns="0" rtlCol="0" anchor="t"/>
          <a:lstStyle/>
          <a:p>
            <a:pPr indent="0" marL="0">
              <a:buNone/>
            </a:pPr>
            <a:r>
              <a:rPr lang="en-US" sz="1300" dirty="0">
                <a:solidFill>
                  <a:srgbClr val="506474"/>
                </a:solidFill>
                <a:latin typeface="Arial" pitchFamily="34" charset="0"/>
                <a:ea typeface="Arial" pitchFamily="34" charset="-122"/>
                <a:cs typeface="Arial" pitchFamily="34" charset="-120"/>
              </a:rPr>
              <a:t>runs CI before it merges</a:t>
            </a:r>
            <a:endParaRPr lang="en-US" sz="1300" dirty="0"/>
          </a:p>
        </p:txBody>
      </p:sp>
      <p:sp>
        <p:nvSpPr>
          <p:cNvPr id="40" name="Shape 29"/>
          <p:cNvSpPr/>
          <p:nvPr/>
        </p:nvSpPr>
        <p:spPr>
          <a:xfrm>
            <a:off x="8158277" y="4343400"/>
            <a:ext cx="3484778" cy="1417320"/>
          </a:xfrm>
          <a:prstGeom prst="roundRect">
            <a:avLst>
              <a:gd name="adj" fmla="val 10323"/>
            </a:avLst>
          </a:prstGeom>
          <a:solidFill>
            <a:srgbClr val="E0F7EE"/>
          </a:solidFill>
          <a:ln w="9525">
            <a:solidFill>
              <a:srgbClr val="E0F7EE"/>
            </a:solidFill>
            <a:prstDash val="solid"/>
          </a:ln>
          <a:effectLst>
            <a:outerShdw sx="100000" sy="100000" kx="0" ky="0" algn="bl" rotWithShape="0" blurRad="101600" dist="25400" dir="5400000">
              <a:srgbClr val="0B2A24">
                <a:alpha val="12000"/>
              </a:srgbClr>
            </a:outerShdw>
          </a:effectLst>
        </p:spPr>
      </p:sp>
      <p:sp>
        <p:nvSpPr>
          <p:cNvPr id="41" name="Text 30"/>
          <p:cNvSpPr txBox="1"/>
          <p:nvPr/>
        </p:nvSpPr>
        <p:spPr>
          <a:xfrm>
            <a:off x="8432597" y="4544568"/>
            <a:ext cx="2936138" cy="548640"/>
          </a:xfrm>
          <a:prstGeom prst="rect">
            <a:avLst/>
          </a:prstGeom>
          <a:noFill/>
          <a:ln/>
        </p:spPr>
        <p:txBody>
          <a:bodyPr wrap="square" lIns="0" tIns="0" rIns="0" bIns="0" rtlCol="0" anchor="t"/>
          <a:lstStyle/>
          <a:p>
            <a:pPr indent="0" marL="0">
              <a:buNone/>
            </a:pPr>
            <a:r>
              <a:rPr lang="en-US" sz="3000" b="1" dirty="0">
                <a:solidFill>
                  <a:srgbClr val="0B4339"/>
                </a:solidFill>
                <a:latin typeface="Arial" pitchFamily="34" charset="0"/>
                <a:ea typeface="Arial" pitchFamily="34" charset="-122"/>
                <a:cs typeface="Arial" pitchFamily="34" charset="-120"/>
              </a:rPr>
              <a:t>Replayable</a:t>
            </a:r>
            <a:endParaRPr lang="en-US" sz="3000" dirty="0"/>
          </a:p>
        </p:txBody>
      </p:sp>
      <p:sp>
        <p:nvSpPr>
          <p:cNvPr id="42" name="Text 31"/>
          <p:cNvSpPr txBox="1"/>
          <p:nvPr/>
        </p:nvSpPr>
        <p:spPr>
          <a:xfrm>
            <a:off x="8432597" y="5148072"/>
            <a:ext cx="2936138" cy="457200"/>
          </a:xfrm>
          <a:prstGeom prst="rect">
            <a:avLst/>
          </a:prstGeom>
          <a:noFill/>
          <a:ln/>
        </p:spPr>
        <p:txBody>
          <a:bodyPr wrap="square" lIns="0" tIns="0" rIns="0" bIns="0" rtlCol="0" anchor="t"/>
          <a:lstStyle/>
          <a:p>
            <a:pPr indent="0" marL="0">
              <a:buNone/>
            </a:pPr>
            <a:r>
              <a:rPr lang="en-US" sz="1300" dirty="0">
                <a:solidFill>
                  <a:srgbClr val="506474"/>
                </a:solidFill>
                <a:latin typeface="Arial" pitchFamily="34" charset="0"/>
                <a:ea typeface="Arial" pitchFamily="34" charset="-122"/>
                <a:cs typeface="Arial" pitchFamily="34" charset="-120"/>
              </a:rPr>
              <a:t>the same past days give the same answers</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2344529"/>
            <a:ext cx="12191695" cy="4513471"/>
          </a:xfrm>
          <a:prstGeom prst="rect">
            <a:avLst/>
          </a:prstGeom>
        </p:spPr>
      </p:pic>
      <p:sp>
        <p:nvSpPr>
          <p:cNvPr id="3" name="Shape 0"/>
          <p:cNvSpPr/>
          <p:nvPr/>
        </p:nvSpPr>
        <p:spPr>
          <a:xfrm>
            <a:off x="548640" y="411480"/>
            <a:ext cx="384048" cy="384048"/>
          </a:xfrm>
          <a:prstGeom prst="ellipse">
            <a:avLst/>
          </a:prstGeom>
          <a:solidFill>
            <a:srgbClr val="0B4339"/>
          </a:solidFill>
          <a:ln w="12700">
            <a:solidFill>
              <a:srgbClr val="0B4339"/>
            </a:solidFill>
            <a:prstDash val="solid"/>
          </a:ln>
        </p:spPr>
      </p:sp>
      <p:pic>
        <p:nvPicPr>
          <p:cNvPr id="4" name="Image 1" descr="preencoded.png">    </p:cNvPr>
          <p:cNvPicPr>
            <a:picLocks noChangeAspect="1"/>
          </p:cNvPicPr>
          <p:nvPr/>
        </p:nvPicPr>
        <p:blipFill>
          <a:blip r:embed="rId2"/>
          <a:stretch>
            <a:fillRect/>
          </a:stretch>
        </p:blipFill>
        <p:spPr>
          <a:xfrm>
            <a:off x="640812" y="503652"/>
            <a:ext cx="199705" cy="199705"/>
          </a:xfrm>
          <a:prstGeom prst="rect">
            <a:avLst/>
          </a:prstGeom>
        </p:spPr>
      </p:pic>
      <p:sp>
        <p:nvSpPr>
          <p:cNvPr id="5" name="Text 1"/>
          <p:cNvSpPr txBox="1"/>
          <p:nvPr/>
        </p:nvSpPr>
        <p:spPr>
          <a:xfrm>
            <a:off x="1051560" y="411480"/>
            <a:ext cx="3657600" cy="384048"/>
          </a:xfrm>
          <a:prstGeom prst="rect">
            <a:avLst/>
          </a:prstGeom>
          <a:noFill/>
          <a:ln/>
        </p:spPr>
        <p:txBody>
          <a:bodyPr wrap="square" lIns="0" tIns="0" rIns="0" bIns="0" rtlCol="0" anchor="ctr"/>
          <a:lstStyle/>
          <a:p>
            <a:pPr indent="0" marL="0">
              <a:buNone/>
            </a:pPr>
            <a:r>
              <a:rPr lang="en-US" sz="1600" b="1" dirty="0">
                <a:solidFill>
                  <a:srgbClr val="0B4339"/>
                </a:solidFill>
                <a:latin typeface="Arial" pitchFamily="34" charset="0"/>
                <a:ea typeface="Arial" pitchFamily="34" charset="-122"/>
                <a:cs typeface="Arial" pitchFamily="34" charset="-120"/>
              </a:rPr>
              <a:t>SaveThePlanet</a:t>
            </a:r>
            <a:endParaRPr lang="en-US" sz="1600" dirty="0"/>
          </a:p>
        </p:txBody>
      </p:sp>
      <p:sp>
        <p:nvSpPr>
          <p:cNvPr id="6" name="Text 2"/>
          <p:cNvSpPr txBox="1"/>
          <p:nvPr/>
        </p:nvSpPr>
        <p:spPr>
          <a:xfrm>
            <a:off x="548640" y="960120"/>
            <a:ext cx="7498080" cy="1371600"/>
          </a:xfrm>
          <a:prstGeom prst="rect">
            <a:avLst/>
          </a:prstGeom>
          <a:noFill/>
          <a:ln/>
        </p:spPr>
        <p:txBody>
          <a:bodyPr wrap="square" lIns="0" tIns="0" rIns="0" bIns="0" rtlCol="0" anchor="t"/>
          <a:lstStyle/>
          <a:p>
            <a:pPr indent="0" marL="0">
              <a:buNone/>
            </a:pPr>
            <a:r>
              <a:rPr lang="en-US" sz="3800" b="1" dirty="0">
                <a:solidFill>
                  <a:srgbClr val="0B4339"/>
                </a:solidFill>
                <a:latin typeface="Arial" pitchFamily="34" charset="0"/>
                <a:ea typeface="Arial" pitchFamily="34" charset="-122"/>
                <a:cs typeface="Arial" pitchFamily="34" charset="-120"/>
              </a:rPr>
              <a:t>Predict the opportunity.</a:t>
            </a:r>
            <a:endParaRPr lang="en-US" sz="3800" dirty="0"/>
          </a:p>
          <a:p>
            <a:pPr indent="0" marL="0">
              <a:buNone/>
            </a:pPr>
            <a:r>
              <a:rPr lang="en-US" sz="3800" b="1" dirty="0">
                <a:solidFill>
                  <a:srgbClr val="0B4339"/>
                </a:solidFill>
                <a:latin typeface="Arial" pitchFamily="34" charset="0"/>
                <a:ea typeface="Arial" pitchFamily="34" charset="-122"/>
                <a:cs typeface="Arial" pitchFamily="34" charset="-120"/>
              </a:rPr>
              <a:t>Prove the plan. Share the value.</a:t>
            </a:r>
            <a:endParaRPr lang="en-US" sz="3800" dirty="0"/>
          </a:p>
        </p:txBody>
      </p:sp>
      <p:sp>
        <p:nvSpPr>
          <p:cNvPr id="7" name="Shape 3"/>
          <p:cNvSpPr/>
          <p:nvPr/>
        </p:nvSpPr>
        <p:spPr>
          <a:xfrm>
            <a:off x="548640" y="2514600"/>
            <a:ext cx="1751990" cy="457200"/>
          </a:xfrm>
          <a:prstGeom prst="roundRect">
            <a:avLst>
              <a:gd name="adj" fmla="val 50000"/>
            </a:avLst>
          </a:prstGeom>
          <a:solidFill>
            <a:srgbClr val="1FAE6C"/>
          </a:solidFill>
          <a:ln w="12700">
            <a:solidFill>
              <a:srgbClr val="1FAE6C"/>
            </a:solidFill>
            <a:prstDash val="solid"/>
          </a:ln>
        </p:spPr>
      </p:sp>
      <p:sp>
        <p:nvSpPr>
          <p:cNvPr id="8" name="Text 4"/>
          <p:cNvSpPr txBox="1"/>
          <p:nvPr/>
        </p:nvSpPr>
        <p:spPr>
          <a:xfrm>
            <a:off x="548640" y="2514600"/>
            <a:ext cx="175199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Drivers save</a:t>
            </a:r>
            <a:endParaRPr lang="en-US" sz="1500" dirty="0"/>
          </a:p>
        </p:txBody>
      </p:sp>
      <p:sp>
        <p:nvSpPr>
          <p:cNvPr id="9" name="Shape 5"/>
          <p:cNvSpPr/>
          <p:nvPr/>
        </p:nvSpPr>
        <p:spPr>
          <a:xfrm>
            <a:off x="2483510" y="2514600"/>
            <a:ext cx="1967789" cy="457200"/>
          </a:xfrm>
          <a:prstGeom prst="roundRect">
            <a:avLst>
              <a:gd name="adj" fmla="val 50000"/>
            </a:avLst>
          </a:prstGeom>
          <a:solidFill>
            <a:srgbClr val="0F9D8A"/>
          </a:solidFill>
          <a:ln w="12700">
            <a:solidFill>
              <a:srgbClr val="0F9D8A"/>
            </a:solidFill>
            <a:prstDash val="solid"/>
          </a:ln>
        </p:spPr>
      </p:sp>
      <p:sp>
        <p:nvSpPr>
          <p:cNvPr id="10" name="Text 6"/>
          <p:cNvSpPr txBox="1"/>
          <p:nvPr/>
        </p:nvSpPr>
        <p:spPr>
          <a:xfrm>
            <a:off x="2483510" y="2514600"/>
            <a:ext cx="1967789"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Operators earn</a:t>
            </a:r>
            <a:endParaRPr lang="en-US" sz="1500" dirty="0"/>
          </a:p>
        </p:txBody>
      </p:sp>
      <p:sp>
        <p:nvSpPr>
          <p:cNvPr id="11" name="Shape 7"/>
          <p:cNvSpPr/>
          <p:nvPr/>
        </p:nvSpPr>
        <p:spPr>
          <a:xfrm>
            <a:off x="4634179" y="2514600"/>
            <a:ext cx="3478378" cy="457200"/>
          </a:xfrm>
          <a:prstGeom prst="roundRect">
            <a:avLst>
              <a:gd name="adj" fmla="val 50000"/>
            </a:avLst>
          </a:prstGeom>
          <a:solidFill>
            <a:srgbClr val="0B4339"/>
          </a:solidFill>
          <a:ln w="12700">
            <a:solidFill>
              <a:srgbClr val="0B4339"/>
            </a:solidFill>
            <a:prstDash val="solid"/>
          </a:ln>
        </p:spPr>
      </p:sp>
      <p:sp>
        <p:nvSpPr>
          <p:cNvPr id="12" name="Text 8"/>
          <p:cNvSpPr txBox="1"/>
          <p:nvPr/>
        </p:nvSpPr>
        <p:spPr>
          <a:xfrm>
            <a:off x="4634179" y="2514600"/>
            <a:ext cx="3478378"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Renewable energy reaches EVs</a:t>
            </a:r>
            <a:endParaRPr lang="en-US" sz="1500" dirty="0"/>
          </a:p>
        </p:txBody>
      </p:sp>
      <p:sp>
        <p:nvSpPr>
          <p:cNvPr id="13" name="Text 9"/>
          <p:cNvSpPr txBox="1"/>
          <p:nvPr/>
        </p:nvSpPr>
        <p:spPr>
          <a:xfrm>
            <a:off x="548640" y="3127248"/>
            <a:ext cx="7315200" cy="365760"/>
          </a:xfrm>
          <a:prstGeom prst="rect">
            <a:avLst/>
          </a:prstGeom>
          <a:noFill/>
          <a:ln/>
        </p:spPr>
        <p:txBody>
          <a:bodyPr wrap="square" lIns="0" tIns="0" rIns="0" bIns="0" rtlCol="0" anchor="t"/>
          <a:lstStyle/>
          <a:p>
            <a:pPr indent="0" marL="0">
              <a:buNone/>
            </a:pPr>
            <a:r>
              <a:rPr lang="en-US" sz="1600" b="1" dirty="0">
                <a:solidFill>
                  <a:srgbClr val="506474"/>
                </a:solidFill>
                <a:latin typeface="Arial" pitchFamily="34" charset="0"/>
                <a:ea typeface="Arial" pitchFamily="34" charset="-122"/>
                <a:cs typeface="Arial" pitchFamily="34" charset="-120"/>
              </a:rPr>
              <a:t>Next: a pilot with one Irish charging operator.</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SaveThePlanet: predict the opportunity, prove the plan, share the value</dc:title>
  <dc:subject>PptxGenJS Presentation</dc:subject>
  <dc:creator>SaveThePlanet team</dc:creator>
  <cp:lastModifiedBy>SaveThePlanet team</cp:lastModifiedBy>
  <cp:revision>1</cp:revision>
  <dcterms:created xsi:type="dcterms:W3CDTF">2026-09-29T08:28:26Z</dcterms:created>
  <dcterms:modified xsi:type="dcterms:W3CDTF">2026-09-29T08:28:26Z</dcterms:modified>
</cp:coreProperties>
</file>